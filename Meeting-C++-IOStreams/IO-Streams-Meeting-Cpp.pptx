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73"/>
  </p:notesMasterIdLst>
  <p:sldIdLst>
    <p:sldId id="294" r:id="rId2"/>
    <p:sldId id="324" r:id="rId3"/>
    <p:sldId id="325" r:id="rId4"/>
    <p:sldId id="295" r:id="rId5"/>
    <p:sldId id="322" r:id="rId6"/>
    <p:sldId id="297" r:id="rId7"/>
    <p:sldId id="298" r:id="rId8"/>
    <p:sldId id="299" r:id="rId9"/>
    <p:sldId id="327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9" r:id="rId19"/>
    <p:sldId id="310" r:id="rId20"/>
    <p:sldId id="311" r:id="rId21"/>
    <p:sldId id="312" r:id="rId22"/>
    <p:sldId id="313" r:id="rId23"/>
    <p:sldId id="345" r:id="rId24"/>
    <p:sldId id="314" r:id="rId25"/>
    <p:sldId id="315" r:id="rId26"/>
    <p:sldId id="316" r:id="rId27"/>
    <p:sldId id="317" r:id="rId28"/>
    <p:sldId id="318" r:id="rId29"/>
    <p:sldId id="319" r:id="rId30"/>
    <p:sldId id="260" r:id="rId31"/>
    <p:sldId id="264" r:id="rId32"/>
    <p:sldId id="265" r:id="rId33"/>
    <p:sldId id="261" r:id="rId34"/>
    <p:sldId id="266" r:id="rId35"/>
    <p:sldId id="267" r:id="rId36"/>
    <p:sldId id="262" r:id="rId37"/>
    <p:sldId id="279" r:id="rId38"/>
    <p:sldId id="269" r:id="rId39"/>
    <p:sldId id="270" r:id="rId40"/>
    <p:sldId id="271" r:id="rId41"/>
    <p:sldId id="274" r:id="rId42"/>
    <p:sldId id="275" r:id="rId43"/>
    <p:sldId id="272" r:id="rId44"/>
    <p:sldId id="273" r:id="rId45"/>
    <p:sldId id="276" r:id="rId46"/>
    <p:sldId id="277" r:id="rId47"/>
    <p:sldId id="280" r:id="rId48"/>
    <p:sldId id="281" r:id="rId49"/>
    <p:sldId id="283" r:id="rId50"/>
    <p:sldId id="285" r:id="rId51"/>
    <p:sldId id="286" r:id="rId52"/>
    <p:sldId id="287" r:id="rId53"/>
    <p:sldId id="288" r:id="rId54"/>
    <p:sldId id="289" r:id="rId55"/>
    <p:sldId id="290" r:id="rId56"/>
    <p:sldId id="292" r:id="rId57"/>
    <p:sldId id="291" r:id="rId58"/>
    <p:sldId id="293" r:id="rId59"/>
    <p:sldId id="335" r:id="rId60"/>
    <p:sldId id="333" r:id="rId61"/>
    <p:sldId id="336" r:id="rId62"/>
    <p:sldId id="337" r:id="rId63"/>
    <p:sldId id="343" r:id="rId64"/>
    <p:sldId id="344" r:id="rId65"/>
    <p:sldId id="338" r:id="rId66"/>
    <p:sldId id="339" r:id="rId67"/>
    <p:sldId id="340" r:id="rId68"/>
    <p:sldId id="341" r:id="rId69"/>
    <p:sldId id="348" r:id="rId70"/>
    <p:sldId id="346" r:id="rId71"/>
    <p:sldId id="347" r:id="rId7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  <a:srgbClr val="99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38"/>
    </p:cViewPr>
  </p:sorterViewPr>
  <p:notesViewPr>
    <p:cSldViewPr>
      <p:cViewPr varScale="1">
        <p:scale>
          <a:sx n="85" d="100"/>
          <a:sy n="85" d="100"/>
        </p:scale>
        <p:origin x="-1956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de-DE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C845179B-2071-4B0A-BC8B-1647B70436B0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C:\Programme\Microsoft%20Visual%20Studio\MSDN98\98VSa\1033\vclang.chm::/html/STRING2_char_traitsCCeq_int_type.htm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984475-D9C9-4A30-9948-E0089A733DE2}" type="slidenum">
              <a:rPr lang="de-DE"/>
              <a:pPr/>
              <a:t>32</a:t>
            </a:fld>
            <a:endParaRPr lang="de-DE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In den meisten Fällen genügt es mit Ausdrücken wie </a:t>
            </a:r>
          </a:p>
          <a:p>
            <a:r>
              <a:rPr lang="de-DE"/>
              <a:t>If( istrm &gt;&gt; meinObjekt ) // ‚meinObjekt‘ konnte ohne Fehler gelesen</a:t>
            </a:r>
          </a:p>
          <a:p>
            <a:r>
              <a:rPr lang="de-DE"/>
              <a:t>Bzw.</a:t>
            </a:r>
          </a:p>
          <a:p>
            <a:r>
              <a:rPr lang="de-DE"/>
              <a:t>If( ostrm &lt;&lt; meinObjekt ) // ‚meinObjekt‘ wurde ohne Fehler geschrieben</a:t>
            </a:r>
          </a:p>
          <a:p>
            <a:r>
              <a:rPr lang="de-DE"/>
              <a:t>Zu arbeiten.</a:t>
            </a:r>
          </a:p>
          <a:p>
            <a:r>
              <a:rPr lang="de-DE"/>
              <a:t>Die einzige Ausnahme ist das vorherige Abfragen beim Einlesen </a:t>
            </a:r>
          </a:p>
          <a:p>
            <a:r>
              <a:rPr lang="de-DE"/>
              <a:t>Soll geprüft werden, ob Einlesen grundsätzlich möglich ist, ist ein</a:t>
            </a:r>
          </a:p>
          <a:p>
            <a:r>
              <a:rPr lang="de-DE"/>
              <a:t>If( istrm.good() ) // ok – kein Fehler und kein eof!</a:t>
            </a:r>
          </a:p>
          <a:p>
            <a:r>
              <a:rPr lang="de-DE"/>
              <a:t>    istrm &gt;&gt; meinObjekt;</a:t>
            </a:r>
          </a:p>
          <a:p>
            <a:r>
              <a:rPr lang="de-DE"/>
              <a:t>Ob das Objekt korrekt gelesen wurde, muss durch eine erneute Abfrage nach (!) dem Einlesen geschehen.</a:t>
            </a:r>
          </a:p>
          <a:p>
            <a:endParaRPr lang="de-DE"/>
          </a:p>
          <a:p>
            <a:r>
              <a:rPr lang="de-DE"/>
              <a:t>Bem.: Jeder weitere Leseversuch an einem istream im Zustand eof führt zu einem Fehler.</a:t>
            </a:r>
          </a:p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32CA6-D942-481B-9161-007F3F5638C5}" type="slidenum">
              <a:rPr lang="de-DE"/>
              <a:pPr/>
              <a:t>35</a:t>
            </a:fld>
            <a:endParaRPr lang="de-DE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Anwendung geschieht derart, dass auf derartige Facetten bei der Ausgabe von User-Definierten Objekten zurückgegriffen wird. Damit kann der Programmierer dieser Objekte sprach- und kultur-unabhängige Ausgaben schreiben.</a:t>
            </a:r>
          </a:p>
          <a:p>
            <a:r>
              <a:rPr lang="de-DE"/>
              <a:t>In „Standard C++ - IO-Streams und Locales“ ist ein Beispiel für die landesübliche Ausgabe von Adressen beschrieben. (Kapitel 8.2)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014589-FFD8-4A1D-B525-7C5ECCC3A2E5}" type="slidenum">
              <a:rPr lang="de-DE"/>
              <a:pPr/>
              <a:t>36</a:t>
            </a:fld>
            <a:endParaRPr lang="de-DE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 Manipulator mit Parameter lässt sich leicht durch Definieren einer Klasse oder Struktur mit eigenem Ausgabe-Operator auf einen o- oder ostream realisieren.</a:t>
            </a:r>
          </a:p>
          <a:p>
            <a:r>
              <a:rPr lang="de-DE"/>
              <a:t>Der Nachteil dabei kann sein, dass für verschiede iostream unterschiedliche Types (z.B.: wide, narrow) eigene Streaming-Funktionen geschrieben werden müssen.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EA7A09-B0AC-43EA-B2E2-9E67AA988480}" type="slidenum">
              <a:rPr lang="de-DE"/>
              <a:pPr/>
              <a:t>37</a:t>
            </a:fld>
            <a:endParaRPr lang="de-DE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46927E-0B82-420C-93FD-6A6531388BE7}" type="slidenum">
              <a:rPr lang="de-DE"/>
              <a:pPr/>
              <a:t>38</a:t>
            </a:fld>
            <a:endParaRPr lang="de-DE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Für die Ausgabe des Zeichenstroms auf ein physikalisches Device ist der streambuf – bzw. eine von ihm abgeleitete Klasse – zuständig.</a:t>
            </a:r>
          </a:p>
          <a:p>
            <a:r>
              <a:rPr lang="de-DE"/>
              <a:t>Die Schnittstelle zwischen iostream und streambuf ist wohldefiniert und soweit abstrahiert, dass keine Device-spezifischen Details zum iostream gelangen.</a:t>
            </a:r>
          </a:p>
          <a:p>
            <a:endParaRPr lang="de-DE"/>
          </a:p>
          <a:p>
            <a:r>
              <a:rPr lang="de-DE"/>
              <a:t>In der Literatur findet man erstaunlich wenig Information zu diesem Thema, obwohl es sich um eine der grundlegenden Eigenschaften der IO-Library-Architektur handelt.</a:t>
            </a:r>
          </a:p>
          <a:p>
            <a:r>
              <a:rPr lang="de-DE"/>
              <a:t>-&gt; Die strikte Trennung von Formatierung (streams) und Zeichentransport (streambufs)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63959A-CE07-43F6-B25E-421F7A68C83F}" type="slidenum">
              <a:rPr lang="de-DE"/>
              <a:pPr/>
              <a:t>39</a:t>
            </a:fld>
            <a:endParaRPr lang="de-DE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Um einen Streambuf zu nutzen, wird einem iostream einfach beim Anlegen der Pointer auf den Streambuf übergeben.</a:t>
            </a:r>
          </a:p>
          <a:p>
            <a:r>
              <a:rPr lang="de-DE"/>
              <a:t>Im folgenden wird gezeigt, wie ein eigener streambuf beschaffen sein muss.</a:t>
            </a:r>
          </a:p>
          <a:p>
            <a:r>
              <a:rPr lang="de-DE"/>
              <a:t>Aus Zeit- und Platz-Gründen werden nur Ausgaben behandelt. Die Eingaben sind ein wenig komplexer (siehe „Standard C++ - IO-Streams and Locales“ – Kapitel 3.4)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489A23-906F-4DDB-B855-D3E1BE3B205F}" type="slidenum">
              <a:rPr lang="de-DE"/>
              <a:pPr/>
              <a:t>40</a:t>
            </a:fld>
            <a:endParaRPr lang="de-DE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Im Prinzip reicht es aus, die protected Methode overflow zu überschreiben, um einen voll funktionsfähigen streambuf für Ausgaben zu realisieren.</a:t>
            </a:r>
          </a:p>
          <a:p>
            <a:r>
              <a:rPr lang="de-DE"/>
              <a:t>Das Default-Verhalten eines Streambufs sieht keinen Buffer vor. Folglich landet jeder Aufruf einer schreibenden Methode in der Methode overflow.</a:t>
            </a:r>
          </a:p>
          <a:p>
            <a:r>
              <a:rPr lang="de-DE"/>
              <a:t>Das auszugebene Zeichen wird als Parameter übergeben. Dies wird einfach an die Device-Funktion weitergegeben. Diese „Zeichen“ kann EOF bedeuten. Lt Standard muss dann der streambuf alle gespeicherten Zeichen in das Device schreiben. Da es in diesem Fall keinen Buffer gibt, passiert nichts.</a:t>
            </a:r>
          </a:p>
          <a:p>
            <a:r>
              <a:rPr lang="de-DE"/>
              <a:t>Als Return-Code wird in jedem Fall EOF zurückgegeben, falls ein Fehler ausgetreten ist. Kein Fehler wird durch das Zeichen selber als „kein EOF“ signalisiert.</a:t>
            </a:r>
          </a:p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449E2-4965-4976-9712-28A8048A66F0}" type="slidenum">
              <a:rPr lang="de-DE"/>
              <a:pPr/>
              <a:t>41</a:t>
            </a:fld>
            <a:endParaRPr lang="de-DE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Der zweite Template-Parameter des basic_streambufs bestimmt die so genannten Zeichen-Eigenschaften (default char_traits&lt; charT &gt; )</a:t>
            </a:r>
          </a:p>
          <a:p>
            <a:r>
              <a:rPr lang="de-DE"/>
              <a:t>Im basic_streambuf&lt; charT, traits = char_traits&lt; charT &gt; &gt; existiert das typedef</a:t>
            </a:r>
          </a:p>
          <a:p>
            <a:r>
              <a:rPr lang="de-DE"/>
              <a:t>typedef traits traits_type;</a:t>
            </a:r>
          </a:p>
          <a:p>
            <a:r>
              <a:rPr lang="de-DE"/>
              <a:t>Diese Eigenschaftsklasse definiert</a:t>
            </a:r>
          </a:p>
          <a:p>
            <a:pPr>
              <a:buFontTx/>
              <a:buChar char="•"/>
            </a:pPr>
            <a:r>
              <a:rPr lang="de-DE"/>
              <a:t>Einen Integer-Typ</a:t>
            </a:r>
            <a:r>
              <a:rPr lang="de-DE" b="1"/>
              <a:t> int_type</a:t>
            </a:r>
            <a:r>
              <a:rPr lang="de-DE"/>
              <a:t>, der alle Zeichen und das EOF umfasst – welches ungleich zu jedem (!) Zeichen sein muss.</a:t>
            </a:r>
          </a:p>
          <a:p>
            <a:pPr>
              <a:buFontTx/>
              <a:buChar char="•"/>
            </a:pPr>
            <a:r>
              <a:rPr lang="de-DE"/>
              <a:t>Eine Operation für Gleichheit – bool </a:t>
            </a:r>
            <a:r>
              <a:rPr lang="de-DE" b="1">
                <a:hlinkClick r:id="rId3" action="ppaction://hlinkfile"/>
              </a:rPr>
              <a:t>eq_int_type</a:t>
            </a:r>
            <a:r>
              <a:rPr lang="de-DE"/>
              <a:t>(const int_type&amp; ch1, const int_type&amp; ch2); </a:t>
            </a:r>
          </a:p>
          <a:p>
            <a:pPr>
              <a:buFontTx/>
              <a:buChar char="•"/>
            </a:pPr>
            <a:r>
              <a:rPr lang="de-DE"/>
              <a:t>Eine Konstante EOF – int_type </a:t>
            </a:r>
            <a:r>
              <a:rPr lang="de-DE" b="1"/>
              <a:t>eof</a:t>
            </a:r>
            <a:r>
              <a:rPr lang="de-DE"/>
              <a:t>();</a:t>
            </a:r>
          </a:p>
          <a:p>
            <a:pPr>
              <a:buFontTx/>
              <a:buChar char="•"/>
            </a:pPr>
            <a:r>
              <a:rPr lang="de-DE"/>
              <a:t>Konvertierungen von  Integer-Typ zu Zeichen-Typ und zurück char_type </a:t>
            </a:r>
            <a:r>
              <a:rPr lang="de-DE" b="1"/>
              <a:t>to_char_type</a:t>
            </a:r>
            <a:r>
              <a:rPr lang="de-DE"/>
              <a:t>( int_type )</a:t>
            </a:r>
          </a:p>
          <a:p>
            <a:pPr>
              <a:buFontTx/>
              <a:buChar char="•"/>
            </a:pPr>
            <a:r>
              <a:rPr lang="de-DE"/>
              <a:t>Umwandlung in ein Nicht-EOF int_type </a:t>
            </a:r>
            <a:r>
              <a:rPr lang="de-DE" b="1"/>
              <a:t>not_eof</a:t>
            </a:r>
            <a:r>
              <a:rPr lang="de-DE"/>
              <a:t>( int_type 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386CAC-9649-4168-97BC-CFFF382FBF44}" type="slidenum">
              <a:rPr lang="de-DE"/>
              <a:pPr/>
              <a:t>42</a:t>
            </a:fld>
            <a:endParaRPr lang="de-DE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Wichtig: Für die Pufferung ist einzig und allein der streambuf und nie der Stream zuständig</a:t>
            </a:r>
          </a:p>
          <a:p>
            <a:r>
              <a:rPr lang="de-DE"/>
              <a:t>Der Anwender kann einen evt. Vorhandenen Buffer eines Streambufs forciert schreiben, wenn er seinen Stream „flushed“ – dies geschieht unter auch durch ein </a:t>
            </a:r>
            <a:r>
              <a:rPr lang="de-DE" b="1"/>
              <a:t>endl</a:t>
            </a:r>
            <a:r>
              <a:rPr lang="de-DE"/>
              <a:t> ( ‚\n‘ und flush )oder durch den Manipulator ‚</a:t>
            </a:r>
            <a:r>
              <a:rPr lang="de-DE" b="1"/>
              <a:t>flush</a:t>
            </a:r>
            <a:r>
              <a:rPr lang="de-DE"/>
              <a:t>‘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0F5475-8292-42D3-831A-54E85C559387}" type="slidenum">
              <a:rPr lang="de-DE"/>
              <a:pPr/>
              <a:t>44</a:t>
            </a:fld>
            <a:endParaRPr lang="de-DE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Nach Schreiben von ‚Juhee‘ stehen im Buffer 5 Zeichen. Mit endl wird ein LF hinzugefügt und der stream geflushed. Dies führt zum Aufruf von sync des Streambufs.</a:t>
            </a:r>
          </a:p>
          <a:p>
            <a:r>
              <a:rPr lang="de-DE"/>
              <a:t>Lt. Standard muss sich nun der Streambuf mit dem unterlagertem Device synchronisieren – das heißt alle ggf. gepufferten Zeichen wegschreiben.</a:t>
            </a:r>
          </a:p>
          <a:p>
            <a:r>
              <a:rPr lang="de-DE"/>
              <a:t>Über die Streambuf-Methoden pbase() Puffer-Anfang und pptr() – Ende des beschriebenen Puffers - kann auf die geschriebenen Zeichen zugegriffen werden.</a:t>
            </a:r>
          </a:p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0E715C-6861-48D6-B151-AC53E3718A64}" type="slidenum">
              <a:rPr lang="de-DE"/>
              <a:pPr/>
              <a:t>46</a:t>
            </a:fld>
            <a:endParaRPr lang="de-DE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Der CAN-Bus ist ein Feldbus, der Telegramme mit bis zu 8 Byte verschickt. Die Treiber bieten i.A. eine C-Schnittstelle. Um diese herum soll ein streambuf implementiert werden.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BC87C4-449A-4B7E-BF84-E0B55873A1B7}" type="slidenum">
              <a:rPr lang="de-DE"/>
              <a:pPr/>
              <a:t>50</a:t>
            </a:fld>
            <a:endParaRPr lang="de-DE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Anforderung sei ein Protokoll- oder Report-Fenster in das mit normalen C++-Ausgabemitteln cout, cerr, usw. hineingeschrieben werden kann.</a:t>
            </a:r>
          </a:p>
          <a:p>
            <a:r>
              <a:rPr lang="de-DE"/>
              <a:t>Die Art der Ausgabe – insbesondere Fehler – sollen durch eine spezielle Markierung (Icon) gut sichtbare sein. Darüber hinaus sollen neue Icons definierbar sein und die Zeit der Ausgabe jeweils mit angezeigt werden.</a:t>
            </a:r>
          </a:p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22AD82-E1D0-4D30-A6B5-6E84C822D9E7}" type="slidenum">
              <a:rPr lang="de-DE"/>
              <a:pPr/>
              <a:t>52</a:t>
            </a:fld>
            <a:endParaRPr lang="de-DE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 solches Problem bezeichnet man auch als „Ressource Aquisition is Initialization“ RAII </a:t>
            </a:r>
          </a:p>
          <a:p>
            <a:r>
              <a:rPr lang="de-DE"/>
              <a:t>Das Verfahren ist, ein Objekt zu instnziieren, wekches in seinem Destruktor die Ressource wieder freigibt – also in diesem Fall den alten Streambuf wieder setzt.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36BE08-BCF7-4425-85A6-AD82B403F3AB}" type="slidenum">
              <a:rPr lang="de-DE"/>
              <a:pPr/>
              <a:t>53</a:t>
            </a:fld>
            <a:endParaRPr lang="de-DE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HauWech-Funktion eines CListCtrl-Objekts besteht aus der Methode ‚InsertItem‘ und einem anschließendem ‚SetItemText‘ für jede weitere Spalte des ListCtrls.</a:t>
            </a:r>
          </a:p>
          <a:p>
            <a:r>
              <a:rPr lang="de-DE"/>
              <a:t>Mit InsertItem wird ein neuer Eintrag in der m_curItem‘ten Zeile angelegt. Icon-Nr. ‚icon‘ und Prefix-Text pfx werden übergeben. Als Return-Code wird der Index auf die Zeile zum Eintrag der nachfolgenden Spalten zurückgegeben.</a:t>
            </a:r>
          </a:p>
          <a:p>
            <a:r>
              <a:rPr lang="de-DE"/>
              <a:t>Für jede weiter Spalte (hier nur eine) wird nun der Text (die eigentliche Ausgabe eingetragen) 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2224C-1F08-42FD-BE32-FF6135A23CF1}" type="slidenum">
              <a:rPr lang="de-DE"/>
              <a:pPr/>
              <a:t>54</a:t>
            </a:fld>
            <a:endParaRPr lang="de-DE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Um insbesondere in einer Multithread.Umgebung einen performanten und einfachen Betrieb zu ermögliche, erhält jeder beteiligte ostream seinen eigenen streambuf in Form eines CListCtrlSbAdap-Objekts</a:t>
            </a:r>
          </a:p>
          <a:p>
            <a:r>
              <a:rPr lang="de-DE"/>
              <a:t>Das CSharedListCtrl ist notwendig um die Item-Indezes (Zeilen-Nr.) zu verwalten.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F0FF02-B5BE-495B-8324-DF6A3A4DAFCC}" type="slidenum">
              <a:rPr lang="de-DE"/>
              <a:pPr/>
              <a:t>55</a:t>
            </a:fld>
            <a:endParaRPr lang="de-DE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CListCtrlAdap ist ein Streambuf–Derivat mit gepufferter Ausgabe. Die Besonderheit ist, das bei Überlaufen des Puffers dessen Inhalt nicht in das Device geschrieben wird, sondern der Puffer weiter vergrößert wird.</a:t>
            </a:r>
          </a:p>
          <a:p>
            <a:r>
              <a:rPr lang="de-DE"/>
              <a:t>Erst (und nur) in sync wird der Inhalt des Puffers über die Klasse CSharedListCtrl in das CListCtrl gweschrieben.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61403A-88FA-4AC6-B5BA-6FB922B1534F}" type="slidenum">
              <a:rPr lang="de-DE"/>
              <a:pPr/>
              <a:t>57</a:t>
            </a:fld>
            <a:endParaRPr lang="de-DE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In der Original-Implementierung sind die Icon-Manipulatoren als Funktionen implementiert. </a:t>
            </a:r>
          </a:p>
          <a:p>
            <a:r>
              <a:rPr lang="de-DE"/>
              <a:t>Das hier vorgestellte Verfahren ist einfacher einzurichten und zu pflegen und arbeitet mit globalen Objekten.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E633-A616-4D1B-98C9-EE009CB70F1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081A6-DE43-4AE6-A334-B443B3EFFE8C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48E17A-7A87-4BDF-A012-914C125D2232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2E58FC-CD5D-4376-93BD-5B19B79C3BA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79AA49-82C9-4D36-8AC1-9435B81ED8BE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549F6-B239-419D-9EFF-B3D0A5B4879B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4F93D-FCCE-4E41-AED2-42E3AC78A060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D6A86-C84E-4569-BB0A-EA9C26D9B615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B025E3-3269-4742-A0A5-6E2CEA09CACF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871DE-F248-4495-8F37-3842C940557C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BB008-700B-4036-9951-7BF79CF6D8E3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696200" cy="6096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827088" y="6237288"/>
            <a:ext cx="1763712" cy="47625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32138" y="6237288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804025" y="62372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E37DA10-5758-4808-BFCF-18B809A02927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696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das Titelformat zu bearbeiten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Klicken Sie, um die Formate des Vorlagentextes zu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pic>
        <p:nvPicPr>
          <p:cNvPr id="4100" name="Picture 4" descr="rand verlauf 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877888" cy="6858000"/>
          </a:xfrm>
          <a:prstGeom prst="rect">
            <a:avLst/>
          </a:prstGeom>
          <a:noFill/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 rot="-5400000">
            <a:off x="-1064419" y="1381919"/>
            <a:ext cx="3068638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de-DE" sz="1200">
                <a:solidFill>
                  <a:schemeClr val="bg1"/>
                </a:solidFill>
              </a:rPr>
              <a:t>www</a:t>
            </a:r>
            <a:r>
              <a:rPr lang="de-DE" sz="1400">
                <a:solidFill>
                  <a:schemeClr val="bg1"/>
                </a:solidFill>
              </a:rPr>
              <a:t>.kratzer-automation.</a:t>
            </a:r>
            <a:r>
              <a:rPr lang="de-DE" sz="1200">
                <a:solidFill>
                  <a:schemeClr val="bg1"/>
                </a:solidFill>
              </a:rPr>
              <a:t>com</a:t>
            </a:r>
          </a:p>
        </p:txBody>
      </p:sp>
      <p:sp>
        <p:nvSpPr>
          <p:cNvPr id="4103" name="Text Box 7"/>
          <p:cNvSpPr txBox="1">
            <a:spLocks noChangeArrowheads="1"/>
          </p:cNvSpPr>
          <p:nvPr userDrawn="1"/>
        </p:nvSpPr>
        <p:spPr bwMode="auto">
          <a:xfrm>
            <a:off x="3132138" y="6092825"/>
            <a:ext cx="12239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92075" tIns="46038" rIns="92075" bIns="46038">
            <a:spAutoFit/>
          </a:bodyPr>
          <a:lstStyle/>
          <a:p>
            <a:endParaRPr lang="de-DE">
              <a:latin typeface="Times New Roman" pitchFamily="18" charset="0"/>
            </a:endParaRP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7088" y="6237288"/>
            <a:ext cx="17637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de-DE"/>
              <a:t>Jan. 2005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de-DE"/>
              <a:t>IO mit C++</a:t>
            </a: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2372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/>
            </a:lvl1pPr>
          </a:lstStyle>
          <a:p>
            <a:fld id="{E5090BDB-3940-4B7A-9B04-0F942EE9192B}" type="slidenum">
              <a:rPr lang="de-DE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hf hd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2800">
          <a:solidFill>
            <a:srgbClr val="BE150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algn="ctr"/>
            <a:r>
              <a:rPr lang="de-DE" dirty="0" smtClean="0"/>
              <a:t>Input/</a:t>
            </a:r>
            <a:r>
              <a:rPr lang="de-DE" dirty="0" err="1" smtClean="0"/>
              <a:t>output</a:t>
            </a:r>
            <a:r>
              <a:rPr lang="de-DE" dirty="0" smtClean="0"/>
              <a:t> </a:t>
            </a:r>
            <a:r>
              <a:rPr lang="de-DE" dirty="0" err="1" smtClean="0"/>
              <a:t>library</a:t>
            </a:r>
            <a:r>
              <a:rPr lang="de-DE" dirty="0" smtClean="0"/>
              <a:t> [</a:t>
            </a:r>
            <a:r>
              <a:rPr lang="de-DE" dirty="0" err="1" smtClean="0"/>
              <a:t>inout.output</a:t>
            </a:r>
            <a:r>
              <a:rPr lang="de-DE" dirty="0" smtClean="0"/>
              <a:t>]</a:t>
            </a:r>
            <a:endParaRPr lang="de-DE" dirty="0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Die unverstandene Library</a:t>
            </a:r>
          </a:p>
          <a:p>
            <a:r>
              <a:rPr lang="de-DE" dirty="0" smtClean="0"/>
              <a:t>Meeting C++</a:t>
            </a:r>
          </a:p>
          <a:p>
            <a:r>
              <a:rPr lang="de-DE" dirty="0" smtClean="0"/>
              <a:t>Werner </a:t>
            </a:r>
            <a:r>
              <a:rPr lang="de-DE" dirty="0"/>
              <a:t>Salomon</a:t>
            </a:r>
          </a:p>
          <a:p>
            <a:r>
              <a:rPr lang="de-DE" dirty="0" smtClean="0"/>
              <a:t>März 2014</a:t>
            </a: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A7EB2-968D-421F-B03B-5D404A837D1A}" type="slidenum">
              <a:rPr lang="de-DE"/>
              <a:pPr/>
              <a:t>2</a:t>
            </a:fld>
            <a:endParaRPr lang="de-DE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ist ein Computer ?</a:t>
            </a: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762000"/>
          </a:xfrm>
        </p:spPr>
        <p:txBody>
          <a:bodyPr/>
          <a:lstStyle/>
          <a:p>
            <a:r>
              <a:rPr lang="de-DE"/>
              <a:t>Allgemein:</a:t>
            </a:r>
            <a:endParaRPr lang="en-US"/>
          </a:p>
        </p:txBody>
      </p:sp>
      <p:grpSp>
        <p:nvGrpSpPr>
          <p:cNvPr id="102409" name="Group 9"/>
          <p:cNvGrpSpPr>
            <a:grpSpLocks/>
          </p:cNvGrpSpPr>
          <p:nvPr/>
        </p:nvGrpSpPr>
        <p:grpSpPr bwMode="auto">
          <a:xfrm>
            <a:off x="1044575" y="3141663"/>
            <a:ext cx="6861175" cy="1511300"/>
            <a:chOff x="658" y="1979"/>
            <a:chExt cx="4322" cy="952"/>
          </a:xfrm>
        </p:grpSpPr>
        <p:sp>
          <p:nvSpPr>
            <p:cNvPr id="102404" name="Rectangle 4"/>
            <p:cNvSpPr>
              <a:spLocks noChangeArrowheads="1"/>
            </p:cNvSpPr>
            <p:nvPr/>
          </p:nvSpPr>
          <p:spPr bwMode="auto">
            <a:xfrm>
              <a:off x="2064" y="1979"/>
              <a:ext cx="1406" cy="952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Rechenwerk</a:t>
              </a:r>
              <a:endParaRPr lang="en-US"/>
            </a:p>
          </p:txBody>
        </p:sp>
        <p:sp>
          <p:nvSpPr>
            <p:cNvPr id="102405" name="AutoShape 5"/>
            <p:cNvSpPr>
              <a:spLocks noChangeArrowheads="1"/>
            </p:cNvSpPr>
            <p:nvPr/>
          </p:nvSpPr>
          <p:spPr bwMode="auto">
            <a:xfrm>
              <a:off x="1565" y="2251"/>
              <a:ext cx="363" cy="40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317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02406" name="AutoShape 6"/>
            <p:cNvSpPr>
              <a:spLocks noChangeArrowheads="1"/>
            </p:cNvSpPr>
            <p:nvPr/>
          </p:nvSpPr>
          <p:spPr bwMode="auto">
            <a:xfrm>
              <a:off x="3606" y="2251"/>
              <a:ext cx="363" cy="408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bg1"/>
            </a:solidFill>
            <a:ln w="317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02407" name="Text Box 7"/>
            <p:cNvSpPr txBox="1">
              <a:spLocks noChangeArrowheads="1"/>
            </p:cNvSpPr>
            <p:nvPr/>
          </p:nvSpPr>
          <p:spPr bwMode="auto">
            <a:xfrm>
              <a:off x="658" y="2296"/>
              <a:ext cx="82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/>
                <a:t>Eingabe</a:t>
              </a:r>
              <a:endParaRPr lang="en-US"/>
            </a:p>
          </p:txBody>
        </p:sp>
        <p:sp>
          <p:nvSpPr>
            <p:cNvPr id="102408" name="Text Box 8"/>
            <p:cNvSpPr txBox="1">
              <a:spLocks noChangeArrowheads="1"/>
            </p:cNvSpPr>
            <p:nvPr/>
          </p:nvSpPr>
          <p:spPr bwMode="auto">
            <a:xfrm>
              <a:off x="4105" y="2296"/>
              <a:ext cx="87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/>
                <a:t>Ausgabe</a:t>
              </a:r>
              <a:endParaRPr 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F468-CB2C-4CBD-87D5-4098F302F594}" type="slidenum">
              <a:rPr lang="de-DE"/>
              <a:pPr/>
              <a:t>3</a:t>
            </a:fld>
            <a:endParaRPr lang="de-DE" dirty="0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Eingabe und Ausgabe</a:t>
            </a:r>
            <a:endParaRPr 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bzw. Input und Output</a:t>
            </a:r>
          </a:p>
          <a:p>
            <a:r>
              <a:rPr lang="de-DE" dirty="0"/>
              <a:t>.. sind fundamentaler Bestandteil einer ‚höheren‘ Programmiersprache.</a:t>
            </a:r>
          </a:p>
          <a:p>
            <a:r>
              <a:rPr lang="de-DE" dirty="0"/>
              <a:t>Jede Programmiersprache bietet ihren eigenen Mechanismus dafür an.</a:t>
            </a:r>
          </a:p>
          <a:p>
            <a:pPr>
              <a:buSzPct val="150000"/>
              <a:buFont typeface="Arial" charset="0"/>
              <a:buChar char="?"/>
            </a:pPr>
            <a:r>
              <a:rPr lang="de-DE" dirty="0"/>
              <a:t>„Welches ‚Konstrukt‘ ist unter C++ vorgesehen, um eine Ausgabe aus dem Programm-Code heraus zu machen?“</a:t>
            </a:r>
          </a:p>
          <a:p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E3015-3EBF-4C54-B99C-5A90A377BC4C}" type="slidenum">
              <a:rPr lang="de-DE"/>
              <a:pPr/>
              <a:t>4</a:t>
            </a:fld>
            <a:endParaRPr lang="de-DE"/>
          </a:p>
        </p:txBody>
      </p: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Mein erstes C++-Programm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..ist das </a:t>
            </a:r>
            <a:r>
              <a:rPr lang="de-DE" dirty="0" err="1"/>
              <a:t>Hello</a:t>
            </a:r>
            <a:r>
              <a:rPr lang="de-DE" dirty="0"/>
              <a:t>-World-Programm und benutzt das </a:t>
            </a:r>
            <a:r>
              <a:rPr lang="de-DE" dirty="0" err="1"/>
              <a:t>Object</a:t>
            </a:r>
            <a:r>
              <a:rPr lang="de-DE" dirty="0"/>
              <a:t> ‚</a:t>
            </a:r>
            <a:r>
              <a:rPr lang="de-DE" dirty="0" err="1"/>
              <a:t>cout</a:t>
            </a:r>
            <a:r>
              <a:rPr lang="de-DE" dirty="0"/>
              <a:t>‘ der Klasse </a:t>
            </a:r>
            <a:r>
              <a:rPr lang="de-DE" dirty="0" err="1"/>
              <a:t>std</a:t>
            </a:r>
            <a:r>
              <a:rPr lang="de-DE" dirty="0"/>
              <a:t>::</a:t>
            </a:r>
            <a:r>
              <a:rPr lang="de-DE" dirty="0" err="1"/>
              <a:t>ostream</a:t>
            </a:r>
            <a:r>
              <a:rPr lang="de-DE" dirty="0"/>
              <a:t>.</a:t>
            </a:r>
          </a:p>
          <a:p>
            <a:endParaRPr lang="de-DE" dirty="0"/>
          </a:p>
          <a:p>
            <a:pPr>
              <a:buFontTx/>
              <a:buNone/>
            </a:pP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#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include</a:t>
            </a: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</a:t>
            </a:r>
            <a:r>
              <a:rPr lang="de-DE" sz="1600" b="1" dirty="0" err="1">
                <a:latin typeface="Courier New" pitchFamily="49" charset="0"/>
              </a:rPr>
              <a:t>iostream</a:t>
            </a:r>
            <a:r>
              <a:rPr lang="de-DE" sz="1600" b="1" dirty="0">
                <a:latin typeface="Courier New" pitchFamily="49" charset="0"/>
              </a:rPr>
              <a:t>&gt;</a:t>
            </a:r>
            <a:endParaRPr lang="de-DE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endParaRPr lang="de-DE" sz="1600" b="1" dirty="0">
              <a:latin typeface="Courier New" pitchFamily="49" charset="0"/>
            </a:endParaRPr>
          </a:p>
          <a:p>
            <a:pPr>
              <a:buFontTx/>
              <a:buNone/>
            </a:pPr>
            <a:endParaRPr lang="de-DE" sz="1600" b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main</a:t>
            </a:r>
            <a:r>
              <a:rPr lang="de-DE" sz="1600" b="1" dirty="0">
                <a:latin typeface="Courier New" pitchFamily="49" charset="0"/>
              </a:rPr>
              <a:t>()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using</a:t>
            </a: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namespace</a:t>
            </a: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std</a:t>
            </a:r>
            <a:r>
              <a:rPr lang="de-DE" sz="1600" b="1" dirty="0">
                <a:latin typeface="Courier New" pitchFamily="49" charset="0"/>
              </a:rPr>
              <a:t>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latin typeface="Courier New" pitchFamily="49" charset="0"/>
              </a:rPr>
              <a:t> &lt;&lt; "</a:t>
            </a:r>
            <a:r>
              <a:rPr lang="de-DE" sz="1600" b="1" dirty="0" err="1">
                <a:latin typeface="Courier New" pitchFamily="49" charset="0"/>
              </a:rPr>
              <a:t>Hello</a:t>
            </a:r>
            <a:r>
              <a:rPr lang="de-DE" sz="1600" b="1" dirty="0">
                <a:latin typeface="Courier New" pitchFamily="49" charset="0"/>
              </a:rPr>
              <a:t> World" &lt;&lt;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endl</a:t>
            </a:r>
            <a:r>
              <a:rPr lang="de-DE" sz="1600" b="1" dirty="0">
                <a:latin typeface="Courier New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 0;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69636" name="AutoShape 4"/>
          <p:cNvSpPr>
            <a:spLocks noChangeArrowheads="1"/>
          </p:cNvSpPr>
          <p:nvPr/>
        </p:nvSpPr>
        <p:spPr bwMode="auto">
          <a:xfrm>
            <a:off x="5940425" y="4797425"/>
            <a:ext cx="2592388" cy="1223963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ISO/IEC 14882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3632-364E-4CB4-9A4C-EFA23469ACF2}" type="slidenum">
              <a:rPr lang="de-DE"/>
              <a:pPr/>
              <a:t>5</a:t>
            </a:fld>
            <a:endParaRPr lang="de-DE"/>
          </a:p>
        </p:txBody>
      </p:sp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Sinn und Zweck der Streams</a:t>
            </a:r>
          </a:p>
          <a:p>
            <a:r>
              <a:rPr lang="de-DE" dirty="0"/>
              <a:t>Die Architektur der IO-Klassen</a:t>
            </a:r>
          </a:p>
          <a:p>
            <a:r>
              <a:rPr lang="de-DE" dirty="0"/>
              <a:t>Formatieren mit IO-Streams</a:t>
            </a:r>
          </a:p>
          <a:p>
            <a:r>
              <a:rPr lang="de-DE" dirty="0"/>
              <a:t>Manipulatoren ohne </a:t>
            </a:r>
            <a:r>
              <a:rPr lang="de-DE" dirty="0" err="1" smtClean="0"/>
              <a:t>Paramter</a:t>
            </a:r>
            <a:endParaRPr lang="de-DE" dirty="0" smtClean="0"/>
          </a:p>
          <a:p>
            <a:r>
              <a:rPr lang="de-DE" dirty="0" err="1" smtClean="0"/>
              <a:t>Ios_base</a:t>
            </a:r>
            <a:r>
              <a:rPr lang="de-DE" dirty="0" smtClean="0"/>
              <a:t> Storage </a:t>
            </a:r>
            <a:r>
              <a:rPr lang="de-DE" dirty="0" err="1" smtClean="0"/>
              <a:t>Functions</a:t>
            </a:r>
            <a:endParaRPr lang="de-DE" dirty="0"/>
          </a:p>
          <a:p>
            <a:r>
              <a:rPr lang="de-DE" dirty="0"/>
              <a:t>Ausgabe eigener Klassen</a:t>
            </a:r>
          </a:p>
          <a:p>
            <a:r>
              <a:rPr lang="de-DE" dirty="0"/>
              <a:t>Fehlerzustände und –Behandlung der IO-Streams</a:t>
            </a:r>
          </a:p>
          <a:p>
            <a:r>
              <a:rPr lang="de-DE" dirty="0"/>
              <a:t>Kurzer Einblick in </a:t>
            </a:r>
            <a:r>
              <a:rPr lang="de-DE" dirty="0" err="1"/>
              <a:t>Locales</a:t>
            </a:r>
            <a:endParaRPr lang="de-DE" dirty="0"/>
          </a:p>
          <a:p>
            <a:r>
              <a:rPr lang="de-DE" dirty="0"/>
              <a:t>Manipulatoren mit Parametern</a:t>
            </a:r>
          </a:p>
          <a:p>
            <a:r>
              <a:rPr lang="de-DE" dirty="0"/>
              <a:t>Umleiten von Ausgaben </a:t>
            </a:r>
            <a:r>
              <a:rPr lang="de-DE" dirty="0" smtClean="0"/>
              <a:t>in ein Fenster</a:t>
            </a:r>
            <a:endParaRPr lang="de-DE" dirty="0"/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7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5251A-A221-4ACD-9EBA-2FECBF92C2AB}" type="slidenum">
              <a:rPr lang="de-DE"/>
              <a:pPr/>
              <a:t>6</a:t>
            </a:fld>
            <a:endParaRPr lang="de-DE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Zweck der Ostreams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990600"/>
          </a:xfrm>
        </p:spPr>
        <p:txBody>
          <a:bodyPr/>
          <a:lstStyle/>
          <a:p>
            <a:r>
              <a:rPr lang="de-DE"/>
              <a:t>Werte und Objekte jeglicher Art zu in einer Folge von Zeichen zu serialisieren und auszugeben ..</a:t>
            </a: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1447800" y="2438400"/>
            <a:ext cx="1371600" cy="838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u="sng"/>
              <a:t>Beliebig</a:t>
            </a:r>
            <a:endParaRPr lang="de-DE">
              <a:latin typeface="Times New Roman" pitchFamily="18" charset="0"/>
            </a:endParaRPr>
          </a:p>
        </p:txBody>
      </p:sp>
      <p:grpSp>
        <p:nvGrpSpPr>
          <p:cNvPr id="71685" name="Group 5"/>
          <p:cNvGrpSpPr>
            <a:grpSpLocks/>
          </p:cNvGrpSpPr>
          <p:nvPr/>
        </p:nvGrpSpPr>
        <p:grpSpPr bwMode="auto">
          <a:xfrm>
            <a:off x="3048000" y="3429000"/>
            <a:ext cx="228600" cy="838200"/>
            <a:chOff x="1920" y="2160"/>
            <a:chExt cx="144" cy="528"/>
          </a:xfrm>
        </p:grpSpPr>
        <p:grpSp>
          <p:nvGrpSpPr>
            <p:cNvPr id="71686" name="Group 6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687" name="Oval 7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88" name="Line 8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89" name="Freeform 9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0" name="Freeform 10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1" name="Freeform 11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2" name="Line 12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693" name="Text Box 13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7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694" name="Group 14"/>
          <p:cNvGrpSpPr>
            <a:grpSpLocks/>
          </p:cNvGrpSpPr>
          <p:nvPr/>
        </p:nvGrpSpPr>
        <p:grpSpPr bwMode="auto">
          <a:xfrm>
            <a:off x="3429000" y="3429000"/>
            <a:ext cx="228600" cy="838200"/>
            <a:chOff x="1920" y="2160"/>
            <a:chExt cx="144" cy="528"/>
          </a:xfrm>
        </p:grpSpPr>
        <p:grpSp>
          <p:nvGrpSpPr>
            <p:cNvPr id="71695" name="Group 15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696" name="Oval 16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7" name="Line 17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8" name="Freeform 18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699" name="Freeform 19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0" name="Freeform 20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1" name="Line 21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02" name="Text Box 22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9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703" name="Group 23"/>
          <p:cNvGrpSpPr>
            <a:grpSpLocks/>
          </p:cNvGrpSpPr>
          <p:nvPr/>
        </p:nvGrpSpPr>
        <p:grpSpPr bwMode="auto">
          <a:xfrm>
            <a:off x="3810000" y="3429000"/>
            <a:ext cx="228600" cy="838200"/>
            <a:chOff x="1920" y="2160"/>
            <a:chExt cx="144" cy="528"/>
          </a:xfrm>
        </p:grpSpPr>
        <p:grpSp>
          <p:nvGrpSpPr>
            <p:cNvPr id="71704" name="Group 24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705" name="Oval 25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6" name="Line 26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7" name="Freeform 27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8" name="Freeform 28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09" name="Freeform 29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0" name="Line 30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11" name="Text Box 31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.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712" name="Group 32"/>
          <p:cNvGrpSpPr>
            <a:grpSpLocks/>
          </p:cNvGrpSpPr>
          <p:nvPr/>
        </p:nvGrpSpPr>
        <p:grpSpPr bwMode="auto">
          <a:xfrm>
            <a:off x="4191000" y="3429000"/>
            <a:ext cx="228600" cy="838200"/>
            <a:chOff x="1920" y="2160"/>
            <a:chExt cx="144" cy="528"/>
          </a:xfrm>
        </p:grpSpPr>
        <p:grpSp>
          <p:nvGrpSpPr>
            <p:cNvPr id="71713" name="Group 33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714" name="Oval 34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5" name="Line 35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6" name="Freeform 36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7" name="Freeform 37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8" name="Freeform 38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19" name="Line 39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20" name="Text Box 40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5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721" name="Group 41"/>
          <p:cNvGrpSpPr>
            <a:grpSpLocks/>
          </p:cNvGrpSpPr>
          <p:nvPr/>
        </p:nvGrpSpPr>
        <p:grpSpPr bwMode="auto">
          <a:xfrm>
            <a:off x="4572000" y="3429000"/>
            <a:ext cx="228600" cy="838200"/>
            <a:chOff x="1920" y="2160"/>
            <a:chExt cx="144" cy="528"/>
          </a:xfrm>
        </p:grpSpPr>
        <p:grpSp>
          <p:nvGrpSpPr>
            <p:cNvPr id="71722" name="Group 42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723" name="Oval 43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24" name="Line 44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25" name="Freeform 45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26" name="Freeform 46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27" name="Freeform 47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28" name="Line 48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29" name="Text Box 49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0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730" name="Group 50"/>
          <p:cNvGrpSpPr>
            <a:grpSpLocks/>
          </p:cNvGrpSpPr>
          <p:nvPr/>
        </p:nvGrpSpPr>
        <p:grpSpPr bwMode="auto">
          <a:xfrm>
            <a:off x="4953000" y="3429000"/>
            <a:ext cx="228600" cy="838200"/>
            <a:chOff x="1920" y="2160"/>
            <a:chExt cx="144" cy="528"/>
          </a:xfrm>
        </p:grpSpPr>
        <p:grpSp>
          <p:nvGrpSpPr>
            <p:cNvPr id="71731" name="Group 51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732" name="Oval 52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33" name="Line 53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34" name="Freeform 54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35" name="Freeform 55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36" name="Freeform 56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37" name="Line 57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38" name="Text Box 58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1739" name="Group 59"/>
          <p:cNvGrpSpPr>
            <a:grpSpLocks/>
          </p:cNvGrpSpPr>
          <p:nvPr/>
        </p:nvGrpSpPr>
        <p:grpSpPr bwMode="auto">
          <a:xfrm>
            <a:off x="5334000" y="3429000"/>
            <a:ext cx="228600" cy="838200"/>
            <a:chOff x="1920" y="2160"/>
            <a:chExt cx="144" cy="528"/>
          </a:xfrm>
        </p:grpSpPr>
        <p:grpSp>
          <p:nvGrpSpPr>
            <p:cNvPr id="71740" name="Group 60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1741" name="Oval 61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42" name="Line 62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43" name="Freeform 63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44" name="Freeform 64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45" name="Freeform 65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1746" name="Line 66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1747" name="Text Box 67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€</a:t>
              </a:r>
              <a:endParaRPr lang="de-DE">
                <a:latin typeface="Times New Roman" pitchFamily="18" charset="0"/>
              </a:endParaRPr>
            </a:p>
          </p:txBody>
        </p:sp>
      </p:grpSp>
      <p:sp>
        <p:nvSpPr>
          <p:cNvPr id="71748" name="AutoShape 68"/>
          <p:cNvSpPr>
            <a:spLocks noChangeArrowheads="1"/>
          </p:cNvSpPr>
          <p:nvPr/>
        </p:nvSpPr>
        <p:spPr bwMode="auto">
          <a:xfrm rot="5400000">
            <a:off x="2095500" y="3619500"/>
            <a:ext cx="533400" cy="609600"/>
          </a:xfrm>
          <a:custGeom>
            <a:avLst/>
            <a:gdLst>
              <a:gd name="G0" fmla="+- 9193 0 0"/>
              <a:gd name="G1" fmla="+- 18514 0 0"/>
              <a:gd name="G2" fmla="+- 7200 0 0"/>
              <a:gd name="G3" fmla="*/ 9193 1 2"/>
              <a:gd name="G4" fmla="+- G3 10800 0"/>
              <a:gd name="G5" fmla="+- 21600 9193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397 w 21600"/>
              <a:gd name="T1" fmla="*/ 0 h 21600"/>
              <a:gd name="T2" fmla="*/ 9193 w 21600"/>
              <a:gd name="T3" fmla="*/ 7200 h 21600"/>
              <a:gd name="T4" fmla="*/ 0 w 21600"/>
              <a:gd name="T5" fmla="*/ 17963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397" y="0"/>
                </a:moveTo>
                <a:lnTo>
                  <a:pt x="9193" y="7200"/>
                </a:lnTo>
                <a:lnTo>
                  <a:pt x="12279" y="7200"/>
                </a:lnTo>
                <a:lnTo>
                  <a:pt x="12279" y="14326"/>
                </a:lnTo>
                <a:lnTo>
                  <a:pt x="0" y="14326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grpSp>
        <p:nvGrpSpPr>
          <p:cNvPr id="71749" name="Group 69"/>
          <p:cNvGrpSpPr>
            <a:grpSpLocks/>
          </p:cNvGrpSpPr>
          <p:nvPr/>
        </p:nvGrpSpPr>
        <p:grpSpPr bwMode="auto">
          <a:xfrm>
            <a:off x="1143000" y="4113213"/>
            <a:ext cx="1600200" cy="1296987"/>
            <a:chOff x="720" y="2591"/>
            <a:chExt cx="1008" cy="817"/>
          </a:xfrm>
        </p:grpSpPr>
        <p:sp>
          <p:nvSpPr>
            <p:cNvPr id="71750" name="Rectangle 70"/>
            <p:cNvSpPr>
              <a:spLocks noChangeArrowheads="1"/>
            </p:cNvSpPr>
            <p:nvPr/>
          </p:nvSpPr>
          <p:spPr bwMode="auto">
            <a:xfrm>
              <a:off x="720" y="2880"/>
              <a:ext cx="1008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u="sng"/>
                <a:t>Streamer</a:t>
              </a:r>
              <a:endParaRPr lang="de-DE">
                <a:latin typeface="Times New Roman" pitchFamily="18" charset="0"/>
              </a:endParaRPr>
            </a:p>
          </p:txBody>
        </p:sp>
        <p:cxnSp>
          <p:nvCxnSpPr>
            <p:cNvPr id="71751" name="AutoShape 71"/>
            <p:cNvCxnSpPr>
              <a:cxnSpLocks noChangeShapeType="1"/>
              <a:stCxn id="71750" idx="0"/>
              <a:endCxn id="71748" idx="4"/>
            </p:cNvCxnSpPr>
            <p:nvPr/>
          </p:nvCxnSpPr>
          <p:spPr bwMode="auto">
            <a:xfrm flipV="1">
              <a:off x="1224" y="2591"/>
              <a:ext cx="189" cy="2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71752" name="Group 72"/>
          <p:cNvGrpSpPr>
            <a:grpSpLocks/>
          </p:cNvGrpSpPr>
          <p:nvPr/>
        </p:nvGrpSpPr>
        <p:grpSpPr bwMode="auto">
          <a:xfrm>
            <a:off x="5791200" y="3581400"/>
            <a:ext cx="2438400" cy="838200"/>
            <a:chOff x="3648" y="2256"/>
            <a:chExt cx="1536" cy="528"/>
          </a:xfrm>
        </p:grpSpPr>
        <p:sp>
          <p:nvSpPr>
            <p:cNvPr id="71753" name="Rectangle 73"/>
            <p:cNvSpPr>
              <a:spLocks noChangeArrowheads="1"/>
            </p:cNvSpPr>
            <p:nvPr/>
          </p:nvSpPr>
          <p:spPr bwMode="auto">
            <a:xfrm>
              <a:off x="4176" y="2256"/>
              <a:ext cx="1008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u="sng"/>
                <a:t>Sink</a:t>
              </a:r>
              <a:endParaRPr lang="de-DE">
                <a:latin typeface="Times New Roman" pitchFamily="18" charset="0"/>
              </a:endParaRPr>
            </a:p>
          </p:txBody>
        </p:sp>
        <p:sp>
          <p:nvSpPr>
            <p:cNvPr id="71754" name="AutoShape 74"/>
            <p:cNvSpPr>
              <a:spLocks noChangeArrowheads="1"/>
            </p:cNvSpPr>
            <p:nvPr/>
          </p:nvSpPr>
          <p:spPr bwMode="auto">
            <a:xfrm>
              <a:off x="3648" y="2400"/>
              <a:ext cx="384" cy="240"/>
            </a:xfrm>
            <a:prstGeom prst="rightArrow">
              <a:avLst>
                <a:gd name="adj1" fmla="val 50000"/>
                <a:gd name="adj2" fmla="val 4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7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0C916-25D1-418B-9C04-8E162CCFE3E7}" type="slidenum">
              <a:rPr lang="de-DE"/>
              <a:pPr/>
              <a:t>7</a:t>
            </a:fld>
            <a:endParaRPr lang="de-DE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Zweck der Istreams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990600"/>
          </a:xfrm>
        </p:spPr>
        <p:txBody>
          <a:bodyPr/>
          <a:lstStyle/>
          <a:p>
            <a:r>
              <a:rPr lang="de-DE"/>
              <a:t>Eine Folge von Zeichen lesen und daraus ein Objekt zu füllen bzw. generieren.</a:t>
            </a:r>
          </a:p>
        </p:txBody>
      </p:sp>
      <p:grpSp>
        <p:nvGrpSpPr>
          <p:cNvPr id="72708" name="Group 4"/>
          <p:cNvGrpSpPr>
            <a:grpSpLocks/>
          </p:cNvGrpSpPr>
          <p:nvPr/>
        </p:nvGrpSpPr>
        <p:grpSpPr bwMode="auto">
          <a:xfrm>
            <a:off x="3657600" y="3581400"/>
            <a:ext cx="228600" cy="838200"/>
            <a:chOff x="1920" y="2160"/>
            <a:chExt cx="144" cy="528"/>
          </a:xfrm>
        </p:grpSpPr>
        <p:grpSp>
          <p:nvGrpSpPr>
            <p:cNvPr id="72709" name="Group 5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10" name="Oval 6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11" name="Line 7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12" name="Freeform 8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13" name="Freeform 9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14" name="Freeform 10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15" name="Line 11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16" name="Text Box 12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7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17" name="Group 13"/>
          <p:cNvGrpSpPr>
            <a:grpSpLocks/>
          </p:cNvGrpSpPr>
          <p:nvPr/>
        </p:nvGrpSpPr>
        <p:grpSpPr bwMode="auto">
          <a:xfrm>
            <a:off x="4038600" y="3581400"/>
            <a:ext cx="228600" cy="838200"/>
            <a:chOff x="1920" y="2160"/>
            <a:chExt cx="144" cy="528"/>
          </a:xfrm>
        </p:grpSpPr>
        <p:grpSp>
          <p:nvGrpSpPr>
            <p:cNvPr id="72718" name="Group 14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19" name="Oval 15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0" name="Line 16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1" name="Freeform 17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2" name="Freeform 18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3" name="Freeform 19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4" name="Line 20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25" name="Text Box 21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9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26" name="Group 22"/>
          <p:cNvGrpSpPr>
            <a:grpSpLocks/>
          </p:cNvGrpSpPr>
          <p:nvPr/>
        </p:nvGrpSpPr>
        <p:grpSpPr bwMode="auto">
          <a:xfrm>
            <a:off x="4419600" y="3581400"/>
            <a:ext cx="228600" cy="838200"/>
            <a:chOff x="1920" y="2160"/>
            <a:chExt cx="144" cy="528"/>
          </a:xfrm>
        </p:grpSpPr>
        <p:grpSp>
          <p:nvGrpSpPr>
            <p:cNvPr id="72727" name="Group 23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28" name="Oval 24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29" name="Line 25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0" name="Freeform 26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1" name="Freeform 27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2" name="Freeform 28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3" name="Line 29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34" name="Text Box 30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.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35" name="Group 31"/>
          <p:cNvGrpSpPr>
            <a:grpSpLocks/>
          </p:cNvGrpSpPr>
          <p:nvPr/>
        </p:nvGrpSpPr>
        <p:grpSpPr bwMode="auto">
          <a:xfrm>
            <a:off x="4800600" y="3581400"/>
            <a:ext cx="228600" cy="838200"/>
            <a:chOff x="1920" y="2160"/>
            <a:chExt cx="144" cy="528"/>
          </a:xfrm>
        </p:grpSpPr>
        <p:grpSp>
          <p:nvGrpSpPr>
            <p:cNvPr id="72736" name="Group 32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37" name="Oval 33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8" name="Line 34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39" name="Freeform 35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0" name="Freeform 36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1" name="Freeform 37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2" name="Line 38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43" name="Text Box 39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5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44" name="Group 40"/>
          <p:cNvGrpSpPr>
            <a:grpSpLocks/>
          </p:cNvGrpSpPr>
          <p:nvPr/>
        </p:nvGrpSpPr>
        <p:grpSpPr bwMode="auto">
          <a:xfrm>
            <a:off x="5181600" y="3581400"/>
            <a:ext cx="228600" cy="838200"/>
            <a:chOff x="1920" y="2160"/>
            <a:chExt cx="144" cy="528"/>
          </a:xfrm>
        </p:grpSpPr>
        <p:grpSp>
          <p:nvGrpSpPr>
            <p:cNvPr id="72745" name="Group 41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46" name="Oval 42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7" name="Line 43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8" name="Freeform 44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49" name="Freeform 45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0" name="Freeform 46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1" name="Line 47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52" name="Text Box 48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0</a:t>
              </a: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53" name="Group 49"/>
          <p:cNvGrpSpPr>
            <a:grpSpLocks/>
          </p:cNvGrpSpPr>
          <p:nvPr/>
        </p:nvGrpSpPr>
        <p:grpSpPr bwMode="auto">
          <a:xfrm>
            <a:off x="5562600" y="3581400"/>
            <a:ext cx="228600" cy="838200"/>
            <a:chOff x="1920" y="2160"/>
            <a:chExt cx="144" cy="528"/>
          </a:xfrm>
        </p:grpSpPr>
        <p:grpSp>
          <p:nvGrpSpPr>
            <p:cNvPr id="72754" name="Group 50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55" name="Oval 51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6" name="Line 52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7" name="Freeform 53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8" name="Freeform 54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59" name="Freeform 55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0" name="Line 56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61" name="Text Box 57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de-DE">
                <a:latin typeface="Times New Roman" pitchFamily="18" charset="0"/>
              </a:endParaRPr>
            </a:p>
          </p:txBody>
        </p:sp>
      </p:grpSp>
      <p:grpSp>
        <p:nvGrpSpPr>
          <p:cNvPr id="72762" name="Group 58"/>
          <p:cNvGrpSpPr>
            <a:grpSpLocks/>
          </p:cNvGrpSpPr>
          <p:nvPr/>
        </p:nvGrpSpPr>
        <p:grpSpPr bwMode="auto">
          <a:xfrm>
            <a:off x="5943600" y="3581400"/>
            <a:ext cx="228600" cy="838200"/>
            <a:chOff x="1920" y="2160"/>
            <a:chExt cx="144" cy="528"/>
          </a:xfrm>
        </p:grpSpPr>
        <p:grpSp>
          <p:nvGrpSpPr>
            <p:cNvPr id="72763" name="Group 59"/>
            <p:cNvGrpSpPr>
              <a:grpSpLocks/>
            </p:cNvGrpSpPr>
            <p:nvPr/>
          </p:nvGrpSpPr>
          <p:grpSpPr bwMode="auto">
            <a:xfrm>
              <a:off x="1920" y="2400"/>
              <a:ext cx="144" cy="288"/>
              <a:chOff x="2400" y="2496"/>
              <a:chExt cx="288" cy="576"/>
            </a:xfrm>
          </p:grpSpPr>
          <p:sp>
            <p:nvSpPr>
              <p:cNvPr id="72764" name="Oval 60"/>
              <p:cNvSpPr>
                <a:spLocks noChangeArrowheads="1"/>
              </p:cNvSpPr>
              <p:nvPr/>
            </p:nvSpPr>
            <p:spPr bwMode="auto">
              <a:xfrm>
                <a:off x="2400" y="2496"/>
                <a:ext cx="192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5" name="Line 61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6" name="Freeform 62"/>
              <p:cNvSpPr>
                <a:spLocks/>
              </p:cNvSpPr>
              <p:nvPr/>
            </p:nvSpPr>
            <p:spPr bwMode="auto">
              <a:xfrm>
                <a:off x="2496" y="2880"/>
                <a:ext cx="192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6" y="192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92">
                    <a:moveTo>
                      <a:pt x="0" y="0"/>
                    </a:moveTo>
                    <a:lnTo>
                      <a:pt x="96" y="192"/>
                    </a:lnTo>
                    <a:lnTo>
                      <a:pt x="192" y="144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7" name="Freeform 63"/>
              <p:cNvSpPr>
                <a:spLocks/>
              </p:cNvSpPr>
              <p:nvPr/>
            </p:nvSpPr>
            <p:spPr bwMode="auto">
              <a:xfrm>
                <a:off x="2400" y="2880"/>
                <a:ext cx="96" cy="192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144"/>
                  </a:cxn>
                  <a:cxn ang="0">
                    <a:pos x="96" y="192"/>
                  </a:cxn>
                </a:cxnLst>
                <a:rect l="0" t="0" r="r" b="b"/>
                <a:pathLst>
                  <a:path w="96" h="192">
                    <a:moveTo>
                      <a:pt x="96" y="0"/>
                    </a:moveTo>
                    <a:lnTo>
                      <a:pt x="0" y="144"/>
                    </a:lnTo>
                    <a:lnTo>
                      <a:pt x="96" y="192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8" name="Freeform 64"/>
              <p:cNvSpPr>
                <a:spLocks/>
              </p:cNvSpPr>
              <p:nvPr/>
            </p:nvSpPr>
            <p:spPr bwMode="auto">
              <a:xfrm>
                <a:off x="2400" y="2736"/>
                <a:ext cx="96" cy="96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0" y="48"/>
                  </a:cxn>
                  <a:cxn ang="0">
                    <a:pos x="48" y="96"/>
                  </a:cxn>
                </a:cxnLst>
                <a:rect l="0" t="0" r="r" b="b"/>
                <a:pathLst>
                  <a:path w="96" h="96">
                    <a:moveTo>
                      <a:pt x="96" y="0"/>
                    </a:moveTo>
                    <a:lnTo>
                      <a:pt x="0" y="48"/>
                    </a:lnTo>
                    <a:lnTo>
                      <a:pt x="48" y="96"/>
                    </a:ln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  <p:sp>
            <p:nvSpPr>
              <p:cNvPr id="72769" name="Line 65"/>
              <p:cNvSpPr>
                <a:spLocks noChangeShapeType="1"/>
              </p:cNvSpPr>
              <p:nvPr/>
            </p:nvSpPr>
            <p:spPr bwMode="auto">
              <a:xfrm>
                <a:off x="2496" y="2736"/>
                <a:ext cx="14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endParaRPr lang="de-DE"/>
              </a:p>
            </p:txBody>
          </p:sp>
        </p:grpSp>
        <p:sp>
          <p:nvSpPr>
            <p:cNvPr id="72770" name="Text Box 66"/>
            <p:cNvSpPr txBox="1">
              <a:spLocks noChangeArrowheads="1"/>
            </p:cNvSpPr>
            <p:nvPr/>
          </p:nvSpPr>
          <p:spPr bwMode="auto">
            <a:xfrm>
              <a:off x="1920" y="2160"/>
              <a:ext cx="144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de-DE"/>
                <a:t>€</a:t>
              </a:r>
              <a:endParaRPr lang="de-DE">
                <a:latin typeface="Times New Roman" pitchFamily="18" charset="0"/>
              </a:endParaRPr>
            </a:p>
          </p:txBody>
        </p:sp>
      </p:grpSp>
      <p:sp>
        <p:nvSpPr>
          <p:cNvPr id="72771" name="AutoShape 67"/>
          <p:cNvSpPr>
            <a:spLocks noChangeArrowheads="1"/>
          </p:cNvSpPr>
          <p:nvPr/>
        </p:nvSpPr>
        <p:spPr bwMode="auto">
          <a:xfrm>
            <a:off x="6400800" y="3657600"/>
            <a:ext cx="533400" cy="609600"/>
          </a:xfrm>
          <a:custGeom>
            <a:avLst/>
            <a:gdLst>
              <a:gd name="G0" fmla="+- 9193 0 0"/>
              <a:gd name="G1" fmla="+- 18514 0 0"/>
              <a:gd name="G2" fmla="+- 7200 0 0"/>
              <a:gd name="G3" fmla="*/ 9193 1 2"/>
              <a:gd name="G4" fmla="+- G3 10800 0"/>
              <a:gd name="G5" fmla="+- 21600 9193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397 w 21600"/>
              <a:gd name="T1" fmla="*/ 0 h 21600"/>
              <a:gd name="T2" fmla="*/ 9193 w 21600"/>
              <a:gd name="T3" fmla="*/ 7200 h 21600"/>
              <a:gd name="T4" fmla="*/ 0 w 21600"/>
              <a:gd name="T5" fmla="*/ 17963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397" y="0"/>
                </a:moveTo>
                <a:lnTo>
                  <a:pt x="9193" y="7200"/>
                </a:lnTo>
                <a:lnTo>
                  <a:pt x="12279" y="7200"/>
                </a:lnTo>
                <a:lnTo>
                  <a:pt x="12279" y="14326"/>
                </a:lnTo>
                <a:lnTo>
                  <a:pt x="0" y="14326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grpSp>
        <p:nvGrpSpPr>
          <p:cNvPr id="72772" name="Group 68"/>
          <p:cNvGrpSpPr>
            <a:grpSpLocks/>
          </p:cNvGrpSpPr>
          <p:nvPr/>
        </p:nvGrpSpPr>
        <p:grpSpPr bwMode="auto">
          <a:xfrm>
            <a:off x="6400800" y="4267200"/>
            <a:ext cx="1600200" cy="1447800"/>
            <a:chOff x="4032" y="2688"/>
            <a:chExt cx="1008" cy="912"/>
          </a:xfrm>
        </p:grpSpPr>
        <p:sp>
          <p:nvSpPr>
            <p:cNvPr id="72773" name="Rectangle 69"/>
            <p:cNvSpPr>
              <a:spLocks noChangeArrowheads="1"/>
            </p:cNvSpPr>
            <p:nvPr/>
          </p:nvSpPr>
          <p:spPr bwMode="auto">
            <a:xfrm>
              <a:off x="4032" y="3072"/>
              <a:ext cx="1008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u="sng"/>
                <a:t>Streamer</a:t>
              </a:r>
              <a:endParaRPr lang="de-DE">
                <a:latin typeface="Times New Roman" pitchFamily="18" charset="0"/>
              </a:endParaRPr>
            </a:p>
          </p:txBody>
        </p:sp>
        <p:cxnSp>
          <p:nvCxnSpPr>
            <p:cNvPr id="72774" name="AutoShape 70"/>
            <p:cNvCxnSpPr>
              <a:cxnSpLocks noChangeShapeType="1"/>
              <a:stCxn id="72773" idx="0"/>
              <a:endCxn id="72771" idx="3"/>
            </p:cNvCxnSpPr>
            <p:nvPr/>
          </p:nvCxnSpPr>
          <p:spPr bwMode="auto">
            <a:xfrm flipH="1" flipV="1">
              <a:off x="4176" y="2688"/>
              <a:ext cx="36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72775" name="Group 71"/>
          <p:cNvGrpSpPr>
            <a:grpSpLocks/>
          </p:cNvGrpSpPr>
          <p:nvPr/>
        </p:nvGrpSpPr>
        <p:grpSpPr bwMode="auto">
          <a:xfrm>
            <a:off x="1295400" y="3733800"/>
            <a:ext cx="2133600" cy="838200"/>
            <a:chOff x="480" y="2256"/>
            <a:chExt cx="1344" cy="528"/>
          </a:xfrm>
        </p:grpSpPr>
        <p:sp>
          <p:nvSpPr>
            <p:cNvPr id="72776" name="Rectangle 72"/>
            <p:cNvSpPr>
              <a:spLocks noChangeArrowheads="1"/>
            </p:cNvSpPr>
            <p:nvPr/>
          </p:nvSpPr>
          <p:spPr bwMode="auto">
            <a:xfrm>
              <a:off x="480" y="2256"/>
              <a:ext cx="816" cy="52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u="sng"/>
                <a:t>Source</a:t>
              </a:r>
              <a:endParaRPr lang="de-DE">
                <a:latin typeface="Times New Roman" pitchFamily="18" charset="0"/>
              </a:endParaRPr>
            </a:p>
          </p:txBody>
        </p:sp>
        <p:sp>
          <p:nvSpPr>
            <p:cNvPr id="72777" name="AutoShape 73"/>
            <p:cNvSpPr>
              <a:spLocks noChangeArrowheads="1"/>
            </p:cNvSpPr>
            <p:nvPr/>
          </p:nvSpPr>
          <p:spPr bwMode="auto">
            <a:xfrm>
              <a:off x="1440" y="2400"/>
              <a:ext cx="384" cy="240"/>
            </a:xfrm>
            <a:prstGeom prst="rightArrow">
              <a:avLst>
                <a:gd name="adj1" fmla="val 50000"/>
                <a:gd name="adj2" fmla="val 4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</p:grpSp>
      <p:sp>
        <p:nvSpPr>
          <p:cNvPr id="72778" name="Rectangle 74"/>
          <p:cNvSpPr>
            <a:spLocks noChangeArrowheads="1"/>
          </p:cNvSpPr>
          <p:nvPr/>
        </p:nvSpPr>
        <p:spPr bwMode="auto">
          <a:xfrm>
            <a:off x="5943600" y="2590800"/>
            <a:ext cx="1600200" cy="838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u="sng"/>
              <a:t>MyObject</a:t>
            </a:r>
            <a:endParaRPr lang="de-DE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EDE82-E08B-4547-8115-6835FC97215C}" type="slidenum">
              <a:rPr lang="de-DE"/>
              <a:pPr/>
              <a:t>8</a:t>
            </a:fld>
            <a:endParaRPr lang="de-DE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„Kleine Bemerkung“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Die C++-IOStreams haben „alles‘, was man zur Ein- und Ausgabe benötigt.</a:t>
            </a:r>
          </a:p>
        </p:txBody>
      </p:sp>
      <p:sp>
        <p:nvSpPr>
          <p:cNvPr id="73732" name="AutoShape 4"/>
          <p:cNvSpPr>
            <a:spLocks noChangeArrowheads="1"/>
          </p:cNvSpPr>
          <p:nvPr/>
        </p:nvSpPr>
        <p:spPr bwMode="auto">
          <a:xfrm>
            <a:off x="1981200" y="1828800"/>
            <a:ext cx="5257800" cy="4648200"/>
          </a:xfrm>
          <a:prstGeom prst="irregularSeal2">
            <a:avLst/>
          </a:prstGeom>
          <a:solidFill>
            <a:schemeClr val="bg1"/>
          </a:solidFill>
          <a:ln w="19050">
            <a:solidFill>
              <a:srgbClr val="80008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Und was sie </a:t>
            </a:r>
          </a:p>
          <a:p>
            <a:pPr algn="ctr"/>
            <a:r>
              <a:rPr lang="de-DE"/>
              <a:t>nicht haben, </a:t>
            </a:r>
          </a:p>
          <a:p>
            <a:pPr algn="ctr"/>
            <a:r>
              <a:rPr lang="de-DE"/>
              <a:t>braucht man </a:t>
            </a:r>
          </a:p>
          <a:p>
            <a:pPr algn="ctr"/>
            <a:r>
              <a:rPr lang="de-DE"/>
              <a:t>auch nicht 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  <p:bldP spid="73732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40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41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A47AC-DF05-492E-9EEA-A190ABA6ECD8}" type="slidenum">
              <a:rPr lang="de-DE"/>
              <a:pPr/>
              <a:t>9</a:t>
            </a:fld>
            <a:endParaRPr lang="de-DE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Architektur der C++ IO-Klassen (1)</a:t>
            </a:r>
            <a:endParaRPr 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Das Wichtigste in Kürze:</a:t>
            </a:r>
            <a:endParaRPr lang="en-US"/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2268538" y="2708275"/>
            <a:ext cx="1296987" cy="1871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ostream</a:t>
            </a:r>
            <a:endParaRPr lang="en-US"/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4645025" y="2708275"/>
            <a:ext cx="1512888" cy="1871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streambuf</a:t>
            </a:r>
            <a:endParaRPr lang="en-US"/>
          </a:p>
        </p:txBody>
      </p:sp>
      <p:sp>
        <p:nvSpPr>
          <p:cNvPr id="105479" name="Oval 7"/>
          <p:cNvSpPr>
            <a:spLocks noChangeArrowheads="1"/>
          </p:cNvSpPr>
          <p:nvPr/>
        </p:nvSpPr>
        <p:spPr bwMode="auto">
          <a:xfrm>
            <a:off x="1692275" y="3500438"/>
            <a:ext cx="287338" cy="2873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cxnSp>
        <p:nvCxnSpPr>
          <p:cNvPr id="105480" name="AutoShape 8"/>
          <p:cNvCxnSpPr>
            <a:cxnSpLocks noChangeShapeType="1"/>
            <a:stCxn id="105479" idx="6"/>
            <a:endCxn id="105476" idx="1"/>
          </p:cNvCxnSpPr>
          <p:nvPr/>
        </p:nvCxnSpPr>
        <p:spPr bwMode="auto">
          <a:xfrm>
            <a:off x="1979613" y="3644900"/>
            <a:ext cx="288925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sp>
        <p:nvSpPr>
          <p:cNvPr id="105481" name="Oval 9"/>
          <p:cNvSpPr>
            <a:spLocks noChangeArrowheads="1"/>
          </p:cNvSpPr>
          <p:nvPr/>
        </p:nvSpPr>
        <p:spPr bwMode="auto">
          <a:xfrm>
            <a:off x="3997325" y="3500438"/>
            <a:ext cx="287338" cy="28733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cxnSp>
        <p:nvCxnSpPr>
          <p:cNvPr id="105482" name="AutoShape 10"/>
          <p:cNvCxnSpPr>
            <a:cxnSpLocks noChangeShapeType="1"/>
            <a:stCxn id="105481" idx="6"/>
            <a:endCxn id="105477" idx="1"/>
          </p:cNvCxnSpPr>
          <p:nvPr/>
        </p:nvCxnSpPr>
        <p:spPr bwMode="auto">
          <a:xfrm>
            <a:off x="4284663" y="3644900"/>
            <a:ext cx="36036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</p:cxnSp>
      <p:cxnSp>
        <p:nvCxnSpPr>
          <p:cNvPr id="105483" name="AutoShape 11"/>
          <p:cNvCxnSpPr>
            <a:cxnSpLocks noChangeShapeType="1"/>
            <a:stCxn id="105476" idx="3"/>
            <a:endCxn id="105481" idx="2"/>
          </p:cNvCxnSpPr>
          <p:nvPr/>
        </p:nvCxnSpPr>
        <p:spPr bwMode="auto">
          <a:xfrm>
            <a:off x="3565525" y="3644900"/>
            <a:ext cx="431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</p:cxnSp>
      <p:sp>
        <p:nvSpPr>
          <p:cNvPr id="105485" name="Rectangle 13"/>
          <p:cNvSpPr>
            <a:spLocks noChangeArrowheads="1"/>
          </p:cNvSpPr>
          <p:nvPr/>
        </p:nvSpPr>
        <p:spPr bwMode="auto">
          <a:xfrm>
            <a:off x="6950075" y="2708275"/>
            <a:ext cx="1079500" cy="1871663"/>
          </a:xfrm>
          <a:prstGeom prst="rect">
            <a:avLst/>
          </a:prstGeom>
          <a:solidFill>
            <a:srgbClr val="969696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Device</a:t>
            </a:r>
            <a:endParaRPr lang="en-US"/>
          </a:p>
        </p:txBody>
      </p:sp>
      <p:grpSp>
        <p:nvGrpSpPr>
          <p:cNvPr id="105493" name="Group 21"/>
          <p:cNvGrpSpPr>
            <a:grpSpLocks/>
          </p:cNvGrpSpPr>
          <p:nvPr/>
        </p:nvGrpSpPr>
        <p:grpSpPr bwMode="auto">
          <a:xfrm>
            <a:off x="611188" y="3068638"/>
            <a:ext cx="1152525" cy="1249362"/>
            <a:chOff x="385" y="1979"/>
            <a:chExt cx="726" cy="787"/>
          </a:xfrm>
        </p:grpSpPr>
        <p:sp>
          <p:nvSpPr>
            <p:cNvPr id="105486" name="Oval 14"/>
            <p:cNvSpPr>
              <a:spLocks noChangeArrowheads="1"/>
            </p:cNvSpPr>
            <p:nvPr/>
          </p:nvSpPr>
          <p:spPr bwMode="auto">
            <a:xfrm>
              <a:off x="657" y="1979"/>
              <a:ext cx="181" cy="18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cxnSp>
          <p:nvCxnSpPr>
            <p:cNvPr id="105488" name="AutoShape 16"/>
            <p:cNvCxnSpPr>
              <a:cxnSpLocks noChangeShapeType="1"/>
              <a:stCxn id="105486" idx="4"/>
            </p:cNvCxnSpPr>
            <p:nvPr/>
          </p:nvCxnSpPr>
          <p:spPr bwMode="auto">
            <a:xfrm>
              <a:off x="748" y="2160"/>
              <a:ext cx="0" cy="2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05489" name="Line 17"/>
            <p:cNvSpPr>
              <a:spLocks noChangeShapeType="1"/>
            </p:cNvSpPr>
            <p:nvPr/>
          </p:nvSpPr>
          <p:spPr bwMode="auto">
            <a:xfrm>
              <a:off x="657" y="2251"/>
              <a:ext cx="18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105490" name="Text Box 18"/>
            <p:cNvSpPr txBox="1">
              <a:spLocks noChangeArrowheads="1"/>
            </p:cNvSpPr>
            <p:nvPr/>
          </p:nvSpPr>
          <p:spPr bwMode="auto">
            <a:xfrm>
              <a:off x="385" y="2478"/>
              <a:ext cx="72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de-DE"/>
                <a:t>Client</a:t>
              </a:r>
              <a:endParaRPr lang="en-US"/>
            </a:p>
          </p:txBody>
        </p:sp>
        <p:sp>
          <p:nvSpPr>
            <p:cNvPr id="105491" name="Line 19"/>
            <p:cNvSpPr>
              <a:spLocks noChangeShapeType="1"/>
            </p:cNvSpPr>
            <p:nvPr/>
          </p:nvSpPr>
          <p:spPr bwMode="auto">
            <a:xfrm flipH="1">
              <a:off x="657" y="2387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105492" name="Line 20"/>
            <p:cNvSpPr>
              <a:spLocks noChangeShapeType="1"/>
            </p:cNvSpPr>
            <p:nvPr/>
          </p:nvSpPr>
          <p:spPr bwMode="auto">
            <a:xfrm>
              <a:off x="748" y="2387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</p:grpSp>
      <p:sp>
        <p:nvSpPr>
          <p:cNvPr id="105495" name="Line 23"/>
          <p:cNvSpPr>
            <a:spLocks noChangeShapeType="1"/>
          </p:cNvSpPr>
          <p:nvPr/>
        </p:nvSpPr>
        <p:spPr bwMode="auto">
          <a:xfrm>
            <a:off x="1331913" y="3643313"/>
            <a:ext cx="3603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496" name="Text Box 24"/>
          <p:cNvSpPr txBox="1">
            <a:spLocks noChangeArrowheads="1"/>
          </p:cNvSpPr>
          <p:nvPr/>
        </p:nvSpPr>
        <p:spPr bwMode="auto">
          <a:xfrm>
            <a:off x="3689350" y="5032375"/>
            <a:ext cx="5905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de-DE"/>
              <a:t>std</a:t>
            </a:r>
            <a:endParaRPr lang="en-US"/>
          </a:p>
        </p:txBody>
      </p:sp>
      <p:sp>
        <p:nvSpPr>
          <p:cNvPr id="105497" name="Text Box 25"/>
          <p:cNvSpPr txBox="1">
            <a:spLocks noChangeArrowheads="1"/>
          </p:cNvSpPr>
          <p:nvPr/>
        </p:nvSpPr>
        <p:spPr bwMode="auto">
          <a:xfrm>
            <a:off x="6877050" y="5084763"/>
            <a:ext cx="15271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de-DE"/>
              <a:t>individuell</a:t>
            </a:r>
            <a:endParaRPr lang="en-US"/>
          </a:p>
        </p:txBody>
      </p:sp>
      <p:sp>
        <p:nvSpPr>
          <p:cNvPr id="105498" name="Line 26"/>
          <p:cNvSpPr>
            <a:spLocks noChangeShapeType="1"/>
          </p:cNvSpPr>
          <p:nvPr/>
        </p:nvSpPr>
        <p:spPr bwMode="auto">
          <a:xfrm>
            <a:off x="3492500" y="4365625"/>
            <a:ext cx="360363" cy="719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499" name="Line 27"/>
          <p:cNvSpPr>
            <a:spLocks noChangeShapeType="1"/>
          </p:cNvSpPr>
          <p:nvPr/>
        </p:nvSpPr>
        <p:spPr bwMode="auto">
          <a:xfrm flipH="1">
            <a:off x="4286250" y="4437063"/>
            <a:ext cx="1366838" cy="71913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00" name="Line 28"/>
          <p:cNvSpPr>
            <a:spLocks noChangeShapeType="1"/>
          </p:cNvSpPr>
          <p:nvPr/>
        </p:nvSpPr>
        <p:spPr bwMode="auto">
          <a:xfrm flipH="1">
            <a:off x="7165975" y="4437063"/>
            <a:ext cx="287338" cy="6477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01" name="Oval 29"/>
          <p:cNvSpPr>
            <a:spLocks noChangeArrowheads="1"/>
          </p:cNvSpPr>
          <p:nvPr/>
        </p:nvSpPr>
        <p:spPr bwMode="auto">
          <a:xfrm>
            <a:off x="6518275" y="2851150"/>
            <a:ext cx="142875" cy="1444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05503" name="Oval 31"/>
          <p:cNvSpPr>
            <a:spLocks noChangeArrowheads="1"/>
          </p:cNvSpPr>
          <p:nvPr/>
        </p:nvSpPr>
        <p:spPr bwMode="auto">
          <a:xfrm>
            <a:off x="6518275" y="3211513"/>
            <a:ext cx="142875" cy="14446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05505" name="Oval 33"/>
          <p:cNvSpPr>
            <a:spLocks noChangeArrowheads="1"/>
          </p:cNvSpPr>
          <p:nvPr/>
        </p:nvSpPr>
        <p:spPr bwMode="auto">
          <a:xfrm>
            <a:off x="6518275" y="3571875"/>
            <a:ext cx="142875" cy="1444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05507" name="Oval 35"/>
          <p:cNvSpPr>
            <a:spLocks noChangeArrowheads="1"/>
          </p:cNvSpPr>
          <p:nvPr/>
        </p:nvSpPr>
        <p:spPr bwMode="auto">
          <a:xfrm>
            <a:off x="6518275" y="4003675"/>
            <a:ext cx="142875" cy="144463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05510" name="Line 38"/>
          <p:cNvSpPr>
            <a:spLocks noChangeShapeType="1"/>
          </p:cNvSpPr>
          <p:nvPr/>
        </p:nvSpPr>
        <p:spPr bwMode="auto">
          <a:xfrm>
            <a:off x="6157913" y="2924175"/>
            <a:ext cx="3603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2" name="Line 40"/>
          <p:cNvSpPr>
            <a:spLocks noChangeShapeType="1"/>
          </p:cNvSpPr>
          <p:nvPr/>
        </p:nvSpPr>
        <p:spPr bwMode="auto">
          <a:xfrm>
            <a:off x="6661150" y="2924175"/>
            <a:ext cx="288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3" name="Line 41"/>
          <p:cNvSpPr>
            <a:spLocks noChangeShapeType="1"/>
          </p:cNvSpPr>
          <p:nvPr/>
        </p:nvSpPr>
        <p:spPr bwMode="auto">
          <a:xfrm>
            <a:off x="6661150" y="3284538"/>
            <a:ext cx="288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4" name="Line 42"/>
          <p:cNvSpPr>
            <a:spLocks noChangeShapeType="1"/>
          </p:cNvSpPr>
          <p:nvPr/>
        </p:nvSpPr>
        <p:spPr bwMode="auto">
          <a:xfrm>
            <a:off x="6661150" y="3644900"/>
            <a:ext cx="288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5" name="Line 43"/>
          <p:cNvSpPr>
            <a:spLocks noChangeShapeType="1"/>
          </p:cNvSpPr>
          <p:nvPr/>
        </p:nvSpPr>
        <p:spPr bwMode="auto">
          <a:xfrm>
            <a:off x="6661150" y="4076700"/>
            <a:ext cx="2889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6" name="Line 44"/>
          <p:cNvSpPr>
            <a:spLocks noChangeShapeType="1"/>
          </p:cNvSpPr>
          <p:nvPr/>
        </p:nvSpPr>
        <p:spPr bwMode="auto">
          <a:xfrm>
            <a:off x="6157913" y="3284538"/>
            <a:ext cx="3603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7" name="Line 45"/>
          <p:cNvSpPr>
            <a:spLocks noChangeShapeType="1"/>
          </p:cNvSpPr>
          <p:nvPr/>
        </p:nvSpPr>
        <p:spPr bwMode="auto">
          <a:xfrm>
            <a:off x="6157913" y="3644900"/>
            <a:ext cx="3603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18" name="Line 46"/>
          <p:cNvSpPr>
            <a:spLocks noChangeShapeType="1"/>
          </p:cNvSpPr>
          <p:nvPr/>
        </p:nvSpPr>
        <p:spPr bwMode="auto">
          <a:xfrm>
            <a:off x="6157913" y="4076700"/>
            <a:ext cx="3603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22" name="Line 50"/>
          <p:cNvSpPr>
            <a:spLocks noChangeShapeType="1"/>
          </p:cNvSpPr>
          <p:nvPr/>
        </p:nvSpPr>
        <p:spPr bwMode="auto">
          <a:xfrm flipH="1">
            <a:off x="6589713" y="2420938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lIns="92075" tIns="46038" rIns="92075" bIns="46038" anchor="ctr"/>
          <a:lstStyle/>
          <a:p>
            <a:endParaRPr lang="de-DE"/>
          </a:p>
        </p:txBody>
      </p:sp>
      <p:sp>
        <p:nvSpPr>
          <p:cNvPr id="105523" name="Text Box 51"/>
          <p:cNvSpPr txBox="1">
            <a:spLocks noChangeArrowheads="1"/>
          </p:cNvSpPr>
          <p:nvPr/>
        </p:nvSpPr>
        <p:spPr bwMode="auto">
          <a:xfrm>
            <a:off x="5797550" y="1916113"/>
            <a:ext cx="1422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de-DE"/>
              <a:t>optional !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</a:p>
          <a:p>
            <a:endParaRPr lang="de-DE" dirty="0"/>
          </a:p>
        </p:txBody>
      </p:sp>
      <p:sp>
        <p:nvSpPr>
          <p:cNvPr id="31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32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BAB1D-60AB-43C6-9A0E-3E63F52D4A8D}" type="slidenum">
              <a:rPr lang="de-DE"/>
              <a:pPr/>
              <a:t>10</a:t>
            </a:fld>
            <a:endParaRPr lang="de-DE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Architektur der C++ IO-Klassen (2)</a:t>
            </a: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2590800" y="2362200"/>
            <a:ext cx="12192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ios_base</a:t>
            </a: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2590800" y="3124200"/>
            <a:ext cx="12192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basic_ios</a:t>
            </a:r>
          </a:p>
        </p:txBody>
      </p:sp>
      <p:sp>
        <p:nvSpPr>
          <p:cNvPr id="74757" name="Freeform 5"/>
          <p:cNvSpPr>
            <a:spLocks/>
          </p:cNvSpPr>
          <p:nvPr/>
        </p:nvSpPr>
        <p:spPr bwMode="auto">
          <a:xfrm>
            <a:off x="3048000" y="27432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58" name="Line 6"/>
          <p:cNvSpPr>
            <a:spLocks noChangeShapeType="1"/>
          </p:cNvSpPr>
          <p:nvPr/>
        </p:nvSpPr>
        <p:spPr bwMode="auto">
          <a:xfrm>
            <a:off x="3200400" y="2895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59" name="Freeform 7"/>
          <p:cNvSpPr>
            <a:spLocks/>
          </p:cNvSpPr>
          <p:nvPr/>
        </p:nvSpPr>
        <p:spPr bwMode="auto">
          <a:xfrm>
            <a:off x="3048000" y="35052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60" name="Line 8"/>
          <p:cNvSpPr>
            <a:spLocks noChangeShapeType="1"/>
          </p:cNvSpPr>
          <p:nvPr/>
        </p:nvSpPr>
        <p:spPr bwMode="auto">
          <a:xfrm>
            <a:off x="1752600" y="4876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61" name="Line 9"/>
          <p:cNvSpPr>
            <a:spLocks noChangeShapeType="1"/>
          </p:cNvSpPr>
          <p:nvPr/>
        </p:nvSpPr>
        <p:spPr bwMode="auto">
          <a:xfrm>
            <a:off x="1752600" y="38862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914400" y="4343400"/>
            <a:ext cx="1676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basic_istream</a:t>
            </a:r>
          </a:p>
        </p:txBody>
      </p:sp>
      <p:sp>
        <p:nvSpPr>
          <p:cNvPr id="74763" name="Line 11"/>
          <p:cNvSpPr>
            <a:spLocks noChangeShapeType="1"/>
          </p:cNvSpPr>
          <p:nvPr/>
        </p:nvSpPr>
        <p:spPr bwMode="auto">
          <a:xfrm>
            <a:off x="1752600" y="3886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64" name="Rectangle 12"/>
          <p:cNvSpPr>
            <a:spLocks noChangeArrowheads="1"/>
          </p:cNvSpPr>
          <p:nvPr/>
        </p:nvSpPr>
        <p:spPr bwMode="auto">
          <a:xfrm>
            <a:off x="3581400" y="28194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4765" name="Line 13"/>
          <p:cNvSpPr>
            <a:spLocks noChangeShapeType="1"/>
          </p:cNvSpPr>
          <p:nvPr/>
        </p:nvSpPr>
        <p:spPr bwMode="auto">
          <a:xfrm>
            <a:off x="4724400" y="38862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66" name="Rectangle 14"/>
          <p:cNvSpPr>
            <a:spLocks noChangeArrowheads="1"/>
          </p:cNvSpPr>
          <p:nvPr/>
        </p:nvSpPr>
        <p:spPr bwMode="auto">
          <a:xfrm>
            <a:off x="3886200" y="4343400"/>
            <a:ext cx="1676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basic_ostream</a:t>
            </a: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4953000" y="40386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4768" name="Rectangle 16"/>
          <p:cNvSpPr>
            <a:spLocks noChangeArrowheads="1"/>
          </p:cNvSpPr>
          <p:nvPr/>
        </p:nvSpPr>
        <p:spPr bwMode="auto">
          <a:xfrm>
            <a:off x="1981200" y="40386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4769" name="Rectangle 17"/>
          <p:cNvSpPr>
            <a:spLocks noChangeArrowheads="1"/>
          </p:cNvSpPr>
          <p:nvPr/>
        </p:nvSpPr>
        <p:spPr bwMode="auto">
          <a:xfrm>
            <a:off x="5791200" y="3124200"/>
            <a:ext cx="19050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basic_streambuf</a:t>
            </a:r>
          </a:p>
        </p:txBody>
      </p:sp>
      <p:sp>
        <p:nvSpPr>
          <p:cNvPr id="74770" name="Rectangle 18"/>
          <p:cNvSpPr>
            <a:spLocks noChangeArrowheads="1"/>
          </p:cNvSpPr>
          <p:nvPr/>
        </p:nvSpPr>
        <p:spPr bwMode="auto">
          <a:xfrm>
            <a:off x="6858000" y="28194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4771" name="Freeform 19"/>
          <p:cNvSpPr>
            <a:spLocks/>
          </p:cNvSpPr>
          <p:nvPr/>
        </p:nvSpPr>
        <p:spPr bwMode="auto">
          <a:xfrm>
            <a:off x="3810000" y="3200400"/>
            <a:ext cx="304800" cy="304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96" y="192"/>
              </a:cxn>
              <a:cxn ang="0">
                <a:pos x="0" y="96"/>
              </a:cxn>
            </a:cxnLst>
            <a:rect l="0" t="0" r="r" b="b"/>
            <a:pathLst>
              <a:path w="192" h="192">
                <a:moveTo>
                  <a:pt x="0" y="96"/>
                </a:moveTo>
                <a:lnTo>
                  <a:pt x="96" y="0"/>
                </a:lnTo>
                <a:lnTo>
                  <a:pt x="192" y="96"/>
                </a:lnTo>
                <a:lnTo>
                  <a:pt x="96" y="192"/>
                </a:lnTo>
                <a:lnTo>
                  <a:pt x="0" y="96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72" name="Line 20"/>
          <p:cNvSpPr>
            <a:spLocks noChangeShapeType="1"/>
          </p:cNvSpPr>
          <p:nvPr/>
        </p:nvSpPr>
        <p:spPr bwMode="auto">
          <a:xfrm>
            <a:off x="4114800" y="33528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73" name="Rectangle 21"/>
          <p:cNvSpPr>
            <a:spLocks noChangeArrowheads="1"/>
          </p:cNvSpPr>
          <p:nvPr/>
        </p:nvSpPr>
        <p:spPr bwMode="auto">
          <a:xfrm>
            <a:off x="685800" y="13716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de-DE" dirty="0"/>
              <a:t>Der Kern der IO-Stream-Architektur.</a:t>
            </a:r>
          </a:p>
        </p:txBody>
      </p:sp>
      <p:sp>
        <p:nvSpPr>
          <p:cNvPr id="74774" name="Rectangle 22"/>
          <p:cNvSpPr>
            <a:spLocks noChangeArrowheads="1"/>
          </p:cNvSpPr>
          <p:nvPr/>
        </p:nvSpPr>
        <p:spPr bwMode="auto">
          <a:xfrm>
            <a:off x="2362200" y="5562600"/>
            <a:ext cx="1676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basic_iostream</a:t>
            </a:r>
          </a:p>
        </p:txBody>
      </p:sp>
      <p:sp>
        <p:nvSpPr>
          <p:cNvPr id="74775" name="Rectangle 23"/>
          <p:cNvSpPr>
            <a:spLocks noChangeArrowheads="1"/>
          </p:cNvSpPr>
          <p:nvPr/>
        </p:nvSpPr>
        <p:spPr bwMode="auto">
          <a:xfrm>
            <a:off x="3429000" y="52578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4776" name="Freeform 24"/>
          <p:cNvSpPr>
            <a:spLocks/>
          </p:cNvSpPr>
          <p:nvPr/>
        </p:nvSpPr>
        <p:spPr bwMode="auto">
          <a:xfrm>
            <a:off x="1600200" y="47244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77" name="Line 25"/>
          <p:cNvSpPr>
            <a:spLocks noChangeShapeType="1"/>
          </p:cNvSpPr>
          <p:nvPr/>
        </p:nvSpPr>
        <p:spPr bwMode="auto">
          <a:xfrm>
            <a:off x="3200400" y="3657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78" name="Line 26"/>
          <p:cNvSpPr>
            <a:spLocks noChangeShapeType="1"/>
          </p:cNvSpPr>
          <p:nvPr/>
        </p:nvSpPr>
        <p:spPr bwMode="auto">
          <a:xfrm>
            <a:off x="4724400" y="4876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79" name="Freeform 27"/>
          <p:cNvSpPr>
            <a:spLocks/>
          </p:cNvSpPr>
          <p:nvPr/>
        </p:nvSpPr>
        <p:spPr bwMode="auto">
          <a:xfrm>
            <a:off x="4572000" y="47244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80" name="Line 28"/>
          <p:cNvSpPr>
            <a:spLocks noChangeShapeType="1"/>
          </p:cNvSpPr>
          <p:nvPr/>
        </p:nvSpPr>
        <p:spPr bwMode="auto">
          <a:xfrm>
            <a:off x="1752600" y="51054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4781" name="Line 29"/>
          <p:cNvSpPr>
            <a:spLocks noChangeShapeType="1"/>
          </p:cNvSpPr>
          <p:nvPr/>
        </p:nvSpPr>
        <p:spPr bwMode="auto">
          <a:xfrm>
            <a:off x="3200400" y="5105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045B-C4BB-49C0-80FA-3A645E215D08}" type="slidenum">
              <a:rPr lang="de-DE"/>
              <a:pPr/>
              <a:t>11</a:t>
            </a:fld>
            <a:endParaRPr lang="de-DE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ios_base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Input-Output-Base</a:t>
            </a:r>
          </a:p>
          <a:p>
            <a:r>
              <a:rPr lang="de-DE" dirty="0"/>
              <a:t>Zweck:</a:t>
            </a:r>
          </a:p>
          <a:p>
            <a:pPr lvl="1"/>
            <a:r>
              <a:rPr lang="de-DE" dirty="0"/>
              <a:t>Format-Flags (inkl. </a:t>
            </a:r>
            <a:r>
              <a:rPr lang="de-DE" dirty="0" err="1"/>
              <a:t>precision</a:t>
            </a:r>
            <a:r>
              <a:rPr lang="de-DE" dirty="0"/>
              <a:t>, </a:t>
            </a:r>
            <a:r>
              <a:rPr lang="de-DE" dirty="0" err="1"/>
              <a:t>width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IO-States</a:t>
            </a:r>
          </a:p>
          <a:p>
            <a:pPr lvl="1"/>
            <a:r>
              <a:rPr lang="de-DE" dirty="0"/>
              <a:t>„frei definierbaren“ </a:t>
            </a:r>
            <a:r>
              <a:rPr lang="de-DE" dirty="0" smtClean="0"/>
              <a:t>Speicher (</a:t>
            </a:r>
            <a:r>
              <a:rPr lang="de-DE" dirty="0" err="1" smtClean="0"/>
              <a:t>storage</a:t>
            </a:r>
            <a:r>
              <a:rPr lang="de-DE" dirty="0" smtClean="0"/>
              <a:t> </a:t>
            </a:r>
            <a:r>
              <a:rPr lang="de-DE" dirty="0" err="1" smtClean="0"/>
              <a:t>functions</a:t>
            </a:r>
            <a:r>
              <a:rPr lang="de-DE" dirty="0" smtClean="0"/>
              <a:t>)</a:t>
            </a:r>
            <a:endParaRPr lang="de-DE" dirty="0"/>
          </a:p>
          <a:p>
            <a:pPr lvl="1"/>
            <a:r>
              <a:rPr lang="de-DE" dirty="0"/>
              <a:t>Klasse </a:t>
            </a:r>
            <a:r>
              <a:rPr lang="de-DE" dirty="0" err="1"/>
              <a:t>failure</a:t>
            </a:r>
            <a:endParaRPr lang="de-DE" dirty="0"/>
          </a:p>
          <a:p>
            <a:pPr lvl="1"/>
            <a:r>
              <a:rPr lang="de-DE" dirty="0" err="1"/>
              <a:t>Locale</a:t>
            </a:r>
            <a:endParaRPr lang="de-DE" dirty="0"/>
          </a:p>
          <a:p>
            <a:pPr lvl="1"/>
            <a:r>
              <a:rPr lang="de-DE" dirty="0" err="1"/>
              <a:t>Callbacks</a:t>
            </a:r>
            <a:r>
              <a:rPr lang="de-DE" dirty="0"/>
              <a:t> (</a:t>
            </a:r>
            <a:r>
              <a:rPr lang="de-DE" dirty="0" err="1"/>
              <a:t>erase</a:t>
            </a:r>
            <a:r>
              <a:rPr lang="de-DE" dirty="0"/>
              <a:t>, </a:t>
            </a:r>
            <a:r>
              <a:rPr lang="de-DE" dirty="0" err="1"/>
              <a:t>imbue</a:t>
            </a:r>
            <a:r>
              <a:rPr lang="de-DE" dirty="0"/>
              <a:t>, </a:t>
            </a:r>
            <a:r>
              <a:rPr lang="de-DE" dirty="0" err="1"/>
              <a:t>copy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Klasse </a:t>
            </a:r>
            <a:r>
              <a:rPr lang="de-DE" dirty="0" err="1"/>
              <a:t>Init</a:t>
            </a:r>
            <a:endParaRPr lang="de-DE" dirty="0"/>
          </a:p>
          <a:p>
            <a:r>
              <a:rPr lang="de-DE" dirty="0"/>
              <a:t>alles was unabhängig vom Zeichen-Typ ist!</a:t>
            </a:r>
          </a:p>
          <a:p>
            <a:pPr lvl="1"/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F8532-14E4-4C0B-AD1B-FB4838AAE8C1}" type="slidenum">
              <a:rPr lang="de-DE"/>
              <a:pPr/>
              <a:t>12</a:t>
            </a:fld>
            <a:endParaRPr lang="de-DE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basic_ios</a:t>
            </a:r>
            <a:r>
              <a:rPr lang="de-DE" sz="2000" dirty="0"/>
              <a:t>&lt; </a:t>
            </a:r>
            <a:r>
              <a:rPr lang="de-DE" sz="2000" dirty="0" err="1"/>
              <a:t>charT</a:t>
            </a:r>
            <a:r>
              <a:rPr lang="de-DE" sz="2000" dirty="0"/>
              <a:t>, </a:t>
            </a:r>
            <a:r>
              <a:rPr lang="de-DE" sz="2000" dirty="0" err="1"/>
              <a:t>traits</a:t>
            </a:r>
            <a:r>
              <a:rPr lang="de-DE" sz="2000" dirty="0"/>
              <a:t> = </a:t>
            </a:r>
            <a:r>
              <a:rPr lang="de-DE" sz="2000" dirty="0" err="1" smtClean="0"/>
              <a:t>traits_type</a:t>
            </a:r>
            <a:r>
              <a:rPr lang="de-DE" sz="2000" dirty="0"/>
              <a:t>&lt; </a:t>
            </a:r>
            <a:r>
              <a:rPr lang="de-DE" sz="2000" dirty="0" err="1"/>
              <a:t>charT</a:t>
            </a:r>
            <a:r>
              <a:rPr lang="de-DE" sz="2000" dirty="0"/>
              <a:t> &gt; &gt;</a:t>
            </a:r>
            <a:endParaRPr lang="de-DE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Basis-IO-System</a:t>
            </a:r>
          </a:p>
          <a:p>
            <a:r>
              <a:rPr lang="de-DE" dirty="0"/>
              <a:t>Zweck:</a:t>
            </a:r>
          </a:p>
          <a:p>
            <a:pPr lvl="1"/>
            <a:r>
              <a:rPr lang="de-DE" dirty="0"/>
              <a:t>Definiert den </a:t>
            </a:r>
            <a:r>
              <a:rPr lang="de-DE" dirty="0" err="1"/>
              <a:t>charT</a:t>
            </a:r>
            <a:endParaRPr lang="de-DE" dirty="0"/>
          </a:p>
          <a:p>
            <a:pPr lvl="1"/>
            <a:r>
              <a:rPr lang="de-DE" dirty="0"/>
              <a:t>Hält den </a:t>
            </a:r>
            <a:r>
              <a:rPr lang="de-DE" dirty="0" err="1"/>
              <a:t>basic_streambuf</a:t>
            </a:r>
            <a:r>
              <a:rPr lang="de-DE" dirty="0"/>
              <a:t>&lt; </a:t>
            </a:r>
            <a:r>
              <a:rPr lang="de-DE" dirty="0" err="1"/>
              <a:t>charT</a:t>
            </a:r>
            <a:r>
              <a:rPr lang="de-DE" dirty="0"/>
              <a:t>, </a:t>
            </a:r>
            <a:r>
              <a:rPr lang="de-DE" dirty="0" err="1"/>
              <a:t>traits</a:t>
            </a:r>
            <a:r>
              <a:rPr lang="de-DE" dirty="0"/>
              <a:t> &gt;</a:t>
            </a:r>
          </a:p>
          <a:p>
            <a:pPr lvl="1"/>
            <a:r>
              <a:rPr lang="de-DE" dirty="0"/>
              <a:t>State-Schnittstelle (inkl. </a:t>
            </a:r>
            <a:r>
              <a:rPr lang="de-DE" dirty="0" err="1"/>
              <a:t>exception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Locale</a:t>
            </a:r>
            <a:r>
              <a:rPr lang="de-DE" dirty="0"/>
              <a:t>-Schnittstelle (</a:t>
            </a:r>
            <a:r>
              <a:rPr lang="de-DE" dirty="0" err="1"/>
              <a:t>imbue</a:t>
            </a:r>
            <a:r>
              <a:rPr lang="de-DE" dirty="0"/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9DD90-B482-4AE0-8426-843DE17727AD}" type="slidenum">
              <a:rPr lang="de-DE"/>
              <a:pPr/>
              <a:t>13</a:t>
            </a:fld>
            <a:endParaRPr lang="de-DE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basic_i</a:t>
            </a:r>
            <a:r>
              <a:rPr lang="de-DE" dirty="0" smtClean="0"/>
              <a:t>(o)</a:t>
            </a:r>
            <a:r>
              <a:rPr lang="de-DE" dirty="0" err="1" smtClean="0"/>
              <a:t>stream</a:t>
            </a:r>
            <a:r>
              <a:rPr lang="de-DE" sz="2000" dirty="0"/>
              <a:t>&lt; </a:t>
            </a:r>
            <a:r>
              <a:rPr lang="de-DE" sz="2000" dirty="0" err="1"/>
              <a:t>charT,traits</a:t>
            </a:r>
            <a:r>
              <a:rPr lang="de-DE" sz="2000" dirty="0"/>
              <a:t> = </a:t>
            </a:r>
            <a:r>
              <a:rPr lang="de-DE" sz="2000" dirty="0" err="1"/>
              <a:t>trais_type</a:t>
            </a:r>
            <a:r>
              <a:rPr lang="de-DE" sz="2000" dirty="0"/>
              <a:t>&lt; </a:t>
            </a:r>
            <a:r>
              <a:rPr lang="de-DE" sz="2000" dirty="0" err="1"/>
              <a:t>charT</a:t>
            </a:r>
            <a:r>
              <a:rPr lang="de-DE" sz="2000" dirty="0"/>
              <a:t> &gt; &gt;</a:t>
            </a:r>
            <a:endParaRPr lang="de-DE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Stellt das Streaming-Interface für alle rudimentären Typen (</a:t>
            </a:r>
            <a:r>
              <a:rPr lang="de-DE" dirty="0" err="1"/>
              <a:t>bool</a:t>
            </a:r>
            <a:r>
              <a:rPr lang="de-DE" dirty="0"/>
              <a:t>, </a:t>
            </a:r>
            <a:r>
              <a:rPr lang="de-DE" dirty="0" err="1"/>
              <a:t>int</a:t>
            </a:r>
            <a:r>
              <a:rPr lang="de-DE" dirty="0"/>
              <a:t>, double, usw.) zur Verfügung</a:t>
            </a:r>
          </a:p>
          <a:p>
            <a:r>
              <a:rPr lang="de-DE" dirty="0" err="1"/>
              <a:t>sentry</a:t>
            </a:r>
            <a:r>
              <a:rPr lang="de-DE" dirty="0"/>
              <a:t>-Klasse - Kontrolliert Anfang und Ende jeder IO-Operation</a:t>
            </a:r>
          </a:p>
          <a:p>
            <a:r>
              <a:rPr lang="de-DE" dirty="0"/>
              <a:t>Manipulator-Schnittstelle für Manipulatoren ohne Parameter</a:t>
            </a:r>
          </a:p>
          <a:p>
            <a:r>
              <a:rPr lang="de-DE" dirty="0"/>
              <a:t>Unformatierter IO</a:t>
            </a:r>
          </a:p>
          <a:p>
            <a:endParaRPr lang="de-DE" dirty="0"/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5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D2EE-37B2-46B2-82FF-988884EACB90}" type="slidenum">
              <a:rPr lang="de-DE"/>
              <a:pPr/>
              <a:t>14</a:t>
            </a:fld>
            <a:endParaRPr lang="de-DE"/>
          </a:p>
        </p:txBody>
      </p:sp>
      <p:grpSp>
        <p:nvGrpSpPr>
          <p:cNvPr id="78850" name="Group 2"/>
          <p:cNvGrpSpPr>
            <a:grpSpLocks/>
          </p:cNvGrpSpPr>
          <p:nvPr/>
        </p:nvGrpSpPr>
        <p:grpSpPr bwMode="auto">
          <a:xfrm>
            <a:off x="2743200" y="3048000"/>
            <a:ext cx="6035675" cy="1143000"/>
            <a:chOff x="1728" y="1920"/>
            <a:chExt cx="3802" cy="720"/>
          </a:xfrm>
        </p:grpSpPr>
        <p:sp>
          <p:nvSpPr>
            <p:cNvPr id="78851" name="Rectangle 3"/>
            <p:cNvSpPr>
              <a:spLocks noChangeArrowheads="1"/>
            </p:cNvSpPr>
            <p:nvPr/>
          </p:nvSpPr>
          <p:spPr bwMode="auto">
            <a:xfrm>
              <a:off x="340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2" name="Rectangle 4"/>
            <p:cNvSpPr>
              <a:spLocks noChangeArrowheads="1"/>
            </p:cNvSpPr>
            <p:nvPr/>
          </p:nvSpPr>
          <p:spPr bwMode="auto">
            <a:xfrm>
              <a:off x="364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3" name="Rectangle 5"/>
            <p:cNvSpPr>
              <a:spLocks noChangeArrowheads="1"/>
            </p:cNvSpPr>
            <p:nvPr/>
          </p:nvSpPr>
          <p:spPr bwMode="auto">
            <a:xfrm>
              <a:off x="388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4" name="Rectangle 6"/>
            <p:cNvSpPr>
              <a:spLocks noChangeArrowheads="1"/>
            </p:cNvSpPr>
            <p:nvPr/>
          </p:nvSpPr>
          <p:spPr bwMode="auto">
            <a:xfrm>
              <a:off x="412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5" name="Rectangle 7"/>
            <p:cNvSpPr>
              <a:spLocks noChangeArrowheads="1"/>
            </p:cNvSpPr>
            <p:nvPr/>
          </p:nvSpPr>
          <p:spPr bwMode="auto">
            <a:xfrm>
              <a:off x="436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6" name="Rectangle 8"/>
            <p:cNvSpPr>
              <a:spLocks noChangeArrowheads="1"/>
            </p:cNvSpPr>
            <p:nvPr/>
          </p:nvSpPr>
          <p:spPr bwMode="auto">
            <a:xfrm>
              <a:off x="460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57" name="Line 9"/>
            <p:cNvSpPr>
              <a:spLocks noChangeShapeType="1"/>
            </p:cNvSpPr>
            <p:nvPr/>
          </p:nvSpPr>
          <p:spPr bwMode="auto">
            <a:xfrm flipV="1">
              <a:off x="1824" y="22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58" name="Line 10"/>
            <p:cNvSpPr>
              <a:spLocks noChangeShapeType="1"/>
            </p:cNvSpPr>
            <p:nvPr/>
          </p:nvSpPr>
          <p:spPr bwMode="auto">
            <a:xfrm flipV="1">
              <a:off x="4944" y="22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59" name="Text Box 11"/>
            <p:cNvSpPr txBox="1">
              <a:spLocks noChangeArrowheads="1"/>
            </p:cNvSpPr>
            <p:nvPr/>
          </p:nvSpPr>
          <p:spPr bwMode="auto">
            <a:xfrm>
              <a:off x="1728" y="2352"/>
              <a:ext cx="76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pbase()</a:t>
              </a:r>
            </a:p>
          </p:txBody>
        </p:sp>
        <p:sp>
          <p:nvSpPr>
            <p:cNvPr id="78860" name="Text Box 12"/>
            <p:cNvSpPr txBox="1">
              <a:spLocks noChangeArrowheads="1"/>
            </p:cNvSpPr>
            <p:nvPr/>
          </p:nvSpPr>
          <p:spPr bwMode="auto">
            <a:xfrm>
              <a:off x="4848" y="2352"/>
              <a:ext cx="68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epptr()</a:t>
              </a:r>
            </a:p>
          </p:txBody>
        </p:sp>
        <p:sp>
          <p:nvSpPr>
            <p:cNvPr id="78861" name="Rectangle 13"/>
            <p:cNvSpPr>
              <a:spLocks noChangeArrowheads="1"/>
            </p:cNvSpPr>
            <p:nvPr/>
          </p:nvSpPr>
          <p:spPr bwMode="auto">
            <a:xfrm>
              <a:off x="196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2" name="Rectangle 14"/>
            <p:cNvSpPr>
              <a:spLocks noChangeArrowheads="1"/>
            </p:cNvSpPr>
            <p:nvPr/>
          </p:nvSpPr>
          <p:spPr bwMode="auto">
            <a:xfrm>
              <a:off x="220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3" name="Rectangle 15"/>
            <p:cNvSpPr>
              <a:spLocks noChangeArrowheads="1"/>
            </p:cNvSpPr>
            <p:nvPr/>
          </p:nvSpPr>
          <p:spPr bwMode="auto">
            <a:xfrm>
              <a:off x="244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4" name="Rectangle 16"/>
            <p:cNvSpPr>
              <a:spLocks noChangeArrowheads="1"/>
            </p:cNvSpPr>
            <p:nvPr/>
          </p:nvSpPr>
          <p:spPr bwMode="auto">
            <a:xfrm>
              <a:off x="268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5" name="Rectangle 17"/>
            <p:cNvSpPr>
              <a:spLocks noChangeArrowheads="1"/>
            </p:cNvSpPr>
            <p:nvPr/>
          </p:nvSpPr>
          <p:spPr bwMode="auto">
            <a:xfrm>
              <a:off x="292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6" name="Rectangle 18"/>
            <p:cNvSpPr>
              <a:spLocks noChangeArrowheads="1"/>
            </p:cNvSpPr>
            <p:nvPr/>
          </p:nvSpPr>
          <p:spPr bwMode="auto">
            <a:xfrm>
              <a:off x="316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78867" name="Rectangle 19"/>
            <p:cNvSpPr>
              <a:spLocks noChangeArrowheads="1"/>
            </p:cNvSpPr>
            <p:nvPr/>
          </p:nvSpPr>
          <p:spPr bwMode="auto">
            <a:xfrm>
              <a:off x="1728" y="192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</p:grpSp>
      <p:sp>
        <p:nvSpPr>
          <p:cNvPr id="78868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basic_streambuf</a:t>
            </a:r>
            <a:r>
              <a:rPr lang="de-DE" sz="2000"/>
              <a:t>&lt; charT,traits = trais_type&lt; charT &gt; &gt;</a:t>
            </a:r>
            <a:endParaRPr lang="de-DE" sz="2400"/>
          </a:p>
        </p:txBody>
      </p:sp>
      <p:sp>
        <p:nvSpPr>
          <p:cNvPr id="78869" name="Rectangle 21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1676400"/>
          </a:xfrm>
        </p:spPr>
        <p:txBody>
          <a:bodyPr/>
          <a:lstStyle/>
          <a:p>
            <a:r>
              <a:rPr lang="de-DE"/>
              <a:t>Schnittstelle zu einem physikalischem Device</a:t>
            </a:r>
          </a:p>
          <a:p>
            <a:r>
              <a:rPr lang="de-DE"/>
              <a:t>charT-Pointer-Handling zum Kontrollieren eines charT-Buffers (im Memory)</a:t>
            </a:r>
          </a:p>
        </p:txBody>
      </p:sp>
      <p:grpSp>
        <p:nvGrpSpPr>
          <p:cNvPr id="78870" name="Group 22"/>
          <p:cNvGrpSpPr>
            <a:grpSpLocks/>
          </p:cNvGrpSpPr>
          <p:nvPr/>
        </p:nvGrpSpPr>
        <p:grpSpPr bwMode="auto">
          <a:xfrm>
            <a:off x="1031875" y="2971800"/>
            <a:ext cx="5291138" cy="1219200"/>
            <a:chOff x="650" y="1872"/>
            <a:chExt cx="3333" cy="768"/>
          </a:xfrm>
        </p:grpSpPr>
        <p:grpSp>
          <p:nvGrpSpPr>
            <p:cNvPr id="78871" name="Group 23"/>
            <p:cNvGrpSpPr>
              <a:grpSpLocks/>
            </p:cNvGrpSpPr>
            <p:nvPr/>
          </p:nvGrpSpPr>
          <p:grpSpPr bwMode="auto">
            <a:xfrm>
              <a:off x="1728" y="1920"/>
              <a:ext cx="1680" cy="240"/>
              <a:chOff x="1728" y="1920"/>
              <a:chExt cx="1680" cy="240"/>
            </a:xfrm>
          </p:grpSpPr>
          <p:sp>
            <p:nvSpPr>
              <p:cNvPr id="78872" name="Rectangle 24"/>
              <p:cNvSpPr>
                <a:spLocks noChangeArrowheads="1"/>
              </p:cNvSpPr>
              <p:nvPr/>
            </p:nvSpPr>
            <p:spPr bwMode="auto">
              <a:xfrm>
                <a:off x="172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7</a:t>
                </a:r>
              </a:p>
            </p:txBody>
          </p:sp>
          <p:sp>
            <p:nvSpPr>
              <p:cNvPr id="78873" name="Rectangle 25"/>
              <p:cNvSpPr>
                <a:spLocks noChangeArrowheads="1"/>
              </p:cNvSpPr>
              <p:nvPr/>
            </p:nvSpPr>
            <p:spPr bwMode="auto">
              <a:xfrm>
                <a:off x="196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9</a:t>
                </a:r>
              </a:p>
            </p:txBody>
          </p:sp>
          <p:sp>
            <p:nvSpPr>
              <p:cNvPr id="78874" name="Rectangle 26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5</a:t>
                </a:r>
              </a:p>
            </p:txBody>
          </p:sp>
          <p:sp>
            <p:nvSpPr>
              <p:cNvPr id="78875" name="Rectangle 27"/>
              <p:cNvSpPr>
                <a:spLocks noChangeArrowheads="1"/>
              </p:cNvSpPr>
              <p:nvPr/>
            </p:nvSpPr>
            <p:spPr bwMode="auto">
              <a:xfrm>
                <a:off x="220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,</a:t>
                </a:r>
              </a:p>
            </p:txBody>
          </p:sp>
          <p:sp>
            <p:nvSpPr>
              <p:cNvPr id="78876" name="Rectangle 28"/>
              <p:cNvSpPr>
                <a:spLocks noChangeArrowheads="1"/>
              </p:cNvSpPr>
              <p:nvPr/>
            </p:nvSpPr>
            <p:spPr bwMode="auto">
              <a:xfrm>
                <a:off x="268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0</a:t>
                </a:r>
              </a:p>
            </p:txBody>
          </p:sp>
          <p:sp>
            <p:nvSpPr>
              <p:cNvPr id="78877" name="Rectangle 29"/>
              <p:cNvSpPr>
                <a:spLocks noChangeArrowheads="1"/>
              </p:cNvSpPr>
              <p:nvPr/>
            </p:nvSpPr>
            <p:spPr bwMode="auto">
              <a:xfrm>
                <a:off x="292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_</a:t>
                </a:r>
              </a:p>
            </p:txBody>
          </p:sp>
          <p:sp>
            <p:nvSpPr>
              <p:cNvPr id="78878" name="Rectangle 30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€</a:t>
                </a:r>
              </a:p>
            </p:txBody>
          </p:sp>
        </p:grpSp>
        <p:sp>
          <p:nvSpPr>
            <p:cNvPr id="78879" name="Line 31"/>
            <p:cNvSpPr>
              <a:spLocks noChangeShapeType="1"/>
            </p:cNvSpPr>
            <p:nvPr/>
          </p:nvSpPr>
          <p:spPr bwMode="auto">
            <a:xfrm flipV="1">
              <a:off x="3504" y="22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80" name="Text Box 32"/>
            <p:cNvSpPr txBox="1">
              <a:spLocks noChangeArrowheads="1"/>
            </p:cNvSpPr>
            <p:nvPr/>
          </p:nvSpPr>
          <p:spPr bwMode="auto">
            <a:xfrm>
              <a:off x="3408" y="2352"/>
              <a:ext cx="57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pptr()</a:t>
              </a:r>
            </a:p>
          </p:txBody>
        </p:sp>
        <p:sp>
          <p:nvSpPr>
            <p:cNvPr id="78881" name="Text Box 33"/>
            <p:cNvSpPr txBox="1">
              <a:spLocks noChangeArrowheads="1"/>
            </p:cNvSpPr>
            <p:nvPr/>
          </p:nvSpPr>
          <p:spPr bwMode="auto">
            <a:xfrm>
              <a:off x="650" y="1872"/>
              <a:ext cx="98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r"/>
              <a:r>
                <a:rPr lang="de-DE"/>
                <a:t>Schreiben</a:t>
              </a:r>
            </a:p>
          </p:txBody>
        </p:sp>
      </p:grpSp>
      <p:grpSp>
        <p:nvGrpSpPr>
          <p:cNvPr id="78882" name="Group 34"/>
          <p:cNvGrpSpPr>
            <a:grpSpLocks/>
          </p:cNvGrpSpPr>
          <p:nvPr/>
        </p:nvGrpSpPr>
        <p:grpSpPr bwMode="auto">
          <a:xfrm>
            <a:off x="1574800" y="4572000"/>
            <a:ext cx="4367213" cy="1219200"/>
            <a:chOff x="992" y="2880"/>
            <a:chExt cx="2751" cy="768"/>
          </a:xfrm>
        </p:grpSpPr>
        <p:sp>
          <p:nvSpPr>
            <p:cNvPr id="78883" name="Line 35"/>
            <p:cNvSpPr>
              <a:spLocks noChangeShapeType="1"/>
            </p:cNvSpPr>
            <p:nvPr/>
          </p:nvSpPr>
          <p:spPr bwMode="auto">
            <a:xfrm flipV="1">
              <a:off x="3264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84" name="Text Box 36"/>
            <p:cNvSpPr txBox="1">
              <a:spLocks noChangeArrowheads="1"/>
            </p:cNvSpPr>
            <p:nvPr/>
          </p:nvSpPr>
          <p:spPr bwMode="auto">
            <a:xfrm>
              <a:off x="3168" y="3360"/>
              <a:ext cx="57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gptr()</a:t>
              </a:r>
            </a:p>
          </p:txBody>
        </p:sp>
        <p:sp>
          <p:nvSpPr>
            <p:cNvPr id="78885" name="Text Box 37"/>
            <p:cNvSpPr txBox="1">
              <a:spLocks noChangeArrowheads="1"/>
            </p:cNvSpPr>
            <p:nvPr/>
          </p:nvSpPr>
          <p:spPr bwMode="auto">
            <a:xfrm>
              <a:off x="992" y="2880"/>
              <a:ext cx="640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r"/>
              <a:r>
                <a:rPr lang="de-DE"/>
                <a:t>Lesen</a:t>
              </a:r>
            </a:p>
          </p:txBody>
        </p:sp>
      </p:grpSp>
      <p:grpSp>
        <p:nvGrpSpPr>
          <p:cNvPr id="78886" name="Group 38"/>
          <p:cNvGrpSpPr>
            <a:grpSpLocks/>
          </p:cNvGrpSpPr>
          <p:nvPr/>
        </p:nvGrpSpPr>
        <p:grpSpPr bwMode="auto">
          <a:xfrm>
            <a:off x="2743200" y="4648200"/>
            <a:ext cx="6035675" cy="1143000"/>
            <a:chOff x="1728" y="2928"/>
            <a:chExt cx="3802" cy="720"/>
          </a:xfrm>
        </p:grpSpPr>
        <p:sp>
          <p:nvSpPr>
            <p:cNvPr id="78887" name="Line 39"/>
            <p:cNvSpPr>
              <a:spLocks noChangeShapeType="1"/>
            </p:cNvSpPr>
            <p:nvPr/>
          </p:nvSpPr>
          <p:spPr bwMode="auto">
            <a:xfrm flipV="1">
              <a:off x="1824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88" name="Line 40"/>
            <p:cNvSpPr>
              <a:spLocks noChangeShapeType="1"/>
            </p:cNvSpPr>
            <p:nvPr/>
          </p:nvSpPr>
          <p:spPr bwMode="auto">
            <a:xfrm flipV="1">
              <a:off x="4944" y="321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78889" name="Text Box 41"/>
            <p:cNvSpPr txBox="1">
              <a:spLocks noChangeArrowheads="1"/>
            </p:cNvSpPr>
            <p:nvPr/>
          </p:nvSpPr>
          <p:spPr bwMode="auto">
            <a:xfrm>
              <a:off x="1728" y="3360"/>
              <a:ext cx="757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eback()</a:t>
              </a:r>
            </a:p>
          </p:txBody>
        </p:sp>
        <p:sp>
          <p:nvSpPr>
            <p:cNvPr id="78890" name="Text Box 42"/>
            <p:cNvSpPr txBox="1">
              <a:spLocks noChangeArrowheads="1"/>
            </p:cNvSpPr>
            <p:nvPr/>
          </p:nvSpPr>
          <p:spPr bwMode="auto">
            <a:xfrm>
              <a:off x="4848" y="3360"/>
              <a:ext cx="68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egptr()</a:t>
              </a:r>
            </a:p>
          </p:txBody>
        </p:sp>
        <p:grpSp>
          <p:nvGrpSpPr>
            <p:cNvPr id="78891" name="Group 43"/>
            <p:cNvGrpSpPr>
              <a:grpSpLocks/>
            </p:cNvGrpSpPr>
            <p:nvPr/>
          </p:nvGrpSpPr>
          <p:grpSpPr bwMode="auto">
            <a:xfrm>
              <a:off x="1728" y="2928"/>
              <a:ext cx="3120" cy="240"/>
              <a:chOff x="1728" y="2928"/>
              <a:chExt cx="3120" cy="240"/>
            </a:xfrm>
          </p:grpSpPr>
          <p:sp>
            <p:nvSpPr>
              <p:cNvPr id="78892" name="Rectangle 44"/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7</a:t>
                </a:r>
              </a:p>
            </p:txBody>
          </p:sp>
          <p:sp>
            <p:nvSpPr>
              <p:cNvPr id="78893" name="Rectangle 45"/>
              <p:cNvSpPr>
                <a:spLocks noChangeArrowheads="1"/>
              </p:cNvSpPr>
              <p:nvPr/>
            </p:nvSpPr>
            <p:spPr bwMode="auto">
              <a:xfrm>
                <a:off x="340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9</a:t>
                </a:r>
              </a:p>
            </p:txBody>
          </p:sp>
          <p:sp>
            <p:nvSpPr>
              <p:cNvPr id="78894" name="Rectangle 46"/>
              <p:cNvSpPr>
                <a:spLocks noChangeArrowheads="1"/>
              </p:cNvSpPr>
              <p:nvPr/>
            </p:nvSpPr>
            <p:spPr bwMode="auto">
              <a:xfrm>
                <a:off x="388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5</a:t>
                </a:r>
              </a:p>
            </p:txBody>
          </p:sp>
          <p:sp>
            <p:nvSpPr>
              <p:cNvPr id="78895" name="Rectangle 47"/>
              <p:cNvSpPr>
                <a:spLocks noChangeArrowheads="1"/>
              </p:cNvSpPr>
              <p:nvPr/>
            </p:nvSpPr>
            <p:spPr bwMode="auto">
              <a:xfrm>
                <a:off x="364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,</a:t>
                </a:r>
              </a:p>
            </p:txBody>
          </p:sp>
          <p:sp>
            <p:nvSpPr>
              <p:cNvPr id="78896" name="Rectangle 48"/>
              <p:cNvSpPr>
                <a:spLocks noChangeArrowheads="1"/>
              </p:cNvSpPr>
              <p:nvPr/>
            </p:nvSpPr>
            <p:spPr bwMode="auto">
              <a:xfrm>
                <a:off x="412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0</a:t>
                </a:r>
              </a:p>
            </p:txBody>
          </p:sp>
          <p:sp>
            <p:nvSpPr>
              <p:cNvPr id="78897" name="Rectangle 49"/>
              <p:cNvSpPr>
                <a:spLocks noChangeArrowheads="1"/>
              </p:cNvSpPr>
              <p:nvPr/>
            </p:nvSpPr>
            <p:spPr bwMode="auto">
              <a:xfrm>
                <a:off x="436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_</a:t>
                </a:r>
              </a:p>
            </p:txBody>
          </p:sp>
          <p:sp>
            <p:nvSpPr>
              <p:cNvPr id="78898" name="Rectangle 50"/>
              <p:cNvSpPr>
                <a:spLocks noChangeArrowheads="1"/>
              </p:cNvSpPr>
              <p:nvPr/>
            </p:nvSpPr>
            <p:spPr bwMode="auto">
              <a:xfrm>
                <a:off x="460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€</a:t>
                </a:r>
              </a:p>
            </p:txBody>
          </p:sp>
          <p:sp>
            <p:nvSpPr>
              <p:cNvPr id="78899" name="Rectangle 51"/>
              <p:cNvSpPr>
                <a:spLocks noChangeArrowheads="1"/>
              </p:cNvSpPr>
              <p:nvPr/>
            </p:nvSpPr>
            <p:spPr bwMode="auto">
              <a:xfrm>
                <a:off x="172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P</a:t>
                </a:r>
              </a:p>
            </p:txBody>
          </p:sp>
          <p:sp>
            <p:nvSpPr>
              <p:cNvPr id="78900" name="Rectangle 52"/>
              <p:cNvSpPr>
                <a:spLocks noChangeArrowheads="1"/>
              </p:cNvSpPr>
              <p:nvPr/>
            </p:nvSpPr>
            <p:spPr bwMode="auto">
              <a:xfrm>
                <a:off x="196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r</a:t>
                </a:r>
              </a:p>
            </p:txBody>
          </p:sp>
          <p:sp>
            <p:nvSpPr>
              <p:cNvPr id="78901" name="Rectangle 53"/>
              <p:cNvSpPr>
                <a:spLocks noChangeArrowheads="1"/>
              </p:cNvSpPr>
              <p:nvPr/>
            </p:nvSpPr>
            <p:spPr bwMode="auto">
              <a:xfrm>
                <a:off x="220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e</a:t>
                </a:r>
              </a:p>
            </p:txBody>
          </p:sp>
          <p:sp>
            <p:nvSpPr>
              <p:cNvPr id="78902" name="Rectangle 54"/>
              <p:cNvSpPr>
                <a:spLocks noChangeArrowheads="1"/>
              </p:cNvSpPr>
              <p:nvPr/>
            </p:nvSpPr>
            <p:spPr bwMode="auto">
              <a:xfrm>
                <a:off x="244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i</a:t>
                </a:r>
              </a:p>
            </p:txBody>
          </p:sp>
          <p:sp>
            <p:nvSpPr>
              <p:cNvPr id="78903" name="Rectangle 55"/>
              <p:cNvSpPr>
                <a:spLocks noChangeArrowheads="1"/>
              </p:cNvSpPr>
              <p:nvPr/>
            </p:nvSpPr>
            <p:spPr bwMode="auto">
              <a:xfrm>
                <a:off x="268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s</a:t>
                </a:r>
              </a:p>
            </p:txBody>
          </p:sp>
          <p:sp>
            <p:nvSpPr>
              <p:cNvPr id="78904" name="Rectangle 56"/>
              <p:cNvSpPr>
                <a:spLocks noChangeArrowheads="1"/>
              </p:cNvSpPr>
              <p:nvPr/>
            </p:nvSpPr>
            <p:spPr bwMode="auto">
              <a:xfrm>
                <a:off x="2928" y="2928"/>
                <a:ext cx="240" cy="2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lang="de-DE"/>
                  <a:t>_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31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32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820B0-0172-4C16-A5C6-22AF2F86182E}" type="slidenum">
              <a:rPr lang="de-DE"/>
              <a:pPr/>
              <a:t>15</a:t>
            </a:fld>
            <a:endParaRPr lang="de-DE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Architektur der C++ IO-Klassen (3)</a:t>
            </a:r>
          </a:p>
        </p:txBody>
      </p:sp>
      <p:sp>
        <p:nvSpPr>
          <p:cNvPr id="79875" name="Freeform 3"/>
          <p:cNvSpPr>
            <a:spLocks/>
          </p:cNvSpPr>
          <p:nvPr/>
        </p:nvSpPr>
        <p:spPr bwMode="auto">
          <a:xfrm>
            <a:off x="6400800" y="35814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76" name="Line 4"/>
          <p:cNvSpPr>
            <a:spLocks noChangeShapeType="1"/>
          </p:cNvSpPr>
          <p:nvPr/>
        </p:nvSpPr>
        <p:spPr bwMode="auto">
          <a:xfrm>
            <a:off x="1752600" y="3733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1828800" y="4419600"/>
            <a:ext cx="1676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basic_fstream</a:t>
            </a:r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2895600" y="41148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>
            <a:off x="1447800" y="3962400"/>
            <a:ext cx="1219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>
            <a:off x="2667000" y="3962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609600" y="5334000"/>
            <a:ext cx="2057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basic_stringstream</a:t>
            </a:r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1676400" y="50292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83" name="Line 11"/>
          <p:cNvSpPr>
            <a:spLocks noChangeShapeType="1"/>
          </p:cNvSpPr>
          <p:nvPr/>
        </p:nvSpPr>
        <p:spPr bwMode="auto">
          <a:xfrm>
            <a:off x="1447800" y="39624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914400" y="3200400"/>
            <a:ext cx="16764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basic_iostream</a:t>
            </a:r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1981200" y="28956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6400800" y="5334000"/>
            <a:ext cx="19050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basic_stringbuf</a:t>
            </a:r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7467600" y="50292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88" name="Freeform 16"/>
          <p:cNvSpPr>
            <a:spLocks/>
          </p:cNvSpPr>
          <p:nvPr/>
        </p:nvSpPr>
        <p:spPr bwMode="auto">
          <a:xfrm>
            <a:off x="2667000" y="5410200"/>
            <a:ext cx="304800" cy="304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96" y="192"/>
              </a:cxn>
              <a:cxn ang="0">
                <a:pos x="0" y="96"/>
              </a:cxn>
            </a:cxnLst>
            <a:rect l="0" t="0" r="r" b="b"/>
            <a:pathLst>
              <a:path w="192" h="192">
                <a:moveTo>
                  <a:pt x="0" y="96"/>
                </a:moveTo>
                <a:lnTo>
                  <a:pt x="96" y="0"/>
                </a:lnTo>
                <a:lnTo>
                  <a:pt x="192" y="96"/>
                </a:lnTo>
                <a:lnTo>
                  <a:pt x="96" y="192"/>
                </a:lnTo>
                <a:lnTo>
                  <a:pt x="0" y="96"/>
                </a:ln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89" name="Line 17"/>
          <p:cNvSpPr>
            <a:spLocks noChangeShapeType="1"/>
          </p:cNvSpPr>
          <p:nvPr/>
        </p:nvSpPr>
        <p:spPr bwMode="auto">
          <a:xfrm>
            <a:off x="2971800" y="5562600"/>
            <a:ext cx="342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0" name="Freeform 18"/>
          <p:cNvSpPr>
            <a:spLocks/>
          </p:cNvSpPr>
          <p:nvPr/>
        </p:nvSpPr>
        <p:spPr bwMode="auto">
          <a:xfrm>
            <a:off x="3505200" y="4495800"/>
            <a:ext cx="304800" cy="3048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96" y="0"/>
              </a:cxn>
              <a:cxn ang="0">
                <a:pos x="192" y="96"/>
              </a:cxn>
              <a:cxn ang="0">
                <a:pos x="96" y="192"/>
              </a:cxn>
              <a:cxn ang="0">
                <a:pos x="0" y="96"/>
              </a:cxn>
            </a:cxnLst>
            <a:rect l="0" t="0" r="r" b="b"/>
            <a:pathLst>
              <a:path w="192" h="192">
                <a:moveTo>
                  <a:pt x="0" y="96"/>
                </a:moveTo>
                <a:lnTo>
                  <a:pt x="96" y="0"/>
                </a:lnTo>
                <a:lnTo>
                  <a:pt x="192" y="96"/>
                </a:lnTo>
                <a:lnTo>
                  <a:pt x="96" y="192"/>
                </a:lnTo>
                <a:lnTo>
                  <a:pt x="0" y="96"/>
                </a:lnTo>
                <a:close/>
              </a:path>
            </a:pathLst>
          </a:cu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1" name="Rectangle 19"/>
          <p:cNvSpPr>
            <a:spLocks noChangeArrowheads="1"/>
          </p:cNvSpPr>
          <p:nvPr/>
        </p:nvSpPr>
        <p:spPr bwMode="auto">
          <a:xfrm>
            <a:off x="5638800" y="3200400"/>
            <a:ext cx="19050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basic_streambuf</a:t>
            </a:r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6705600" y="28956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93" name="Freeform 21"/>
          <p:cNvSpPr>
            <a:spLocks/>
          </p:cNvSpPr>
          <p:nvPr/>
        </p:nvSpPr>
        <p:spPr bwMode="auto">
          <a:xfrm>
            <a:off x="1600200" y="3581400"/>
            <a:ext cx="304800" cy="152400"/>
          </a:xfrm>
          <a:custGeom>
            <a:avLst/>
            <a:gdLst/>
            <a:ahLst/>
            <a:cxnLst>
              <a:cxn ang="0">
                <a:pos x="96" y="0"/>
              </a:cxn>
              <a:cxn ang="0">
                <a:pos x="0" y="96"/>
              </a:cxn>
              <a:cxn ang="0">
                <a:pos x="192" y="96"/>
              </a:cxn>
              <a:cxn ang="0">
                <a:pos x="96" y="0"/>
              </a:cxn>
            </a:cxnLst>
            <a:rect l="0" t="0" r="r" b="b"/>
            <a:pathLst>
              <a:path w="192" h="96">
                <a:moveTo>
                  <a:pt x="96" y="0"/>
                </a:moveTo>
                <a:lnTo>
                  <a:pt x="0" y="96"/>
                </a:lnTo>
                <a:lnTo>
                  <a:pt x="192" y="96"/>
                </a:lnTo>
                <a:lnTo>
                  <a:pt x="96" y="0"/>
                </a:ln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4" name="Line 22"/>
          <p:cNvSpPr>
            <a:spLocks noChangeShapeType="1"/>
          </p:cNvSpPr>
          <p:nvPr/>
        </p:nvSpPr>
        <p:spPr bwMode="auto">
          <a:xfrm flipV="1">
            <a:off x="3810000" y="4648200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5" name="Rectangle 23"/>
          <p:cNvSpPr>
            <a:spLocks noChangeArrowheads="1"/>
          </p:cNvSpPr>
          <p:nvPr/>
        </p:nvSpPr>
        <p:spPr bwMode="auto">
          <a:xfrm>
            <a:off x="4572000" y="4419600"/>
            <a:ext cx="19050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basic_filebuf</a:t>
            </a:r>
          </a:p>
        </p:txBody>
      </p:sp>
      <p:sp>
        <p:nvSpPr>
          <p:cNvPr id="79896" name="Rectangle 24"/>
          <p:cNvSpPr>
            <a:spLocks noChangeArrowheads="1"/>
          </p:cNvSpPr>
          <p:nvPr/>
        </p:nvSpPr>
        <p:spPr bwMode="auto">
          <a:xfrm>
            <a:off x="5638800" y="4114800"/>
            <a:ext cx="1447800" cy="381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 sz="1800"/>
              <a:t>charT, traits</a:t>
            </a:r>
          </a:p>
        </p:txBody>
      </p:sp>
      <p:sp>
        <p:nvSpPr>
          <p:cNvPr id="79897" name="Line 25"/>
          <p:cNvSpPr>
            <a:spLocks noChangeShapeType="1"/>
          </p:cNvSpPr>
          <p:nvPr/>
        </p:nvSpPr>
        <p:spPr bwMode="auto">
          <a:xfrm>
            <a:off x="6553200" y="3733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8" name="Line 26"/>
          <p:cNvSpPr>
            <a:spLocks noChangeShapeType="1"/>
          </p:cNvSpPr>
          <p:nvPr/>
        </p:nvSpPr>
        <p:spPr bwMode="auto">
          <a:xfrm>
            <a:off x="5410200" y="39624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899" name="Line 27"/>
          <p:cNvSpPr>
            <a:spLocks noChangeShapeType="1"/>
          </p:cNvSpPr>
          <p:nvPr/>
        </p:nvSpPr>
        <p:spPr bwMode="auto">
          <a:xfrm>
            <a:off x="5410200" y="39624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>
            <a:off x="7239000" y="3962400"/>
            <a:ext cx="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685800" y="137160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de-DE"/>
              <a:t>basic_stringstream und basic_fstream sind Streams mit spezifischen Streambufs.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FECD-9C36-4FED-9E27-B0F4E3DA9403}" type="slidenum">
              <a:rPr lang="de-DE"/>
              <a:pPr/>
              <a:t>16</a:t>
            </a:fld>
            <a:endParaRPr lang="de-DE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basic_fstream &amp; basic_stringstream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basic_fstream bietet einen basic_iostream dessen Device ein File ist (basic_streambuf ist ein basic_filebuf)</a:t>
            </a: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fstream</a:t>
            </a:r>
            <a:r>
              <a:rPr lang="de-DE" sz="1600" b="1">
                <a:latin typeface="Courier New" pitchFamily="49" charset="0"/>
              </a:rPr>
              <a:t> file( "Hallo.txt" );</a:t>
            </a:r>
            <a:endParaRPr lang="de-DE" sz="1600" b="1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int </a:t>
            </a:r>
            <a:r>
              <a:rPr lang="de-DE" sz="1600" b="1">
                <a:latin typeface="Courier New" pitchFamily="49" charset="0"/>
              </a:rPr>
              <a:t>n;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string</a:t>
            </a:r>
            <a:r>
              <a:rPr lang="de-DE" sz="1600" b="1">
                <a:latin typeface="Courier New" pitchFamily="49" charset="0"/>
              </a:rPr>
              <a:t> head;</a:t>
            </a:r>
            <a:endParaRPr lang="de-DE" sz="1600" b="1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600" b="1">
                <a:latin typeface="Courier New" pitchFamily="49" charset="0"/>
              </a:rPr>
              <a:t>file &gt;&gt; head &gt;&gt; n;</a:t>
            </a:r>
            <a:r>
              <a:rPr lang="de-DE"/>
              <a:t> </a:t>
            </a:r>
          </a:p>
          <a:p>
            <a:endParaRPr lang="de-DE"/>
          </a:p>
          <a:p>
            <a:r>
              <a:rPr lang="de-DE"/>
              <a:t>basic_stringstream bietet einen basic_iostream mit dynamischen Memory (basic_streambuf ist ein basic_stringbuf)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stringstream</a:t>
            </a:r>
            <a:r>
              <a:rPr lang="de-DE" sz="1600" b="1">
                <a:latin typeface="Courier New" pitchFamily="49" charset="0"/>
              </a:rPr>
              <a:t> tmp;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CPreis preis( 79.50 );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tmp &lt;&lt; " Preis " &lt;&lt; preis;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B78C2-4BA7-4BEA-B1C1-8C9190658085}" type="slidenum">
              <a:rPr lang="de-DE"/>
              <a:pPr/>
              <a:t>17</a:t>
            </a:fld>
            <a:endParaRPr lang="de-DE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 Wort zur Historie der IO-Stream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Früher waren alle vorgestellten </a:t>
            </a:r>
            <a:r>
              <a:rPr lang="de-DE" dirty="0" smtClean="0"/>
              <a:t>Templates </a:t>
            </a:r>
            <a:r>
              <a:rPr lang="de-DE" dirty="0"/>
              <a:t>Klassen</a:t>
            </a:r>
          </a:p>
          <a:p>
            <a:pPr lvl="1"/>
            <a:r>
              <a:rPr lang="de-DE" dirty="0" err="1"/>
              <a:t>ios_base</a:t>
            </a:r>
            <a:r>
              <a:rPr lang="de-DE" dirty="0"/>
              <a:t>, </a:t>
            </a:r>
            <a:r>
              <a:rPr lang="de-DE" dirty="0" err="1"/>
              <a:t>ios</a:t>
            </a:r>
            <a:r>
              <a:rPr lang="de-DE" dirty="0"/>
              <a:t>, i- und </a:t>
            </a:r>
            <a:r>
              <a:rPr lang="de-DE" dirty="0" err="1"/>
              <a:t>ostream</a:t>
            </a:r>
            <a:r>
              <a:rPr lang="de-DE" dirty="0"/>
              <a:t>, </a:t>
            </a:r>
            <a:r>
              <a:rPr lang="de-DE" dirty="0" err="1"/>
              <a:t>fstream</a:t>
            </a:r>
            <a:endParaRPr lang="de-DE" dirty="0"/>
          </a:p>
          <a:p>
            <a:r>
              <a:rPr lang="de-DE" dirty="0"/>
              <a:t>Mit der </a:t>
            </a:r>
            <a:r>
              <a:rPr lang="de-DE" dirty="0" err="1"/>
              <a:t>Templatisierung</a:t>
            </a:r>
            <a:r>
              <a:rPr lang="de-DE" dirty="0"/>
              <a:t> wurde ein </a:t>
            </a:r>
            <a:r>
              <a:rPr lang="de-DE" dirty="0" err="1"/>
              <a:t>basic</a:t>
            </a:r>
            <a:r>
              <a:rPr lang="de-DE" dirty="0"/>
              <a:t>_ vorangestellt.</a:t>
            </a:r>
          </a:p>
          <a:p>
            <a:r>
              <a:rPr lang="de-DE" dirty="0"/>
              <a:t>Die ‚alten‘ Bezeichnungen sind als </a:t>
            </a:r>
            <a:r>
              <a:rPr lang="de-DE" dirty="0" err="1"/>
              <a:t>Instanzierungen</a:t>
            </a:r>
            <a:r>
              <a:rPr lang="de-DE" dirty="0"/>
              <a:t> mit </a:t>
            </a:r>
            <a:r>
              <a:rPr lang="de-DE" dirty="0" err="1"/>
              <a:t>charT</a:t>
            </a:r>
            <a:r>
              <a:rPr lang="de-DE" dirty="0"/>
              <a:t> == </a:t>
            </a:r>
            <a:r>
              <a:rPr lang="de-DE" dirty="0" err="1"/>
              <a:t>char</a:t>
            </a:r>
            <a:r>
              <a:rPr lang="de-DE" dirty="0"/>
              <a:t> übernommen worden.</a:t>
            </a:r>
            <a:br>
              <a:rPr lang="de-DE" dirty="0"/>
            </a:br>
            <a:r>
              <a:rPr lang="de-DE" dirty="0"/>
              <a:t>zum Beispiel: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typedef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basic_ostream</a:t>
            </a:r>
            <a:r>
              <a:rPr lang="de-DE" sz="1600" b="1" dirty="0">
                <a:latin typeface="Courier New" pitchFamily="49" charset="0"/>
              </a:rPr>
              <a:t>&lt;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600" b="1" dirty="0">
                <a:latin typeface="Courier New" pitchFamily="49" charset="0"/>
              </a:rPr>
              <a:t> &gt;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typedef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basic_fstream</a:t>
            </a:r>
            <a:r>
              <a:rPr lang="de-DE" sz="1600" b="1" dirty="0">
                <a:latin typeface="Courier New" pitchFamily="49" charset="0"/>
              </a:rPr>
              <a:t>&lt;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600" b="1" dirty="0">
                <a:latin typeface="Courier New" pitchFamily="49" charset="0"/>
              </a:rPr>
              <a:t> &gt;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fstream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;</a:t>
            </a:r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1C9D3-4183-47D3-BBFE-23E58A1FE6E4}" type="slidenum">
              <a:rPr lang="de-DE"/>
              <a:pPr/>
              <a:t>18</a:t>
            </a:fld>
            <a:endParaRPr lang="de-DE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Formatierungen (1)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Es sind verschieden Arten der Formatierung möglich</a:t>
            </a:r>
          </a:p>
          <a:p>
            <a:r>
              <a:rPr lang="de-DE"/>
              <a:t>Flags:</a:t>
            </a:r>
          </a:p>
          <a:p>
            <a:pPr lvl="1"/>
            <a:r>
              <a:rPr lang="de-DE"/>
              <a:t>boolalpha, dec, fixed, hex, internal, left, oct, right, scientific, showbase, showpoint, showpos, skipws, unitbuf, uppercase</a:t>
            </a:r>
          </a:p>
          <a:p>
            <a:pPr lvl="1"/>
            <a:r>
              <a:rPr lang="de-DE"/>
              <a:t>ios_base::(un)setf( flag );</a:t>
            </a:r>
          </a:p>
          <a:p>
            <a:r>
              <a:rPr lang="de-DE"/>
              <a:t>Größen mit Parametern</a:t>
            </a:r>
          </a:p>
          <a:p>
            <a:pPr lvl="1"/>
            <a:r>
              <a:rPr lang="de-DE"/>
              <a:t>ios_base::width( int ) - Ausgabe-Weite </a:t>
            </a:r>
          </a:p>
          <a:p>
            <a:pPr lvl="1"/>
            <a:r>
              <a:rPr lang="de-DE"/>
              <a:t>ios_base::precision( int ) - Anzahl der NK-Stellen</a:t>
            </a:r>
          </a:p>
          <a:p>
            <a:pPr lvl="1"/>
            <a:r>
              <a:rPr lang="de-DE"/>
              <a:t>basic_ios&lt; charT &gt;::setfill( charT ); - Füllzeichen</a:t>
            </a:r>
          </a:p>
          <a:p>
            <a:pPr lvl="1"/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EFFDA-2B19-4CD2-8E0D-6CDCE0BF4A2B}" type="slidenum">
              <a:rPr lang="de-DE"/>
              <a:pPr/>
              <a:t>19</a:t>
            </a:fld>
            <a:endParaRPr lang="de-DE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Formatierungen (2)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für jede Formatierung existiert ein Manipulator, der i.A. genauso heißt wie das </a:t>
            </a:r>
            <a:r>
              <a:rPr lang="de-DE" dirty="0" err="1"/>
              <a:t>Flag</a:t>
            </a:r>
            <a:r>
              <a:rPr lang="de-DE" dirty="0"/>
              <a:t> und sein Pendant mit einem vorangestellten ‚</a:t>
            </a:r>
            <a:r>
              <a:rPr lang="de-DE" dirty="0" err="1"/>
              <a:t>no</a:t>
            </a:r>
            <a:r>
              <a:rPr lang="de-DE" dirty="0"/>
              <a:t>‘, falls dieses sinnvoll ist.</a:t>
            </a:r>
          </a:p>
          <a:p>
            <a:r>
              <a:rPr lang="de-DE" dirty="0"/>
              <a:t>Beispiel: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i = 42;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&lt;&lt; "ein </a:t>
            </a:r>
            <a:r>
              <a:rPr lang="de-DE" sz="1600" b="1" dirty="0" err="1"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: " &lt;&lt;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showpos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&lt;&lt; i &lt;&lt;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endl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de-DE" dirty="0"/>
              <a:t>Ausgabe:</a:t>
            </a:r>
            <a:r>
              <a:rPr lang="de-DE" sz="1600" b="1" dirty="0">
                <a:latin typeface="Courier New" pitchFamily="49" charset="0"/>
              </a:rPr>
              <a:t> ein </a:t>
            </a:r>
            <a:r>
              <a:rPr lang="de-DE" sz="1600" b="1" dirty="0" err="1"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: +42</a:t>
            </a:r>
            <a:endParaRPr lang="de-DE" dirty="0"/>
          </a:p>
          <a:p>
            <a:endParaRPr lang="de-DE" dirty="0"/>
          </a:p>
          <a:p>
            <a:r>
              <a:rPr lang="de-DE" dirty="0"/>
              <a:t>Diese Schreibweise ist identisch mit: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i = 42;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&lt;&lt; "ein </a:t>
            </a:r>
            <a:r>
              <a:rPr lang="de-DE" sz="1600" b="1" dirty="0" err="1"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: “;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 err="1">
                <a:latin typeface="Courier New" pitchFamily="49" charset="0"/>
              </a:rPr>
              <a:t>.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setf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showpos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);</a:t>
            </a:r>
            <a:endParaRPr lang="de-DE" sz="1600" b="1" dirty="0">
              <a:solidFill>
                <a:srgbClr val="3366FF"/>
              </a:solidFill>
              <a:latin typeface="Courier New" pitchFamily="49" charset="0"/>
            </a:endParaRP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&lt;&lt; i &lt;&lt;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endl</a:t>
            </a:r>
            <a:r>
              <a:rPr lang="de-DE" sz="1600" b="1" dirty="0" smtClean="0">
                <a:solidFill>
                  <a:srgbClr val="3366FF"/>
                </a:solidFill>
                <a:latin typeface="Courier New" pitchFamily="49" charset="0"/>
              </a:rPr>
              <a:t>;</a:t>
            </a: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E5A3A-1AD4-47EC-9F92-58206123043B}" type="slidenum">
              <a:rPr lang="de-DE"/>
              <a:pPr/>
              <a:t>20</a:t>
            </a:fld>
            <a:endParaRPr lang="de-DE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Manipulatoren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Manipulatoren sind Objekte, deren Ein- oder Ausgabe </a:t>
            </a:r>
            <a:r>
              <a:rPr lang="de-DE" dirty="0" err="1"/>
              <a:t>Einfluß</a:t>
            </a:r>
            <a:r>
              <a:rPr lang="de-DE" dirty="0"/>
              <a:t> auf das weitere Verhalten des betroffenen </a:t>
            </a:r>
            <a:r>
              <a:rPr lang="de-DE" dirty="0" err="1">
                <a:latin typeface="Courier New" pitchFamily="49" charset="0"/>
              </a:rPr>
              <a:t>iostream</a:t>
            </a:r>
            <a:r>
              <a:rPr lang="de-DE" dirty="0"/>
              <a:t>-Objektes nehmen</a:t>
            </a:r>
            <a:r>
              <a:rPr lang="de-DE" dirty="0">
                <a:latin typeface="Courier New" pitchFamily="49" charset="0"/>
              </a:rPr>
              <a:t>.</a:t>
            </a:r>
            <a:endParaRPr lang="de-DE" dirty="0"/>
          </a:p>
          <a:p>
            <a:pPr lvl="1"/>
            <a:r>
              <a:rPr lang="de-DE" dirty="0"/>
              <a:t>Manipulator - Funktionen</a:t>
            </a:r>
          </a:p>
          <a:p>
            <a:pPr lvl="1"/>
            <a:r>
              <a:rPr lang="de-DE" dirty="0"/>
              <a:t>Factory - Funktionen</a:t>
            </a:r>
          </a:p>
          <a:p>
            <a:pPr lvl="1"/>
            <a:r>
              <a:rPr lang="de-DE" dirty="0"/>
              <a:t>temporäre Objekte (</a:t>
            </a:r>
            <a:r>
              <a:rPr lang="de-DE" dirty="0" err="1"/>
              <a:t>Konstruktoren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globale Objekte</a:t>
            </a:r>
          </a:p>
          <a:p>
            <a:r>
              <a:rPr lang="de-DE" dirty="0" smtClean="0"/>
              <a:t>Idee</a:t>
            </a:r>
            <a:endParaRPr lang="de-DE" dirty="0"/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latin typeface="Courier New" pitchFamily="49" charset="0"/>
              </a:rPr>
              <a:t> &lt;&lt; </a:t>
            </a:r>
            <a:r>
              <a:rPr lang="de-DE" sz="1600" b="1" dirty="0" err="1">
                <a:latin typeface="Courier New" pitchFamily="49" charset="0"/>
              </a:rPr>
              <a:t>manip</a:t>
            </a:r>
            <a:r>
              <a:rPr lang="de-DE" sz="1600" b="1" dirty="0">
                <a:latin typeface="Courier New" pitchFamily="49" charset="0"/>
              </a:rPr>
              <a:t> &lt;&lt; </a:t>
            </a:r>
            <a:r>
              <a:rPr lang="de-DE" sz="1600" b="1" dirty="0" err="1">
                <a:latin typeface="Courier New" pitchFamily="49" charset="0"/>
              </a:rPr>
              <a:t>myStuff</a:t>
            </a:r>
            <a:r>
              <a:rPr lang="de-DE" sz="1600" b="1" dirty="0">
                <a:latin typeface="Courier New" pitchFamily="49" charset="0"/>
              </a:rPr>
              <a:t> &lt;&lt; .. ; // ohne Parameter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latin typeface="Courier New" pitchFamily="49" charset="0"/>
              </a:rPr>
              <a:t> &lt;&lt; </a:t>
            </a:r>
            <a:r>
              <a:rPr lang="de-DE" sz="1600" b="1" dirty="0" err="1">
                <a:latin typeface="Courier New" pitchFamily="49" charset="0"/>
              </a:rPr>
              <a:t>manip</a:t>
            </a:r>
            <a:r>
              <a:rPr lang="de-DE" sz="1600" b="1" dirty="0">
                <a:latin typeface="Courier New" pitchFamily="49" charset="0"/>
              </a:rPr>
              <a:t>( ... ) &lt;&lt; </a:t>
            </a:r>
            <a:r>
              <a:rPr lang="de-DE" sz="1600" b="1" dirty="0" err="1">
                <a:latin typeface="Courier New" pitchFamily="49" charset="0"/>
              </a:rPr>
              <a:t>myStuff</a:t>
            </a:r>
            <a:r>
              <a:rPr lang="de-DE" sz="1600" b="1" dirty="0">
                <a:latin typeface="Courier New" pitchFamily="49" charset="0"/>
              </a:rPr>
              <a:t> &lt;&lt; .. ;</a:t>
            </a:r>
          </a:p>
          <a:p>
            <a:pPr lvl="1"/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799E5-EB45-412C-8DD7-02BBEA23671E}" type="slidenum">
              <a:rPr lang="de-DE"/>
              <a:pPr/>
              <a:t>21</a:t>
            </a:fld>
            <a:endParaRPr lang="de-DE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Manipulatoren ohne Parameter (1)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.. ist die einfachste Art eines Manipulators. Fast alle Standard-Manipulatoren (z.B. </a:t>
            </a:r>
            <a:r>
              <a:rPr lang="de-DE" dirty="0" err="1"/>
              <a:t>showpos</a:t>
            </a:r>
            <a:r>
              <a:rPr lang="de-DE" dirty="0"/>
              <a:t>) funktionieren so. Es gibt Manipulator-Funktionen ..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basic_istream</a:t>
            </a:r>
            <a:r>
              <a:rPr lang="de-DE" sz="1600" b="1" dirty="0">
                <a:latin typeface="Courier New" pitchFamily="49" charset="0"/>
              </a:rPr>
              <a:t>&lt;&gt;&amp; (*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)(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basic_istream</a:t>
            </a:r>
            <a:r>
              <a:rPr lang="de-DE" sz="1600" b="1" dirty="0">
                <a:latin typeface="Courier New" pitchFamily="49" charset="0"/>
              </a:rPr>
              <a:t>&lt;&gt;&amp; str );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basic_ostream</a:t>
            </a:r>
            <a:r>
              <a:rPr lang="de-DE" sz="1600" b="1" dirty="0">
                <a:latin typeface="Courier New" pitchFamily="49" charset="0"/>
              </a:rPr>
              <a:t>&lt;&gt;&amp; (*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)(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basic_ostream</a:t>
            </a:r>
            <a:r>
              <a:rPr lang="de-DE" sz="1600" b="1" dirty="0">
                <a:latin typeface="Courier New" pitchFamily="49" charset="0"/>
              </a:rPr>
              <a:t>&lt;&gt;&amp; str );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basic_ios</a:t>
            </a:r>
            <a:r>
              <a:rPr lang="de-DE" sz="1600" b="1" dirty="0">
                <a:latin typeface="Courier New" pitchFamily="49" charset="0"/>
              </a:rPr>
              <a:t>&lt;&gt;&amp; (*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)(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basic_ios</a:t>
            </a:r>
            <a:r>
              <a:rPr lang="de-DE" sz="1600" b="1" dirty="0">
                <a:latin typeface="Courier New" pitchFamily="49" charset="0"/>
              </a:rPr>
              <a:t>&lt;&gt;&amp; str );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(*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)(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str );</a:t>
            </a:r>
          </a:p>
          <a:p>
            <a:r>
              <a:rPr lang="de-DE" dirty="0"/>
              <a:t>.. und jeder Stream hat eine IO-Methode mit Streaming-Operator für die passende Manipulator-Funktion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600" b="1" dirty="0">
                <a:latin typeface="Courier New" pitchFamily="49" charset="0"/>
              </a:rPr>
              <a:t>&lt;&lt;( 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 );</a:t>
            </a:r>
            <a:endParaRPr lang="de-DE" sz="1600" b="1" dirty="0">
              <a:solidFill>
                <a:srgbClr val="3366FF"/>
              </a:solidFill>
              <a:latin typeface="Courier New" pitchFamily="49" charset="0"/>
            </a:endParaRP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istream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600" b="1" dirty="0">
                <a:latin typeface="Courier New" pitchFamily="49" charset="0"/>
              </a:rPr>
              <a:t>&gt;&gt;( </a:t>
            </a:r>
            <a:r>
              <a:rPr lang="de-DE" sz="1600" b="1" dirty="0" err="1">
                <a:latin typeface="Courier New" pitchFamily="49" charset="0"/>
              </a:rPr>
              <a:t>pf</a:t>
            </a:r>
            <a:r>
              <a:rPr lang="de-DE" sz="1600" b="1" dirty="0">
                <a:latin typeface="Courier New" pitchFamily="49" charset="0"/>
              </a:rPr>
              <a:t> );</a:t>
            </a:r>
          </a:p>
          <a:p>
            <a:pPr lvl="1">
              <a:buFontTx/>
              <a:buNone/>
            </a:pP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45C99-FBCD-4B5D-9D5F-4FF90B2BB225}" type="slidenum">
              <a:rPr lang="de-DE"/>
              <a:pPr/>
              <a:t>22</a:t>
            </a:fld>
            <a:endParaRPr lang="de-DE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Manipulatoren ohne Parameter (2)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Am Beispiel von ‚</a:t>
            </a:r>
            <a:r>
              <a:rPr lang="de-DE" dirty="0" err="1"/>
              <a:t>showpos</a:t>
            </a:r>
            <a:r>
              <a:rPr lang="de-DE" dirty="0"/>
              <a:t>‘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showpos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str )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{</a:t>
            </a:r>
          </a:p>
          <a:p>
            <a:pPr lvl="2">
              <a:buFontTx/>
              <a:buNone/>
            </a:pPr>
            <a:r>
              <a:rPr lang="de-DE" sz="1600" b="1" dirty="0" err="1">
                <a:latin typeface="Courier New" pitchFamily="49" charset="0"/>
              </a:rPr>
              <a:t>str.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setf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showpos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);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}</a:t>
            </a:r>
            <a:endParaRPr lang="de-DE" dirty="0"/>
          </a:p>
          <a:p>
            <a:r>
              <a:rPr lang="de-DE" dirty="0"/>
              <a:t>Beispiel: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>
                <a:latin typeface="Courier New" pitchFamily="49" charset="0"/>
              </a:rPr>
              <a:t>&lt;&lt;</a:t>
            </a:r>
            <a:r>
              <a:rPr lang="de-DE" sz="1600" b="1" dirty="0">
                <a:solidFill>
                  <a:srgbClr val="3366FF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showpos</a:t>
            </a:r>
            <a:r>
              <a:rPr lang="de-DE" sz="16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de-DE" dirty="0"/>
              <a:t>	</a:t>
            </a:r>
            <a:r>
              <a:rPr lang="de-DE" dirty="0" err="1"/>
              <a:t>cout</a:t>
            </a:r>
            <a:r>
              <a:rPr lang="de-DE" dirty="0"/>
              <a:t> ist ein Objekt der Klasse</a:t>
            </a:r>
            <a:br>
              <a:rPr lang="de-DE" dirty="0"/>
            </a:br>
            <a:r>
              <a:rPr lang="de-DE" dirty="0" err="1"/>
              <a:t>basic_ostream</a:t>
            </a:r>
            <a:r>
              <a:rPr lang="de-DE" dirty="0"/>
              <a:t>&lt; </a:t>
            </a:r>
            <a:r>
              <a:rPr lang="de-DE" dirty="0" err="1"/>
              <a:t>char</a:t>
            </a:r>
            <a:r>
              <a:rPr lang="de-DE" dirty="0"/>
              <a:t> &gt;, die eine Ausgabe-Methode für die obige Funktion hat. In dieser Methode wird diese Funktion aufgerufen. Der Parameter ist *</a:t>
            </a:r>
            <a:r>
              <a:rPr lang="de-DE" dirty="0" err="1"/>
              <a:t>this</a:t>
            </a:r>
            <a:endParaRPr lang="de-DE" dirty="0"/>
          </a:p>
          <a:p>
            <a:pPr lvl="1">
              <a:buFontTx/>
              <a:buNone/>
            </a:pPr>
            <a:endParaRPr lang="de-DE" sz="1600" b="1" dirty="0">
              <a:latin typeface="Courier New" pitchFamily="49" charset="0"/>
            </a:endParaRPr>
          </a:p>
          <a:p>
            <a:pPr lvl="1">
              <a:buFontTx/>
              <a:buNone/>
            </a:pPr>
            <a:endParaRPr lang="de-DE" sz="1600" b="1" dirty="0">
              <a:latin typeface="Courier New" pitchFamily="49" charset="0"/>
            </a:endParaRPr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Ios_base</a:t>
            </a:r>
            <a:r>
              <a:rPr lang="de-DE" dirty="0" smtClean="0"/>
              <a:t> Storage </a:t>
            </a:r>
            <a:r>
              <a:rPr lang="de-DE" dirty="0" err="1" smtClean="0"/>
              <a:t>Functions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Von </a:t>
            </a:r>
            <a:r>
              <a:rPr lang="de-DE" dirty="0" err="1" smtClean="0"/>
              <a:t>std</a:t>
            </a:r>
            <a:r>
              <a:rPr lang="de-DE" dirty="0" smtClean="0"/>
              <a:t>::</a:t>
            </a:r>
            <a:r>
              <a:rPr lang="de-DE" dirty="0" err="1" smtClean="0"/>
              <a:t>ios_base</a:t>
            </a:r>
            <a:r>
              <a:rPr lang="de-DE" dirty="0" smtClean="0"/>
              <a:t> abgeleitete Klassen haben die Möglichkeit, zur Laufzeit ‚beliebige‘ Member aufzunehmen.</a:t>
            </a:r>
          </a:p>
          <a:p>
            <a:r>
              <a:rPr lang="de-DE" dirty="0" smtClean="0"/>
              <a:t>Mögliche Typen:</a:t>
            </a:r>
            <a:br>
              <a:rPr lang="de-DE" dirty="0" smtClean="0"/>
            </a:br>
            <a:r>
              <a:rPr lang="de-DE" dirty="0" err="1" smtClean="0"/>
              <a:t>long</a:t>
            </a:r>
            <a:r>
              <a:rPr lang="de-DE" dirty="0" smtClean="0"/>
              <a:t>, </a:t>
            </a:r>
            <a:r>
              <a:rPr lang="de-DE" dirty="0" err="1" smtClean="0"/>
              <a:t>void</a:t>
            </a:r>
            <a:r>
              <a:rPr lang="de-DE" dirty="0" smtClean="0"/>
              <a:t>*</a:t>
            </a:r>
          </a:p>
          <a:p>
            <a:pPr>
              <a:buNone/>
            </a:pPr>
            <a:r>
              <a:rPr lang="de-DE" sz="1600" b="1" dirty="0" smtClean="0">
                <a:latin typeface="Courier New" pitchFamily="49" charset="0"/>
              </a:rPr>
              <a:t>	</a:t>
            </a: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long</a:t>
            </a:r>
            <a:r>
              <a:rPr lang="de-DE" sz="1600" b="1" dirty="0" smtClean="0">
                <a:latin typeface="Courier New" pitchFamily="49" charset="0"/>
              </a:rPr>
              <a:t>&amp; </a:t>
            </a:r>
            <a:r>
              <a:rPr lang="de-DE" sz="1600" b="1" dirty="0" err="1" smtClean="0">
                <a:latin typeface="Courier New" pitchFamily="49" charset="0"/>
              </a:rPr>
              <a:t>iword</a:t>
            </a:r>
            <a:r>
              <a:rPr lang="de-DE" sz="1600" b="1" dirty="0" smtClean="0">
                <a:latin typeface="Courier New" pitchFamily="49" charset="0"/>
              </a:rPr>
              <a:t>( </a:t>
            </a: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int</a:t>
            </a:r>
            <a:r>
              <a:rPr lang="de-DE" sz="1600" b="1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latin typeface="Courier New" pitchFamily="49" charset="0"/>
              </a:rPr>
              <a:t>idx</a:t>
            </a:r>
            <a:r>
              <a:rPr lang="de-DE" sz="1600" b="1" dirty="0" smtClean="0">
                <a:latin typeface="Courier New" pitchFamily="49" charset="0"/>
              </a:rPr>
              <a:t> );</a:t>
            </a:r>
            <a:br>
              <a:rPr lang="de-DE" sz="1600" b="1" dirty="0" smtClean="0">
                <a:latin typeface="Courier New" pitchFamily="49" charset="0"/>
              </a:rPr>
            </a:b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void</a:t>
            </a:r>
            <a:r>
              <a:rPr lang="de-DE" sz="1600" b="1" dirty="0" smtClean="0">
                <a:latin typeface="Courier New" pitchFamily="49" charset="0"/>
              </a:rPr>
              <a:t>*&amp; </a:t>
            </a:r>
            <a:r>
              <a:rPr lang="de-DE" sz="1600" b="1" dirty="0" err="1" smtClean="0">
                <a:latin typeface="Courier New" pitchFamily="49" charset="0"/>
              </a:rPr>
              <a:t>pword</a:t>
            </a:r>
            <a:r>
              <a:rPr lang="de-DE" sz="1600" b="1" dirty="0" smtClean="0">
                <a:latin typeface="Courier New" pitchFamily="49" charset="0"/>
              </a:rPr>
              <a:t>( </a:t>
            </a: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int</a:t>
            </a:r>
            <a:r>
              <a:rPr lang="de-DE" sz="1600" b="1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latin typeface="Courier New" pitchFamily="49" charset="0"/>
              </a:rPr>
              <a:t>idx</a:t>
            </a:r>
            <a:r>
              <a:rPr lang="de-DE" sz="1600" b="1" dirty="0" smtClean="0">
                <a:latin typeface="Courier New" pitchFamily="49" charset="0"/>
              </a:rPr>
              <a:t> );</a:t>
            </a:r>
          </a:p>
          <a:p>
            <a:pPr>
              <a:buNone/>
            </a:pPr>
            <a:endParaRPr lang="de-DE" sz="1600" b="1" dirty="0" smtClean="0">
              <a:latin typeface="Courier New" pitchFamily="49" charset="0"/>
            </a:endParaRPr>
          </a:p>
          <a:p>
            <a:pPr>
              <a:buNone/>
            </a:pPr>
            <a:r>
              <a:rPr lang="de-DE" sz="1600" b="1" dirty="0" smtClean="0">
                <a:latin typeface="Courier New" pitchFamily="49" charset="0"/>
              </a:rPr>
              <a:t>	</a:t>
            </a: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static</a:t>
            </a:r>
            <a:r>
              <a:rPr lang="de-DE" sz="1600" b="1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solidFill>
                  <a:srgbClr val="3366FF"/>
                </a:solidFill>
                <a:latin typeface="Courier New" pitchFamily="49" charset="0"/>
              </a:rPr>
              <a:t>int</a:t>
            </a:r>
            <a:r>
              <a:rPr lang="de-DE" sz="1600" b="1" dirty="0" smtClean="0">
                <a:latin typeface="Courier New" pitchFamily="49" charset="0"/>
              </a:rPr>
              <a:t> </a:t>
            </a:r>
            <a:r>
              <a:rPr lang="de-DE" sz="1600" b="1" dirty="0" err="1" smtClean="0">
                <a:latin typeface="Courier New" pitchFamily="49" charset="0"/>
              </a:rPr>
              <a:t>xalloc</a:t>
            </a:r>
            <a:r>
              <a:rPr lang="de-DE" sz="1600" b="1" dirty="0" smtClean="0">
                <a:latin typeface="Courier New" pitchFamily="49" charset="0"/>
              </a:rPr>
              <a:t>();</a:t>
            </a:r>
            <a:endParaRPr lang="de-DE" sz="1600" b="1" dirty="0">
              <a:latin typeface="Courier New" pitchFamily="49" charset="0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23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261B6-3897-40C3-9195-60DA924641A5}" type="slidenum">
              <a:rPr lang="de-DE"/>
              <a:pPr/>
              <a:t>24</a:t>
            </a:fld>
            <a:endParaRPr lang="de-DE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Typ-Sicherheit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Einer der wesentlichen Unterschiede zu ‚printf‘ liegt in der Typ-Sicherheit der iostreams.</a:t>
            </a:r>
          </a:p>
          <a:p>
            <a:r>
              <a:rPr lang="de-DE"/>
              <a:t>Objekte verschiedenen Typs können auch völlig verschieden behandelt werden.</a:t>
            </a: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600" b="1">
                <a:latin typeface="Courier New" pitchFamily="49" charset="0"/>
              </a:rPr>
              <a:t>T x;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operator</a:t>
            </a:r>
            <a:r>
              <a:rPr lang="de-DE" sz="1600" b="1">
                <a:latin typeface="Courier New" pitchFamily="49" charset="0"/>
              </a:rPr>
              <a:t>&lt;&lt;(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>
                <a:latin typeface="Courier New" pitchFamily="49" charset="0"/>
              </a:rPr>
              <a:t>, x );	//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>
                <a:latin typeface="Courier New" pitchFamily="49" charset="0"/>
              </a:rPr>
              <a:t> &lt;&lt; x;</a:t>
            </a:r>
            <a:endParaRPr lang="de-DE"/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600" b="1">
                <a:latin typeface="Courier New" pitchFamily="49" charset="0"/>
              </a:rPr>
              <a:t>// oder.</a:t>
            </a:r>
            <a:endParaRPr lang="de-DE" sz="1600" b="1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600" b="1">
                <a:latin typeface="Courier New" pitchFamily="49" charset="0"/>
              </a:rPr>
              <a:t>U y;</a:t>
            </a:r>
            <a:endParaRPr lang="de-DE" sz="1600" b="1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operator</a:t>
            </a:r>
            <a:r>
              <a:rPr lang="de-DE" sz="1600" b="1">
                <a:latin typeface="Courier New" pitchFamily="49" charset="0"/>
              </a:rPr>
              <a:t>&lt;&lt;(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>
                <a:latin typeface="Courier New" pitchFamily="49" charset="0"/>
              </a:rPr>
              <a:t>, y ); 	//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>
                <a:latin typeface="Courier New" pitchFamily="49" charset="0"/>
              </a:rPr>
              <a:t> &lt;&lt; y;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 </a:t>
            </a:r>
          </a:p>
          <a:p>
            <a:r>
              <a:rPr lang="de-DE"/>
              <a:t>sind U und T verschieden Typen, so sind auch die Ausgabe-Funktion verschieden!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DB244-798A-4BF0-A55B-817935448634}" type="slidenum">
              <a:rPr lang="de-DE"/>
              <a:pPr/>
              <a:t>25</a:t>
            </a:fld>
            <a:endParaRPr lang="de-DE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Ausgabe eigener Klassen (1)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Beispiel: ein Punkt als Klasse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de-DE" sz="1600" b="1">
                <a:latin typeface="Courier New" pitchFamily="49" charset="0"/>
              </a:rPr>
              <a:t> CPunkt {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600" b="1">
                <a:latin typeface="Courier New" pitchFamily="49" charset="0"/>
              </a:rPr>
              <a:t>:</a:t>
            </a:r>
          </a:p>
          <a:p>
            <a:pPr lvl="2">
              <a:buFontTx/>
              <a:buNone/>
            </a:pPr>
            <a:r>
              <a:rPr lang="de-DE" sz="1400" b="1">
                <a:latin typeface="Courier New" pitchFamily="49" charset="0"/>
              </a:rPr>
              <a:t>CPunkt(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sz="1400" b="1">
                <a:latin typeface="Courier New" pitchFamily="49" charset="0"/>
              </a:rPr>
              <a:t> x,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sz="1400" b="1">
                <a:latin typeface="Courier New" pitchFamily="49" charset="0"/>
              </a:rPr>
              <a:t> y );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};</a:t>
            </a:r>
          </a:p>
          <a:p>
            <a:r>
              <a:rPr lang="de-DE"/>
              <a:t>Ausgabe eines Punktes aus der Sicht des Punkt-Users !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CPunkt pkt( 4., -1.2 );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>
                <a:latin typeface="Courier New" pitchFamily="49" charset="0"/>
              </a:rPr>
              <a:t> &lt;&lt; "meine Position ist " &lt;&lt; pkt &lt;&lt;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endl</a:t>
            </a:r>
            <a:r>
              <a:rPr lang="de-DE" sz="1600" b="1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5A68-BA9C-47CF-A3ED-B68652141C2C}" type="slidenum">
              <a:rPr lang="de-DE"/>
              <a:pPr/>
              <a:t>26</a:t>
            </a:fld>
            <a:endParaRPr lang="de-DE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Ausgabe eigener Klassen (2)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Addiere ein Interface zur Ausgabe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#include </a:t>
            </a:r>
            <a:r>
              <a:rPr lang="de-DE" sz="1600" b="1">
                <a:latin typeface="Courier New" pitchFamily="49" charset="0"/>
              </a:rPr>
              <a:t>&lt;iosfwd&gt; 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class </a:t>
            </a:r>
            <a:r>
              <a:rPr lang="de-DE" sz="1600" b="1">
                <a:latin typeface="Courier New" pitchFamily="49" charset="0"/>
              </a:rPr>
              <a:t>CPunkt {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600" b="1">
                <a:latin typeface="Courier New" pitchFamily="49" charset="0"/>
              </a:rPr>
              <a:t>:</a:t>
            </a:r>
          </a:p>
          <a:p>
            <a:pPr lvl="2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friend</a:t>
            </a:r>
            <a:r>
              <a:rPr lang="de-DE" sz="16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600" b="1">
                <a:latin typeface="Courier New" pitchFamily="49" charset="0"/>
              </a:rPr>
              <a:t>&lt;&lt;(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out,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600" b="1">
                <a:latin typeface="Courier New" pitchFamily="49" charset="0"/>
              </a:rPr>
              <a:t> CPunkt&amp; pkt );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};</a:t>
            </a:r>
          </a:p>
          <a:p>
            <a:r>
              <a:rPr lang="de-DE"/>
              <a:t>.. und implementiere es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#include </a:t>
            </a:r>
            <a:r>
              <a:rPr lang="de-DE" sz="1600" b="1">
                <a:latin typeface="Courier New" pitchFamily="49" charset="0"/>
              </a:rPr>
              <a:t>&lt;iostream&gt; 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600" b="1">
                <a:latin typeface="Courier New" pitchFamily="49" charset="0"/>
              </a:rPr>
              <a:t>&lt;&lt;(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out, </a:t>
            </a:r>
            <a:br>
              <a:rPr lang="de-DE" sz="1600" b="1">
                <a:latin typeface="Courier New" pitchFamily="49" charset="0"/>
              </a:rPr>
            </a:b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600" b="1">
                <a:latin typeface="Courier New" pitchFamily="49" charset="0"/>
              </a:rPr>
              <a:t> CPunkt&amp; pkt )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{</a:t>
            </a:r>
          </a:p>
          <a:p>
            <a:pPr lvl="2">
              <a:buFontTx/>
              <a:buNone/>
            </a:pPr>
            <a:r>
              <a:rPr lang="de-DE" sz="1600" b="1">
                <a:latin typeface="Courier New" pitchFamily="49" charset="0"/>
              </a:rPr>
              <a:t>out &lt;&lt; pkt.m_x &lt;&lt; " " &lt;&lt; pkt.m_y;</a:t>
            </a:r>
          </a:p>
          <a:p>
            <a:pPr lvl="2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>
                <a:latin typeface="Courier New" pitchFamily="49" charset="0"/>
              </a:rPr>
              <a:t> out;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9D833-4448-44D1-9218-5AF14FDEF50B}" type="slidenum">
              <a:rPr lang="de-DE"/>
              <a:pPr/>
              <a:t>27</a:t>
            </a:fld>
            <a:endParaRPr lang="de-DE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Ausgabe eigener Klassen (3)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è"/>
            </a:pPr>
            <a:r>
              <a:rPr lang="de-DE" dirty="0"/>
              <a:t>Verberge die Existenz privater Member vor dem Anwender.</a:t>
            </a:r>
          </a:p>
          <a:p>
            <a:r>
              <a:rPr lang="de-DE" dirty="0"/>
              <a:t>Die Art der Ausgabe (oder Eingabe) auf einen </a:t>
            </a:r>
            <a:r>
              <a:rPr lang="de-DE" dirty="0" err="1"/>
              <a:t>std</a:t>
            </a:r>
            <a:r>
              <a:rPr lang="de-DE" dirty="0"/>
              <a:t>::</a:t>
            </a:r>
            <a:r>
              <a:rPr lang="de-DE" dirty="0" err="1"/>
              <a:t>ostream</a:t>
            </a:r>
            <a:r>
              <a:rPr lang="de-DE" dirty="0"/>
              <a:t> ist Teil der Klassen-Schnittstelle</a:t>
            </a:r>
          </a:p>
          <a:p>
            <a:r>
              <a:rPr lang="de-DE" dirty="0"/>
              <a:t>Aber !</a:t>
            </a:r>
          </a:p>
          <a:p>
            <a:pPr lvl="1">
              <a:buFontTx/>
              <a:buNone/>
            </a:pPr>
            <a:r>
              <a:rPr lang="de-DE" dirty="0"/>
              <a:t>	Was, wenn es dabei mehrere sich widersprechende Anforderungen gibt?</a:t>
            </a:r>
          </a:p>
          <a:p>
            <a:r>
              <a:rPr lang="de-DE" dirty="0"/>
              <a:t>Zum Beispiel wird zusätzlich (!) folgende Ausgabe gewünscht - mit vorangestelltem x= und y=: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ein Punkt: x= 4. y= -1.2</a:t>
            </a:r>
          </a:p>
          <a:p>
            <a:r>
              <a:rPr lang="de-DE" dirty="0"/>
              <a:t>Die bestehende Ausgabe soll erhalten bleiben !</a:t>
            </a:r>
          </a:p>
          <a:p>
            <a:pPr>
              <a:buNone/>
            </a:pP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</a:p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5F97-7BFF-47C2-AA8E-29E9CA24080D}" type="slidenum">
              <a:rPr lang="de-DE"/>
              <a:pPr/>
              <a:t>28</a:t>
            </a:fld>
            <a:endParaRPr lang="de-DE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Selbstdefinierte Manipulatoren (1)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Lösung ist ein Manipulator. Zum Beispiel</a:t>
            </a:r>
          </a:p>
          <a:p>
            <a:pPr lvl="1">
              <a:buFontTx/>
              <a:buNone/>
            </a:pPr>
            <a:r>
              <a:rPr lang="de-DE" sz="1600" b="1" dirty="0" err="1">
                <a:latin typeface="Courier New" pitchFamily="49" charset="0"/>
              </a:rPr>
              <a:t>CPunkt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pkt</a:t>
            </a:r>
            <a:r>
              <a:rPr lang="de-DE" sz="1600" b="1" dirty="0">
                <a:latin typeface="Courier New" pitchFamily="49" charset="0"/>
              </a:rPr>
              <a:t>( 4, -1.2 );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cout</a:t>
            </a:r>
            <a:r>
              <a:rPr lang="de-DE" sz="1600" b="1" dirty="0">
                <a:latin typeface="Courier New" pitchFamily="49" charset="0"/>
              </a:rPr>
              <a:t> &lt;&lt; " ein Punkt: " &lt;&lt; </a:t>
            </a:r>
            <a:r>
              <a:rPr lang="de-DE" sz="1600" b="1" dirty="0" err="1">
                <a:latin typeface="Courier New" pitchFamily="49" charset="0"/>
              </a:rPr>
              <a:t>fulltext</a:t>
            </a:r>
            <a:r>
              <a:rPr lang="de-DE" sz="1600" b="1" dirty="0">
                <a:latin typeface="Courier New" pitchFamily="49" charset="0"/>
              </a:rPr>
              <a:t> &lt;&lt; </a:t>
            </a:r>
            <a:r>
              <a:rPr lang="de-DE" sz="1600" b="1" dirty="0" err="1">
                <a:latin typeface="Courier New" pitchFamily="49" charset="0"/>
              </a:rPr>
              <a:t>pkt</a:t>
            </a:r>
            <a:r>
              <a:rPr lang="de-DE" sz="1600" b="1" dirty="0">
                <a:latin typeface="Courier New" pitchFamily="49" charset="0"/>
              </a:rPr>
              <a:t> &lt;&lt;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endl</a:t>
            </a:r>
            <a:r>
              <a:rPr lang="de-DE" sz="1600" b="1" dirty="0">
                <a:latin typeface="Courier New" pitchFamily="49" charset="0"/>
              </a:rPr>
              <a:t>;</a:t>
            </a:r>
            <a:endParaRPr lang="de-DE" dirty="0"/>
          </a:p>
          <a:p>
            <a:r>
              <a:rPr lang="de-DE" dirty="0"/>
              <a:t>Definition einer Manipulator-Funktion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6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 FULLTEXT =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xalloc</a:t>
            </a:r>
            <a:r>
              <a:rPr lang="de-DE" sz="1600" b="1" dirty="0">
                <a:latin typeface="Courier New" pitchFamily="49" charset="0"/>
              </a:rPr>
              <a:t>();</a:t>
            </a:r>
            <a:endParaRPr lang="de-DE" sz="1600" b="1" dirty="0">
              <a:solidFill>
                <a:srgbClr val="3366FF"/>
              </a:solidFill>
              <a:latin typeface="Courier New" pitchFamily="49" charset="0"/>
            </a:endParaRPr>
          </a:p>
          <a:p>
            <a:pPr lvl="1">
              <a:buFontTx/>
              <a:buNone/>
            </a:pP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</a:t>
            </a:r>
            <a:r>
              <a:rPr lang="de-DE" sz="1600" b="1" dirty="0" err="1">
                <a:latin typeface="Courier New" pitchFamily="49" charset="0"/>
              </a:rPr>
              <a:t>fulltext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str )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{</a:t>
            </a:r>
          </a:p>
          <a:p>
            <a:pPr lvl="2">
              <a:buFontTx/>
              <a:buNone/>
            </a:pPr>
            <a:r>
              <a:rPr lang="de-DE" sz="1600" b="1" dirty="0" err="1">
                <a:latin typeface="Courier New" pitchFamily="49" charset="0"/>
              </a:rPr>
              <a:t>str.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iword</a:t>
            </a:r>
            <a:r>
              <a:rPr lang="de-DE" sz="1600" b="1" dirty="0">
                <a:latin typeface="Courier New" pitchFamily="49" charset="0"/>
              </a:rPr>
              <a:t>( FULLTEXT ) = 1;</a:t>
            </a:r>
          </a:p>
          <a:p>
            <a:pPr lvl="2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 str;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};</a:t>
            </a:r>
          </a:p>
          <a:p>
            <a:pPr lvl="1">
              <a:buFontTx/>
              <a:buNone/>
            </a:pP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bool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getFulltextFlag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ios_base</a:t>
            </a:r>
            <a:r>
              <a:rPr lang="de-DE" sz="1600" b="1" dirty="0">
                <a:latin typeface="Courier New" pitchFamily="49" charset="0"/>
              </a:rPr>
              <a:t>&amp; str )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  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latin typeface="Courier New" pitchFamily="49" charset="0"/>
              </a:rPr>
              <a:t>str.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iword</a:t>
            </a:r>
            <a:r>
              <a:rPr lang="de-DE" sz="1600" b="1" dirty="0">
                <a:latin typeface="Courier New" pitchFamily="49" charset="0"/>
              </a:rPr>
              <a:t>( FULLTEXT ) == 1 );</a:t>
            </a:r>
          </a:p>
          <a:p>
            <a:pPr lvl="1">
              <a:buFontTx/>
              <a:buNone/>
            </a:pPr>
            <a:r>
              <a:rPr lang="de-DE" sz="1600" b="1" dirty="0">
                <a:latin typeface="Courier New" pitchFamily="49" charset="0"/>
              </a:rPr>
              <a:t>}</a:t>
            </a:r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7940F-0237-47F5-869F-34AF57D98110}" type="slidenum">
              <a:rPr lang="de-DE"/>
              <a:pPr/>
              <a:t>29</a:t>
            </a:fld>
            <a:endParaRPr lang="de-DE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Selbstdefinierte Manipulatoren (2)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Berücksichtigung dieses selbstdefinierten Flags bei der Ausgabe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#include </a:t>
            </a:r>
            <a:r>
              <a:rPr lang="de-DE" sz="1600" b="1">
                <a:latin typeface="Courier New" pitchFamily="49" charset="0"/>
              </a:rPr>
              <a:t>&lt;iostream&gt; </a:t>
            </a:r>
          </a:p>
          <a:p>
            <a:pPr lvl="1">
              <a:buFontTx/>
              <a:buNone/>
            </a:pP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600" b="1">
                <a:latin typeface="Courier New" pitchFamily="49" charset="0"/>
              </a:rPr>
              <a:t>&lt;&lt;( 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3366FF"/>
                </a:solidFill>
                <a:latin typeface="Courier New" pitchFamily="49" charset="0"/>
              </a:rPr>
              <a:t>ostream</a:t>
            </a:r>
            <a:r>
              <a:rPr lang="de-DE" sz="1600" b="1">
                <a:latin typeface="Courier New" pitchFamily="49" charset="0"/>
              </a:rPr>
              <a:t>&amp; out,</a:t>
            </a:r>
            <a:br>
              <a:rPr lang="de-DE" sz="1600" b="1">
                <a:latin typeface="Courier New" pitchFamily="49" charset="0"/>
              </a:rPr>
            </a:b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600" b="1">
                <a:latin typeface="Courier New" pitchFamily="49" charset="0"/>
              </a:rPr>
              <a:t> CPunkt&amp; pkt ) 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{ </a:t>
            </a:r>
          </a:p>
          <a:p>
            <a:pPr lvl="2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>
                <a:latin typeface="Courier New" pitchFamily="49" charset="0"/>
              </a:rPr>
              <a:t>( getFulltextFlag( out ) )</a:t>
            </a:r>
          </a:p>
          <a:p>
            <a:pPr lvl="3">
              <a:buFontTx/>
              <a:buNone/>
            </a:pPr>
            <a:r>
              <a:rPr lang="de-DE" sz="1600" b="1">
                <a:latin typeface="Courier New" pitchFamily="49" charset="0"/>
              </a:rPr>
              <a:t>out &lt;&lt; "Pkt.: x=" &lt;&lt; pkt.m_x &lt;&lt; " y=" &lt;&lt; pkt.m_y;</a:t>
            </a:r>
          </a:p>
          <a:p>
            <a:pPr lvl="2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else</a:t>
            </a:r>
            <a:endParaRPr lang="de-DE" sz="1600" b="1">
              <a:latin typeface="Courier New" pitchFamily="49" charset="0"/>
            </a:endParaRPr>
          </a:p>
          <a:p>
            <a:pPr lvl="3">
              <a:buFontTx/>
              <a:buNone/>
            </a:pPr>
            <a:r>
              <a:rPr lang="de-DE" sz="1600" b="1">
                <a:latin typeface="Courier New" pitchFamily="49" charset="0"/>
              </a:rPr>
              <a:t>out &lt;&lt; pkt.m_x &lt;&lt; ' ' &lt;&lt; pkt.m_y;</a:t>
            </a:r>
          </a:p>
          <a:p>
            <a:pPr lvl="2"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>
                <a:latin typeface="Courier New" pitchFamily="49" charset="0"/>
              </a:rPr>
              <a:t> out;</a:t>
            </a:r>
          </a:p>
          <a:p>
            <a:pPr lvl="1">
              <a:buFontTx/>
              <a:buNone/>
            </a:pPr>
            <a:r>
              <a:rPr lang="de-DE" sz="16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95C3B-3250-451E-9EAA-B94DF6DA5F23}" type="slidenum">
              <a:rPr lang="de-DE"/>
              <a:pPr/>
              <a:t>30</a:t>
            </a:fld>
            <a:endParaRPr lang="de-DE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Fehlerzustände eines </a:t>
            </a:r>
            <a:r>
              <a:rPr lang="de-DE" dirty="0" smtClean="0"/>
              <a:t>i(o)</a:t>
            </a:r>
            <a:r>
              <a:rPr lang="de-DE" dirty="0" err="1" smtClean="0"/>
              <a:t>streams</a:t>
            </a:r>
            <a:endParaRPr lang="de-DE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419600"/>
          </a:xfrm>
        </p:spPr>
        <p:txBody>
          <a:bodyPr/>
          <a:lstStyle/>
          <a:p>
            <a:r>
              <a:rPr lang="de-DE" dirty="0"/>
              <a:t>Nach einem </a:t>
            </a:r>
            <a:r>
              <a:rPr lang="de-DE" dirty="0" err="1"/>
              <a:t>cin</a:t>
            </a:r>
            <a:r>
              <a:rPr lang="de-DE" dirty="0"/>
              <a:t> &gt;&gt; </a:t>
            </a:r>
            <a:r>
              <a:rPr lang="de-DE" dirty="0" err="1"/>
              <a:t>obj</a:t>
            </a:r>
            <a:r>
              <a:rPr lang="de-DE" dirty="0"/>
              <a:t>; oder </a:t>
            </a:r>
            <a:r>
              <a:rPr lang="de-DE" dirty="0" err="1"/>
              <a:t>cout</a:t>
            </a:r>
            <a:r>
              <a:rPr lang="de-DE" dirty="0"/>
              <a:t> &lt;&lt; </a:t>
            </a:r>
            <a:r>
              <a:rPr lang="de-DE" dirty="0" err="1"/>
              <a:t>obj</a:t>
            </a:r>
            <a:r>
              <a:rPr lang="de-DE" dirty="0"/>
              <a:t>; gibt es:</a:t>
            </a:r>
          </a:p>
          <a:p>
            <a:r>
              <a:rPr lang="de-DE" b="1" dirty="0" err="1"/>
              <a:t>good</a:t>
            </a:r>
            <a:r>
              <a:rPr lang="de-DE" dirty="0"/>
              <a:t> - kein Fehler, es darf weiter geschrieben/gelesen werden</a:t>
            </a:r>
          </a:p>
          <a:p>
            <a:r>
              <a:rPr lang="de-DE" b="1" dirty="0" err="1"/>
              <a:t>eof</a:t>
            </a:r>
            <a:r>
              <a:rPr lang="de-DE" dirty="0"/>
              <a:t> - es wurde mindestens ein Zeichen über das Ende des unterlagerten </a:t>
            </a:r>
            <a:r>
              <a:rPr lang="de-DE" dirty="0" err="1"/>
              <a:t>streambufs</a:t>
            </a:r>
            <a:r>
              <a:rPr lang="de-DE" dirty="0"/>
              <a:t> hinaus gelesen</a:t>
            </a:r>
          </a:p>
          <a:p>
            <a:r>
              <a:rPr lang="de-DE" b="1" dirty="0" err="1"/>
              <a:t>fail</a:t>
            </a:r>
            <a:r>
              <a:rPr lang="de-DE" dirty="0"/>
              <a:t> - es ist ein </a:t>
            </a:r>
            <a:r>
              <a:rPr lang="de-DE" dirty="0" smtClean="0"/>
              <a:t>Schreibfehler </a:t>
            </a:r>
            <a:r>
              <a:rPr lang="de-DE" dirty="0"/>
              <a:t>aufgetreten. Das Objekt wurde nicht korrekt </a:t>
            </a:r>
            <a:r>
              <a:rPr lang="de-DE" dirty="0" smtClean="0"/>
              <a:t>gelesen (kein Schreiben!)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(aus welchen Gründen auch immer)</a:t>
            </a:r>
          </a:p>
          <a:p>
            <a:r>
              <a:rPr lang="de-DE" b="1" dirty="0" err="1"/>
              <a:t>bad</a:t>
            </a:r>
            <a:r>
              <a:rPr lang="de-DE" dirty="0"/>
              <a:t> - der unterlagerte </a:t>
            </a:r>
            <a:r>
              <a:rPr lang="de-DE" dirty="0" err="1"/>
              <a:t>streambuf</a:t>
            </a:r>
            <a:r>
              <a:rPr lang="de-DE" dirty="0"/>
              <a:t> ist „defekt“ 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file</a:t>
            </a:r>
            <a:r>
              <a:rPr lang="de-DE" dirty="0"/>
              <a:t> not </a:t>
            </a:r>
            <a:r>
              <a:rPr lang="de-DE" dirty="0" err="1"/>
              <a:t>found</a:t>
            </a:r>
            <a:r>
              <a:rPr lang="de-DE" dirty="0"/>
              <a:t>, </a:t>
            </a:r>
            <a:r>
              <a:rPr lang="de-DE" dirty="0" err="1"/>
              <a:t>disc</a:t>
            </a:r>
            <a:r>
              <a:rPr lang="de-DE" dirty="0"/>
              <a:t> not in </a:t>
            </a:r>
            <a:r>
              <a:rPr lang="de-DE" dirty="0" err="1"/>
              <a:t>drive</a:t>
            </a:r>
            <a:r>
              <a:rPr lang="de-DE" dirty="0"/>
              <a:t>, </a:t>
            </a:r>
            <a:r>
              <a:rPr lang="de-DE" dirty="0" smtClean="0"/>
              <a:t>Schreibpuffer voll etc</a:t>
            </a:r>
            <a:r>
              <a:rPr lang="de-DE" dirty="0"/>
              <a:t>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422A6-179A-4AD5-ADB7-372E142678D4}" type="slidenum">
              <a:rPr lang="de-DE"/>
              <a:pPr/>
              <a:t>31</a:t>
            </a:fld>
            <a:endParaRPr lang="de-DE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Mengenlehre der Fehlerzustände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772400" cy="647700"/>
          </a:xfrm>
        </p:spPr>
        <p:txBody>
          <a:bodyPr/>
          <a:lstStyle/>
          <a:p>
            <a:r>
              <a:rPr lang="de-DE"/>
              <a:t>Im Prinzip interessiert nur ob </a:t>
            </a:r>
            <a:r>
              <a:rPr lang="de-DE" b="1"/>
              <a:t>good</a:t>
            </a:r>
            <a:r>
              <a:rPr lang="de-DE"/>
              <a:t> oder </a:t>
            </a:r>
            <a:r>
              <a:rPr lang="de-DE" b="1"/>
              <a:t>fail</a:t>
            </a:r>
            <a:endParaRPr lang="de-DE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362200" y="4572000"/>
            <a:ext cx="69373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de-DE"/>
              <a:t>bad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4572000" y="5105400"/>
            <a:ext cx="5746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de-DE"/>
              <a:t>fail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1676400" y="4221163"/>
            <a:ext cx="2103438" cy="12652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1524000" y="3581400"/>
            <a:ext cx="4648200" cy="24384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endParaRPr lang="de-DE"/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6588125" y="4941888"/>
            <a:ext cx="8636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de-DE"/>
              <a:t>good</a:t>
            </a:r>
          </a:p>
        </p:txBody>
      </p:sp>
      <p:grpSp>
        <p:nvGrpSpPr>
          <p:cNvPr id="12303" name="Group 15"/>
          <p:cNvGrpSpPr>
            <a:grpSpLocks/>
          </p:cNvGrpSpPr>
          <p:nvPr/>
        </p:nvGrpSpPr>
        <p:grpSpPr bwMode="auto">
          <a:xfrm>
            <a:off x="3360738" y="2781300"/>
            <a:ext cx="5243512" cy="2024063"/>
            <a:chOff x="2117" y="1752"/>
            <a:chExt cx="3303" cy="1275"/>
          </a:xfrm>
        </p:grpSpPr>
        <p:sp>
          <p:nvSpPr>
            <p:cNvPr id="12292" name="Text Box 4"/>
            <p:cNvSpPr txBox="1">
              <a:spLocks noChangeArrowheads="1"/>
            </p:cNvSpPr>
            <p:nvPr/>
          </p:nvSpPr>
          <p:spPr bwMode="auto">
            <a:xfrm>
              <a:off x="2880" y="2478"/>
              <a:ext cx="38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pPr algn="ctr"/>
              <a:r>
                <a:rPr lang="de-DE"/>
                <a:t>eof</a:t>
              </a:r>
            </a:p>
          </p:txBody>
        </p:sp>
        <p:sp>
          <p:nvSpPr>
            <p:cNvPr id="12295" name="Oval 7"/>
            <p:cNvSpPr>
              <a:spLocks noChangeArrowheads="1"/>
            </p:cNvSpPr>
            <p:nvPr/>
          </p:nvSpPr>
          <p:spPr bwMode="auto">
            <a:xfrm>
              <a:off x="2117" y="1827"/>
              <a:ext cx="1872" cy="12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2300" name="AutoShape 12"/>
            <p:cNvSpPr>
              <a:spLocks noChangeArrowheads="1"/>
            </p:cNvSpPr>
            <p:nvPr/>
          </p:nvSpPr>
          <p:spPr bwMode="auto">
            <a:xfrm flipV="1">
              <a:off x="4286" y="1752"/>
              <a:ext cx="1134" cy="816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rot="10800000" wrap="none" lIns="92075" tIns="46038" rIns="92075" bIns="46038" anchor="ctr"/>
            <a:lstStyle/>
            <a:p>
              <a:r>
                <a:rPr lang="de-DE"/>
                <a:t>eof ist nur</a:t>
              </a:r>
            </a:p>
            <a:p>
              <a:r>
                <a:rPr lang="de-DE"/>
                <a:t>beim Lesen </a:t>
              </a:r>
            </a:p>
            <a:p>
              <a:r>
                <a:rPr lang="de-DE"/>
                <a:t>relevant!</a:t>
              </a:r>
            </a:p>
          </p:txBody>
        </p: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 flipH="1">
              <a:off x="3742" y="2296"/>
              <a:ext cx="5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</p:grpSp>
      <p:grpSp>
        <p:nvGrpSpPr>
          <p:cNvPr id="12304" name="Group 16"/>
          <p:cNvGrpSpPr>
            <a:grpSpLocks/>
          </p:cNvGrpSpPr>
          <p:nvPr/>
        </p:nvGrpSpPr>
        <p:grpSpPr bwMode="auto">
          <a:xfrm>
            <a:off x="684213" y="1844675"/>
            <a:ext cx="7772400" cy="1512888"/>
            <a:chOff x="431" y="1162"/>
            <a:chExt cx="4896" cy="953"/>
          </a:xfrm>
        </p:grpSpPr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H="1">
              <a:off x="3515" y="1440"/>
              <a:ext cx="709" cy="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431" y="1162"/>
              <a:ext cx="489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FontTx/>
                <a:buChar char="•"/>
              </a:pPr>
              <a:r>
                <a:rPr lang="de-DE"/>
                <a:t>Bem.: kleiner zusätzlicher Punkt ist </a:t>
              </a:r>
              <a:r>
                <a:rPr lang="de-DE" sz="1600" b="1">
                  <a:latin typeface="Courier New" pitchFamily="49" charset="0"/>
                </a:rPr>
                <a:t>(!good $$ !fail)</a:t>
              </a:r>
              <a:r>
                <a:rPr lang="de-DE"/>
                <a:t> </a:t>
              </a:r>
              <a:br>
                <a:rPr lang="de-DE"/>
              </a:br>
              <a:r>
                <a:rPr lang="de-DE"/>
                <a:t>z.B.: </a:t>
              </a:r>
              <a:r>
                <a:rPr lang="de-DE" sz="1800" b="1">
                  <a:solidFill>
                    <a:srgbClr val="CC66FF"/>
                  </a:solidFill>
                  <a:latin typeface="Courier New" pitchFamily="49" charset="0"/>
                </a:rPr>
                <a:t>stringstream</a:t>
              </a:r>
              <a:r>
                <a:rPr lang="de-DE" sz="1600" b="1">
                  <a:latin typeface="Courier New" pitchFamily="49" charset="0"/>
                </a:rPr>
                <a:t>( “123“ ) &gt;&gt; intVal;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7564-6F9A-47B3-A6A2-4DC047F094B8}" type="slidenum">
              <a:rPr lang="de-DE"/>
              <a:pPr/>
              <a:t>32</a:t>
            </a:fld>
            <a:endParaRPr lang="de-DE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Fehler abfragen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Für jedes Fehler-Flags gibt es eine Abfrage-Methode </a:t>
            </a:r>
            <a:br>
              <a:rPr lang="de-DE" dirty="0"/>
            </a:br>
            <a:r>
              <a:rPr lang="de-DE" dirty="0"/>
              <a:t>(geerbt von </a:t>
            </a:r>
            <a:r>
              <a:rPr lang="de-DE" dirty="0" err="1"/>
              <a:t>basic_ios</a:t>
            </a:r>
            <a:r>
              <a:rPr lang="de-DE" dirty="0"/>
              <a:t>):</a:t>
            </a:r>
            <a:br>
              <a:rPr lang="de-DE" dirty="0"/>
            </a:br>
            <a:r>
              <a:rPr lang="de-DE" dirty="0" err="1"/>
              <a:t>good</a:t>
            </a:r>
            <a:r>
              <a:rPr lang="de-DE" dirty="0"/>
              <a:t>(), </a:t>
            </a:r>
            <a:r>
              <a:rPr lang="de-DE" dirty="0" err="1"/>
              <a:t>eof</a:t>
            </a:r>
            <a:r>
              <a:rPr lang="de-DE" dirty="0"/>
              <a:t>(), </a:t>
            </a:r>
            <a:r>
              <a:rPr lang="de-DE" dirty="0" err="1"/>
              <a:t>fail</a:t>
            </a:r>
            <a:r>
              <a:rPr lang="de-DE" dirty="0"/>
              <a:t>() &lt;-&gt; </a:t>
            </a:r>
            <a:r>
              <a:rPr lang="de-DE" dirty="0" err="1"/>
              <a:t>operator</a:t>
            </a:r>
            <a:r>
              <a:rPr lang="de-DE" dirty="0"/>
              <a:t> </a:t>
            </a:r>
            <a:r>
              <a:rPr lang="de-DE" dirty="0" err="1"/>
              <a:t>void</a:t>
            </a:r>
            <a:r>
              <a:rPr lang="de-DE" dirty="0"/>
              <a:t>*() == 0, </a:t>
            </a:r>
            <a:r>
              <a:rPr lang="de-DE" dirty="0" err="1"/>
              <a:t>bad</a:t>
            </a:r>
            <a:r>
              <a:rPr lang="de-DE" dirty="0"/>
              <a:t>()</a:t>
            </a:r>
          </a:p>
          <a:p>
            <a:r>
              <a:rPr lang="de-DE" dirty="0"/>
              <a:t>Anwendung:</a:t>
            </a:r>
          </a:p>
          <a:p>
            <a:pPr lvl="1">
              <a:buFontTx/>
              <a:buNone/>
            </a:pPr>
            <a:r>
              <a:rPr lang="de-DE" sz="2000" b="1" dirty="0" err="1" smtClean="0">
                <a:latin typeface="Courier New" pitchFamily="49" charset="0"/>
              </a:rPr>
              <a:t>if</a:t>
            </a:r>
            <a:r>
              <a:rPr lang="de-DE" sz="2000" b="1" dirty="0" smtClean="0">
                <a:latin typeface="Courier New" pitchFamily="49" charset="0"/>
              </a:rPr>
              <a:t>(</a:t>
            </a:r>
            <a:r>
              <a:rPr lang="de-DE" sz="2000" dirty="0" smtClean="0">
                <a:latin typeface="Courier New" pitchFamily="49" charset="0"/>
              </a:rPr>
              <a:t> </a:t>
            </a:r>
            <a:r>
              <a:rPr lang="de-DE" sz="2000" b="1" dirty="0" err="1">
                <a:solidFill>
                  <a:srgbClr val="CC66FF"/>
                </a:solidFill>
                <a:latin typeface="Courier New" pitchFamily="49" charset="0"/>
              </a:rPr>
              <a:t>cin</a:t>
            </a:r>
            <a:r>
              <a:rPr lang="de-DE" sz="2000" b="1" dirty="0" err="1">
                <a:latin typeface="Courier New" pitchFamily="49" charset="0"/>
              </a:rPr>
              <a:t>.good</a:t>
            </a:r>
            <a:r>
              <a:rPr lang="de-DE" sz="2000" b="1" dirty="0">
                <a:latin typeface="Courier New" pitchFamily="49" charset="0"/>
              </a:rPr>
              <a:t>() )</a:t>
            </a:r>
            <a:r>
              <a:rPr lang="de-DE" sz="2000" dirty="0">
                <a:latin typeface="Courier New" pitchFamily="49" charset="0"/>
              </a:rPr>
              <a:t/>
            </a:r>
            <a:br>
              <a:rPr lang="de-DE" sz="2000" dirty="0">
                <a:latin typeface="Courier New" pitchFamily="49" charset="0"/>
              </a:rPr>
            </a:br>
            <a:r>
              <a:rPr lang="de-DE" sz="2000" dirty="0">
                <a:latin typeface="Courier New" pitchFamily="49" charset="0"/>
              </a:rPr>
              <a:t>	// weiterlesen </a:t>
            </a:r>
            <a:r>
              <a:rPr lang="de-DE" sz="2000" dirty="0" smtClean="0">
                <a:latin typeface="Courier New" pitchFamily="49" charset="0"/>
              </a:rPr>
              <a:t>im Prinzip(!) möglich</a:t>
            </a:r>
            <a:endParaRPr lang="de-DE" sz="2000" dirty="0">
              <a:latin typeface="Courier New" pitchFamily="49" charset="0"/>
            </a:endParaRPr>
          </a:p>
          <a:p>
            <a:r>
              <a:rPr lang="de-DE" dirty="0"/>
              <a:t>aber </a:t>
            </a:r>
            <a:br>
              <a:rPr lang="de-DE" dirty="0"/>
            </a:br>
            <a:r>
              <a:rPr lang="de-DE" dirty="0"/>
              <a:t> </a:t>
            </a:r>
            <a:r>
              <a:rPr lang="de-DE" sz="2000" b="1" dirty="0" err="1">
                <a:latin typeface="Courier New" pitchFamily="49" charset="0"/>
              </a:rPr>
              <a:t>if</a:t>
            </a:r>
            <a:r>
              <a:rPr lang="de-DE" sz="2000" b="1" dirty="0">
                <a:latin typeface="Courier New" pitchFamily="49" charset="0"/>
              </a:rPr>
              <a:t>( </a:t>
            </a:r>
            <a:r>
              <a:rPr lang="de-DE" sz="2000" b="1" dirty="0" err="1">
                <a:solidFill>
                  <a:srgbClr val="CC66FF"/>
                </a:solidFill>
                <a:latin typeface="Courier New" pitchFamily="49" charset="0"/>
              </a:rPr>
              <a:t>cin</a:t>
            </a:r>
            <a:r>
              <a:rPr lang="de-DE" sz="2000" b="1" dirty="0">
                <a:latin typeface="Courier New" pitchFamily="49" charset="0"/>
              </a:rPr>
              <a:t> &gt;&gt; </a:t>
            </a:r>
            <a:r>
              <a:rPr lang="de-DE" sz="2000" b="1" dirty="0" err="1">
                <a:latin typeface="Courier New" pitchFamily="49" charset="0"/>
              </a:rPr>
              <a:t>obj</a:t>
            </a:r>
            <a:r>
              <a:rPr lang="de-DE" sz="2000" b="1" dirty="0">
                <a:latin typeface="Courier New" pitchFamily="49" charset="0"/>
              </a:rPr>
              <a:t> )   </a:t>
            </a:r>
            <a:r>
              <a:rPr lang="de-DE" sz="2000" dirty="0">
                <a:latin typeface="Courier New" pitchFamily="49" charset="0"/>
              </a:rPr>
              <a:t>// wie !(</a:t>
            </a:r>
            <a:r>
              <a:rPr lang="de-DE" sz="2000" dirty="0" err="1">
                <a:latin typeface="Courier New" pitchFamily="49" charset="0"/>
              </a:rPr>
              <a:t>cin</a:t>
            </a:r>
            <a:r>
              <a:rPr lang="de-DE" sz="2000" dirty="0">
                <a:latin typeface="Courier New" pitchFamily="49" charset="0"/>
              </a:rPr>
              <a:t> &gt;&gt; </a:t>
            </a:r>
            <a:r>
              <a:rPr lang="de-DE" sz="2000" dirty="0" err="1">
                <a:latin typeface="Courier New" pitchFamily="49" charset="0"/>
              </a:rPr>
              <a:t>obj</a:t>
            </a:r>
            <a:r>
              <a:rPr lang="de-DE" sz="2000" dirty="0">
                <a:latin typeface="Courier New" pitchFamily="49" charset="0"/>
              </a:rPr>
              <a:t>).</a:t>
            </a:r>
            <a:r>
              <a:rPr lang="de-DE" sz="2000" dirty="0" err="1">
                <a:latin typeface="Courier New" pitchFamily="49" charset="0"/>
              </a:rPr>
              <a:t>fail</a:t>
            </a:r>
            <a:r>
              <a:rPr lang="de-DE" sz="2000" dirty="0">
                <a:latin typeface="Courier New" pitchFamily="49" charset="0"/>
              </a:rPr>
              <a:t>()</a:t>
            </a:r>
            <a:r>
              <a:rPr lang="de-DE" sz="2000" b="1" dirty="0">
                <a:latin typeface="Courier New" pitchFamily="49" charset="0"/>
              </a:rPr>
              <a:t> </a:t>
            </a:r>
            <a:r>
              <a:rPr lang="de-DE" sz="2000" dirty="0">
                <a:latin typeface="Courier New" pitchFamily="49" charset="0"/>
              </a:rPr>
              <a:t/>
            </a:r>
            <a:br>
              <a:rPr lang="de-DE" sz="2000" dirty="0">
                <a:latin typeface="Courier New" pitchFamily="49" charset="0"/>
              </a:rPr>
            </a:br>
            <a:r>
              <a:rPr lang="de-DE" sz="2000" dirty="0">
                <a:latin typeface="Courier New" pitchFamily="49" charset="0"/>
              </a:rPr>
              <a:t>	// </a:t>
            </a:r>
            <a:r>
              <a:rPr lang="de-DE" sz="2000" dirty="0" err="1">
                <a:latin typeface="Courier New" pitchFamily="49" charset="0"/>
              </a:rPr>
              <a:t>obj</a:t>
            </a:r>
            <a:r>
              <a:rPr lang="de-DE" sz="2000" dirty="0">
                <a:latin typeface="Courier New" pitchFamily="49" charset="0"/>
              </a:rPr>
              <a:t> ist richtig eingelesen</a:t>
            </a:r>
            <a:endParaRPr lang="de-DE" sz="2000" dirty="0"/>
          </a:p>
          <a:p>
            <a:endParaRPr lang="de-DE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6E60-F8A8-4424-97D2-5F14580FED0A}" type="slidenum">
              <a:rPr lang="de-DE"/>
              <a:pPr/>
              <a:t>33</a:t>
            </a:fld>
            <a:endParaRPr lang="de-DE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.. und in deutsch?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1905000"/>
          </a:xfrm>
        </p:spPr>
        <p:txBody>
          <a:bodyPr/>
          <a:lstStyle/>
          <a:p>
            <a:r>
              <a:rPr lang="de-DE"/>
              <a:t>Aufgabe: Ausgabe eines Betrags in €</a:t>
            </a:r>
            <a:br>
              <a:rPr lang="de-DE"/>
            </a:b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sz="1800" b="1">
                <a:latin typeface="Courier New" pitchFamily="49" charset="0"/>
              </a:rPr>
              <a:t> betrag = 4.95;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betrag &lt;&lt; “€“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</a:t>
            </a:r>
            <a:endParaRPr lang="de-DE" sz="1800"/>
          </a:p>
          <a:p>
            <a:pPr>
              <a:buFontTx/>
              <a:buChar char="?"/>
            </a:pPr>
            <a:r>
              <a:rPr lang="de-DE"/>
              <a:t>Wie komme ich zu:</a:t>
            </a:r>
            <a:br>
              <a:rPr lang="de-DE"/>
            </a:br>
            <a:r>
              <a:rPr lang="de-DE" sz="2000" b="1">
                <a:latin typeface="Courier New" pitchFamily="49" charset="0"/>
              </a:rPr>
              <a:t>4,95 €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09600" y="3429000"/>
            <a:ext cx="7772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de-DE"/>
              <a:t>Lösung:</a:t>
            </a:r>
            <a:br>
              <a:rPr lang="de-DE"/>
            </a:b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.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imbue</a:t>
            </a:r>
            <a:r>
              <a:rPr lang="de-DE" sz="1800" b="1">
                <a:latin typeface="Courier New" pitchFamily="49" charset="0"/>
              </a:rPr>
              <a:t>( std::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locale</a:t>
            </a:r>
            <a:r>
              <a:rPr lang="de-DE" sz="1800" b="1">
                <a:latin typeface="Courier New" pitchFamily="49" charset="0"/>
              </a:rPr>
              <a:t>("german") );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sz="1800" b="1">
                <a:latin typeface="Courier New" pitchFamily="49" charset="0"/>
              </a:rPr>
              <a:t> betrag = 4.95;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betrag &lt;&lt; “€“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</a:t>
            </a:r>
            <a:endParaRPr lang="de-DE" sz="1800"/>
          </a:p>
          <a:p>
            <a:pPr marL="342900" indent="-342900">
              <a:spcBef>
                <a:spcPct val="20000"/>
              </a:spcBef>
              <a:buFontTx/>
              <a:buChar char="!"/>
            </a:pPr>
            <a:r>
              <a:rPr lang="de-DE"/>
              <a:t>Ergebnis:</a:t>
            </a:r>
            <a:br>
              <a:rPr lang="de-DE"/>
            </a:br>
            <a:r>
              <a:rPr lang="de-DE" sz="2000" b="1">
                <a:latin typeface="Courier New" pitchFamily="49" charset="0"/>
              </a:rPr>
              <a:t>4,95 €</a:t>
            </a: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 flipV="1">
            <a:off x="5029200" y="4724400"/>
            <a:ext cx="3276600" cy="1371600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rot="10800000" wrap="none" lIns="92075" tIns="46038" rIns="92075" bIns="46038" anchor="ctr"/>
          <a:lstStyle/>
          <a:p>
            <a:r>
              <a:rPr lang="de-DE"/>
              <a:t>imbue: </a:t>
            </a:r>
          </a:p>
          <a:p>
            <a:r>
              <a:rPr lang="de-DE"/>
              <a:t>	durchfeuchten</a:t>
            </a:r>
          </a:p>
          <a:p>
            <a:r>
              <a:rPr lang="de-DE"/>
              <a:t>	tränken</a:t>
            </a:r>
            <a:endParaRPr lang="de-DE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21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95568-9FF0-42D0-B7F4-1650B32C3A9D}" type="slidenum">
              <a:rPr lang="de-DE"/>
              <a:pPr/>
              <a:t>34</a:t>
            </a:fld>
            <a:endParaRPr lang="de-DE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 locale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de-DE" dirty="0"/>
              <a:t>.. ist ein Sack voller Facetten (</a:t>
            </a:r>
            <a:r>
              <a:rPr lang="de-DE" b="1" dirty="0" err="1">
                <a:latin typeface="Courier New" pitchFamily="49" charset="0"/>
              </a:rPr>
              <a:t>facet</a:t>
            </a:r>
            <a:r>
              <a:rPr lang="de-DE" dirty="0"/>
              <a:t>)</a:t>
            </a:r>
          </a:p>
          <a:p>
            <a:r>
              <a:rPr lang="de-DE" dirty="0" err="1"/>
              <a:t>ctype</a:t>
            </a:r>
            <a:r>
              <a:rPr lang="de-DE" dirty="0"/>
              <a:t>	</a:t>
            </a:r>
            <a:r>
              <a:rPr lang="de-DE" dirty="0" err="1"/>
              <a:t>char</a:t>
            </a:r>
            <a:r>
              <a:rPr lang="de-DE" dirty="0"/>
              <a:t> Spezifika (z.B. </a:t>
            </a:r>
            <a:r>
              <a:rPr lang="de-DE" dirty="0" err="1"/>
              <a:t>lower</a:t>
            </a:r>
            <a:r>
              <a:rPr lang="de-DE" dirty="0"/>
              <a:t>/</a:t>
            </a:r>
            <a:r>
              <a:rPr lang="de-DE" dirty="0" err="1"/>
              <a:t>uppercase</a:t>
            </a:r>
            <a:r>
              <a:rPr lang="de-DE" dirty="0"/>
              <a:t>)</a:t>
            </a:r>
          </a:p>
          <a:p>
            <a:r>
              <a:rPr lang="de-DE" dirty="0" err="1"/>
              <a:t>codecvt</a:t>
            </a:r>
            <a:r>
              <a:rPr lang="de-DE" dirty="0"/>
              <a:t>	</a:t>
            </a:r>
            <a:r>
              <a:rPr lang="de-DE" dirty="0" err="1"/>
              <a:t>code</a:t>
            </a:r>
            <a:r>
              <a:rPr lang="de-DE" dirty="0"/>
              <a:t> </a:t>
            </a:r>
            <a:r>
              <a:rPr lang="de-DE" dirty="0" err="1"/>
              <a:t>conversion</a:t>
            </a:r>
            <a:r>
              <a:rPr lang="de-DE" dirty="0"/>
              <a:t> (</a:t>
            </a:r>
            <a:r>
              <a:rPr lang="de-DE" dirty="0" err="1"/>
              <a:t>multi</a:t>
            </a:r>
            <a:r>
              <a:rPr lang="de-DE" dirty="0"/>
              <a:t> </a:t>
            </a:r>
            <a:r>
              <a:rPr lang="de-DE" dirty="0" err="1"/>
              <a:t>byte</a:t>
            </a:r>
            <a:r>
              <a:rPr lang="de-DE" dirty="0"/>
              <a:t> </a:t>
            </a:r>
            <a:r>
              <a:rPr lang="de-DE" dirty="0" err="1"/>
              <a:t>char</a:t>
            </a:r>
            <a:r>
              <a:rPr lang="de-DE" dirty="0"/>
              <a:t>) </a:t>
            </a:r>
          </a:p>
          <a:p>
            <a:r>
              <a:rPr lang="de-DE" dirty="0" err="1"/>
              <a:t>collate</a:t>
            </a:r>
            <a:r>
              <a:rPr lang="de-DE" dirty="0"/>
              <a:t>	</a:t>
            </a:r>
            <a:r>
              <a:rPr lang="de-DE" dirty="0" err="1"/>
              <a:t>string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, </a:t>
            </a:r>
            <a:r>
              <a:rPr lang="de-DE" dirty="0" err="1"/>
              <a:t>lexical</a:t>
            </a:r>
            <a:r>
              <a:rPr lang="de-DE" dirty="0"/>
              <a:t> </a:t>
            </a:r>
            <a:r>
              <a:rPr lang="de-DE" dirty="0" err="1"/>
              <a:t>sort</a:t>
            </a:r>
            <a:endParaRPr lang="de-DE" dirty="0"/>
          </a:p>
          <a:p>
            <a:pPr>
              <a:buFont typeface="Wingdings" pitchFamily="2" charset="2"/>
              <a:buChar char="è"/>
            </a:pPr>
            <a:r>
              <a:rPr lang="de-DE" dirty="0" err="1"/>
              <a:t>monetary</a:t>
            </a:r>
            <a:r>
              <a:rPr lang="de-DE" dirty="0"/>
              <a:t>	</a:t>
            </a:r>
            <a:r>
              <a:rPr lang="de-DE" dirty="0" err="1"/>
              <a:t>Währungs</a:t>
            </a:r>
            <a:r>
              <a:rPr lang="de-DE" dirty="0"/>
              <a:t> Formatierung</a:t>
            </a:r>
          </a:p>
          <a:p>
            <a:pPr>
              <a:buFont typeface="Wingdings" pitchFamily="2" charset="2"/>
              <a:buChar char="è"/>
            </a:pPr>
            <a:r>
              <a:rPr lang="de-DE" dirty="0" err="1"/>
              <a:t>numeric</a:t>
            </a:r>
            <a:r>
              <a:rPr lang="de-DE" dirty="0"/>
              <a:t>	Formatieren von </a:t>
            </a:r>
            <a:r>
              <a:rPr lang="de-DE" dirty="0" err="1"/>
              <a:t>int</a:t>
            </a:r>
            <a:r>
              <a:rPr lang="de-DE" dirty="0"/>
              <a:t>, double &amp; Co</a:t>
            </a:r>
          </a:p>
          <a:p>
            <a:pPr>
              <a:buFont typeface="Wingdings" pitchFamily="2" charset="2"/>
              <a:buChar char="è"/>
            </a:pPr>
            <a:r>
              <a:rPr lang="de-DE" dirty="0"/>
              <a:t>time	Darstellung der Zeit</a:t>
            </a:r>
          </a:p>
          <a:p>
            <a:r>
              <a:rPr lang="de-DE" dirty="0" err="1"/>
              <a:t>messages</a:t>
            </a:r>
            <a:r>
              <a:rPr lang="de-DE" dirty="0"/>
              <a:t>	Meldungen - z.B.: „</a:t>
            </a:r>
            <a:r>
              <a:rPr lang="de-DE" dirty="0" err="1"/>
              <a:t>disc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“ in spanisch</a:t>
            </a:r>
          </a:p>
          <a:p>
            <a:r>
              <a:rPr lang="de-DE" dirty="0"/>
              <a:t>..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facet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FECE3-50D1-4980-B4E9-F899A872D21F}" type="slidenum">
              <a:rPr lang="de-DE"/>
              <a:pPr/>
              <a:t>35</a:t>
            </a:fld>
            <a:endParaRPr lang="de-DE"/>
          </a:p>
        </p:txBody>
      </p:sp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Anwendung der Facetten</a:t>
            </a: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Indirekt  - </a:t>
            </a:r>
            <a:r>
              <a:rPr lang="de-DE" dirty="0" err="1"/>
              <a:t>cout.imbue</a:t>
            </a:r>
            <a:r>
              <a:rPr lang="de-DE" dirty="0"/>
              <a:t>( </a:t>
            </a:r>
            <a:r>
              <a:rPr lang="de-DE" dirty="0" err="1"/>
              <a:t>meineLocale</a:t>
            </a:r>
            <a:r>
              <a:rPr lang="de-DE" dirty="0"/>
              <a:t> ) (s.o.);</a:t>
            </a:r>
          </a:p>
          <a:p>
            <a:r>
              <a:rPr lang="de-DE" dirty="0"/>
              <a:t>direkt (z.B.: Ausgabe der Zeit -&gt; </a:t>
            </a:r>
            <a:r>
              <a:rPr lang="de-DE" dirty="0" err="1"/>
              <a:t>time_put</a:t>
            </a:r>
            <a:r>
              <a:rPr lang="de-DE" dirty="0"/>
              <a:t>&lt;&gt;)</a:t>
            </a:r>
            <a:br>
              <a:rPr lang="de-DE" dirty="0"/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time_put</a:t>
            </a:r>
            <a:r>
              <a:rPr lang="de-DE" sz="1800" b="1" dirty="0">
                <a:latin typeface="Courier New" pitchFamily="49" charset="0"/>
              </a:rPr>
              <a:t>&lt;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&gt;&amp; </a:t>
            </a:r>
            <a:r>
              <a:rPr lang="de-DE" sz="1800" b="1" dirty="0" err="1">
                <a:latin typeface="Courier New" pitchFamily="49" charset="0"/>
              </a:rPr>
              <a:t>tmPut</a:t>
            </a:r>
            <a:r>
              <a:rPr lang="de-DE" sz="1800" b="1" dirty="0">
                <a:latin typeface="Courier New" pitchFamily="49" charset="0"/>
              </a:rPr>
              <a:t>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	=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use_facet</a:t>
            </a:r>
            <a:r>
              <a:rPr lang="de-DE" sz="1800" b="1" dirty="0">
                <a:latin typeface="Courier New" pitchFamily="49" charset="0"/>
              </a:rPr>
              <a:t>&lt;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time_put</a:t>
            </a:r>
            <a:r>
              <a:rPr lang="de-DE" sz="1800" b="1" dirty="0">
                <a:latin typeface="Courier New" pitchFamily="49" charset="0"/>
              </a:rPr>
              <a:t>&lt;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&gt; &gt;(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 dirty="0" err="1">
                <a:latin typeface="Courier New" pitchFamily="49" charset="0"/>
              </a:rPr>
              <a:t>.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getloc</a:t>
            </a:r>
            <a:r>
              <a:rPr lang="de-DE" sz="1800" b="1" dirty="0">
                <a:latin typeface="Courier New" pitchFamily="49" charset="0"/>
              </a:rPr>
              <a:t>());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struct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tm</a:t>
            </a:r>
            <a:r>
              <a:rPr lang="de-DE" sz="1800" b="1" dirty="0">
                <a:latin typeface="Courier New" pitchFamily="49" charset="0"/>
              </a:rPr>
              <a:t> zeit = ...;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string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pattern</a:t>
            </a:r>
            <a:r>
              <a:rPr lang="de-DE" sz="1800" b="1" dirty="0">
                <a:latin typeface="Courier New" pitchFamily="49" charset="0"/>
              </a:rPr>
              <a:t>( "%A, der %d. %B des Jahres %Y.\n" );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tmPut.</a:t>
            </a:r>
            <a:r>
              <a:rPr lang="de-DE" sz="1800" b="1" dirty="0">
                <a:solidFill>
                  <a:srgbClr val="CC66FF"/>
                </a:solidFill>
                <a:latin typeface="Courier New" pitchFamily="49" charset="0"/>
              </a:rPr>
              <a:t>put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 dirty="0">
                <a:latin typeface="Courier New" pitchFamily="49" charset="0"/>
              </a:rPr>
              <a:t>,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 dirty="0">
                <a:latin typeface="Courier New" pitchFamily="49" charset="0"/>
              </a:rPr>
              <a:t>, ' ',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	&amp;zeit, </a:t>
            </a:r>
            <a:r>
              <a:rPr lang="de-DE" sz="1800" b="1" dirty="0" err="1">
                <a:latin typeface="Courier New" pitchFamily="49" charset="0"/>
              </a:rPr>
              <a:t>pattern.begin</a:t>
            </a:r>
            <a:r>
              <a:rPr lang="de-DE" sz="1800" b="1" dirty="0">
                <a:latin typeface="Courier New" pitchFamily="49" charset="0"/>
              </a:rPr>
              <a:t>(), pattern.end() );</a:t>
            </a:r>
            <a:endParaRPr lang="de-DE" sz="1800" dirty="0"/>
          </a:p>
          <a:p>
            <a:pPr>
              <a:buFontTx/>
              <a:buNone/>
            </a:pPr>
            <a:r>
              <a:rPr lang="de-DE" dirty="0"/>
              <a:t>	</a:t>
            </a:r>
            <a:r>
              <a:rPr lang="de-DE" sz="2000" dirty="0"/>
              <a:t>%A - Wochentag (sprachabhängig)</a:t>
            </a:r>
          </a:p>
          <a:p>
            <a:pPr>
              <a:buFontTx/>
              <a:buNone/>
            </a:pPr>
            <a:r>
              <a:rPr lang="de-DE" sz="2000" dirty="0"/>
              <a:t>	%B - Monat (sprachabhängig)</a:t>
            </a:r>
            <a:endParaRPr lang="de-DE" dirty="0"/>
          </a:p>
          <a:p>
            <a:pPr>
              <a:buFontTx/>
              <a:buNone/>
            </a:pPr>
            <a:r>
              <a:rPr lang="de-DE" dirty="0"/>
              <a:t>	</a:t>
            </a:r>
            <a:r>
              <a:rPr lang="de-DE" sz="2000" b="1" dirty="0">
                <a:latin typeface="Courier New" pitchFamily="49" charset="0"/>
              </a:rPr>
              <a:t>&gt; Montag, der 21. Oktober des Jahres 2002.</a:t>
            </a:r>
            <a:endParaRPr lang="de-DE" dirty="0"/>
          </a:p>
          <a:p>
            <a:pPr>
              <a:buNone/>
            </a:pP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92864-3E4A-4922-A7B8-28ED2342D8BE}" type="slidenum">
              <a:rPr lang="de-DE"/>
              <a:pPr/>
              <a:t>36</a:t>
            </a:fld>
            <a:endParaRPr lang="de-DE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Manipulator mit Parameter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de-DE"/>
              <a:t>Anforderung:</a:t>
            </a:r>
            <a:br>
              <a:rPr lang="de-DE"/>
            </a:b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bar( 10 ) &lt;&lt; “ huhu“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</a:t>
            </a:r>
            <a:endParaRPr lang="de-DE" sz="1800"/>
          </a:p>
          <a:p>
            <a:pPr>
              <a:lnSpc>
                <a:spcPct val="90000"/>
              </a:lnSpc>
              <a:buFontTx/>
              <a:buNone/>
            </a:pPr>
            <a:r>
              <a:rPr lang="de-DE" sz="2000" b="1">
                <a:latin typeface="Courier New" pitchFamily="49" charset="0"/>
              </a:rPr>
              <a:t>	&gt; ========== huhu</a:t>
            </a:r>
            <a:endParaRPr lang="de-DE"/>
          </a:p>
          <a:p>
            <a:pPr>
              <a:lnSpc>
                <a:spcPct val="90000"/>
              </a:lnSpc>
            </a:pPr>
            <a:r>
              <a:rPr lang="de-DE"/>
              <a:t>Die einfache Lösung:</a:t>
            </a:r>
            <a:br>
              <a:rPr lang="de-DE"/>
            </a:b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struct</a:t>
            </a:r>
            <a:r>
              <a:rPr lang="de-DE" sz="1800" b="1">
                <a:latin typeface="Courier New" pitchFamily="49" charset="0"/>
              </a:rPr>
              <a:t> bar {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 bar(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x, .. ) : m_x(x), .. {}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m_x;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... // </a:t>
            </a:r>
            <a:r>
              <a:rPr lang="de-DE" sz="1800">
                <a:latin typeface="Courier New" pitchFamily="49" charset="0"/>
              </a:rPr>
              <a:t>evt. weitere Parameter</a:t>
            </a:r>
            <a:r>
              <a:rPr lang="de-DE" sz="1800" b="1">
                <a:latin typeface="Courier New" pitchFamily="49" charset="0"/>
              </a:rPr>
              <a:t/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};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de-DE" sz="1800" b="1">
                <a:latin typeface="Courier New" pitchFamily="49" charset="0"/>
              </a:rPr>
              <a:t>&amp;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800" b="1">
                <a:latin typeface="Courier New" pitchFamily="49" charset="0"/>
              </a:rPr>
              <a:t>&lt;&lt;(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de-DE" sz="1800" b="1">
                <a:latin typeface="Courier New" pitchFamily="49" charset="0"/>
              </a:rPr>
              <a:t>&amp; out,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800" b="1">
                <a:latin typeface="Courier New" pitchFamily="49" charset="0"/>
              </a:rPr>
              <a:t> bar &amp; m ) {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// </a:t>
            </a:r>
            <a:r>
              <a:rPr lang="de-DE" sz="1800">
                <a:latin typeface="Courier New" pitchFamily="49" charset="0"/>
              </a:rPr>
              <a:t>mache was mit </a:t>
            </a:r>
            <a:r>
              <a:rPr lang="de-DE" sz="1800" b="1">
                <a:latin typeface="Courier New" pitchFamily="49" charset="0"/>
              </a:rPr>
              <a:t>out</a:t>
            </a:r>
            <a:r>
              <a:rPr lang="de-DE" sz="1800">
                <a:latin typeface="Courier New" pitchFamily="49" charset="0"/>
              </a:rPr>
              <a:t> &amp; </a:t>
            </a:r>
            <a:r>
              <a:rPr lang="de-DE" sz="1800" b="1">
                <a:latin typeface="Courier New" pitchFamily="49" charset="0"/>
              </a:rPr>
              <a:t>m.m_x </a:t>
            </a:r>
            <a:r>
              <a:rPr lang="de-DE" sz="1800">
                <a:latin typeface="Courier New" pitchFamily="49" charset="0"/>
              </a:rPr>
              <a:t>- z.B.:</a:t>
            </a:r>
            <a:r>
              <a:rPr lang="de-DE" sz="1800" b="1">
                <a:latin typeface="Courier New" pitchFamily="49" charset="0"/>
              </a:rPr>
              <a:t/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fill_n</a:t>
            </a:r>
            <a:r>
              <a:rPr lang="de-DE" sz="1800" b="1">
                <a:latin typeface="Courier New" pitchFamily="49" charset="0"/>
              </a:rPr>
              <a:t>(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ostreambuf_iterator</a:t>
            </a:r>
            <a:r>
              <a:rPr lang="de-DE" sz="1800" b="1">
                <a:latin typeface="Courier New" pitchFamily="49" charset="0"/>
              </a:rPr>
              <a:t>&lt;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>
                <a:latin typeface="Courier New" pitchFamily="49" charset="0"/>
              </a:rPr>
              <a:t>&gt;( out.rdbuf()),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	m.m_x, ‘=‘ );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>
                <a:latin typeface="Courier New" pitchFamily="49" charset="0"/>
              </a:rPr>
              <a:t>( out );</a:t>
            </a:r>
            <a:br>
              <a:rPr lang="de-DE" sz="1800" b="1">
                <a:latin typeface="Courier New" pitchFamily="49" charset="0"/>
              </a:rPr>
            </a:br>
            <a:r>
              <a:rPr lang="de-DE" sz="1800" b="1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de-DE"/>
              <a:t>Umleiten von Ausgaben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500438"/>
            <a:ext cx="7058025" cy="2592387"/>
          </a:xfrm>
        </p:spPr>
        <p:txBody>
          <a:bodyPr/>
          <a:lstStyle/>
          <a:p>
            <a:pPr algn="l"/>
            <a:r>
              <a:rPr lang="de-DE"/>
              <a:t>Ich beantwortete mehr Fragen von der Art </a:t>
            </a:r>
          </a:p>
          <a:p>
            <a:pPr algn="l"/>
            <a:r>
              <a:rPr lang="de-DE"/>
              <a:t>„Wie formatiere ich die Ausgabe von Zahlen?“ </a:t>
            </a:r>
          </a:p>
          <a:p>
            <a:pPr algn="l"/>
            <a:r>
              <a:rPr lang="de-DE"/>
              <a:t>statt „Wie schreibe ich meinen Streambuf?“.</a:t>
            </a:r>
          </a:p>
          <a:p>
            <a:pPr algn="l"/>
            <a:r>
              <a:rPr lang="de-DE"/>
              <a:t>Offensichtlich teilt niemand meine Sicht von der Architektur der IO-Library. </a:t>
            </a:r>
            <a:br>
              <a:rPr lang="de-DE"/>
            </a:br>
            <a:r>
              <a:rPr lang="de-DE" sz="1800"/>
              <a:t>(Jerry Schwarz – Entwickler der IO-Library)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17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18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4499D-CAEA-4E8F-8FAE-6E0EE42AE3E2}" type="slidenum">
              <a:rPr lang="de-DE"/>
              <a:pPr/>
              <a:t>38</a:t>
            </a:fld>
            <a:endParaRPr lang="de-DE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Umleiten von Ein- und Ausgaben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2590800"/>
          </a:xfrm>
        </p:spPr>
        <p:txBody>
          <a:bodyPr/>
          <a:lstStyle/>
          <a:p>
            <a:r>
              <a:rPr lang="de-DE"/>
              <a:t>Bekannt aus der C-Welt sind z.B.:</a:t>
            </a:r>
            <a:br>
              <a:rPr lang="de-DE"/>
            </a:br>
            <a:r>
              <a:rPr lang="de-DE"/>
              <a:t>	sprintf( char*, ..</a:t>
            </a:r>
            <a:br>
              <a:rPr lang="de-DE"/>
            </a:br>
            <a:r>
              <a:rPr lang="de-DE"/>
              <a:t>	fprintf( FILE* , ..</a:t>
            </a:r>
          </a:p>
          <a:p>
            <a:r>
              <a:rPr lang="de-DE"/>
              <a:t>Aber iostream macht keine (!) Aussage darüber, wo z.B. eine Ausgabe hingeht.</a:t>
            </a:r>
          </a:p>
          <a:p>
            <a:r>
              <a:rPr lang="de-DE"/>
              <a:t>Wer ist für das Device zuständig ?</a:t>
            </a:r>
          </a:p>
        </p:txBody>
      </p:sp>
      <p:grpSp>
        <p:nvGrpSpPr>
          <p:cNvPr id="17427" name="Group 19"/>
          <p:cNvGrpSpPr>
            <a:grpSpLocks/>
          </p:cNvGrpSpPr>
          <p:nvPr/>
        </p:nvGrpSpPr>
        <p:grpSpPr bwMode="auto">
          <a:xfrm>
            <a:off x="1447800" y="4191000"/>
            <a:ext cx="6172200" cy="1676400"/>
            <a:chOff x="912" y="2640"/>
            <a:chExt cx="3888" cy="1056"/>
          </a:xfrm>
        </p:grpSpPr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1056" y="2832"/>
              <a:ext cx="768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basic_ios</a:t>
              </a:r>
            </a:p>
          </p:txBody>
        </p:sp>
        <p:sp>
          <p:nvSpPr>
            <p:cNvPr id="17416" name="Freeform 8"/>
            <p:cNvSpPr>
              <a:spLocks/>
            </p:cNvSpPr>
            <p:nvPr/>
          </p:nvSpPr>
          <p:spPr bwMode="auto">
            <a:xfrm>
              <a:off x="1344" y="3072"/>
              <a:ext cx="192" cy="96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96"/>
                </a:cxn>
                <a:cxn ang="0">
                  <a:pos x="192" y="96"/>
                </a:cxn>
                <a:cxn ang="0">
                  <a:pos x="96" y="0"/>
                </a:cxn>
              </a:cxnLst>
              <a:rect l="0" t="0" r="r" b="b"/>
              <a:pathLst>
                <a:path w="192" h="96">
                  <a:moveTo>
                    <a:pt x="96" y="0"/>
                  </a:moveTo>
                  <a:lnTo>
                    <a:pt x="0" y="96"/>
                  </a:lnTo>
                  <a:lnTo>
                    <a:pt x="192" y="9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7417" name="Rectangle 9"/>
            <p:cNvSpPr>
              <a:spLocks noChangeArrowheads="1"/>
            </p:cNvSpPr>
            <p:nvPr/>
          </p:nvSpPr>
          <p:spPr bwMode="auto">
            <a:xfrm>
              <a:off x="1680" y="2640"/>
              <a:ext cx="912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charT, traits</a:t>
              </a:r>
            </a:p>
          </p:txBody>
        </p:sp>
        <p:sp>
          <p:nvSpPr>
            <p:cNvPr id="17419" name="Rectangle 11"/>
            <p:cNvSpPr>
              <a:spLocks noChangeArrowheads="1"/>
            </p:cNvSpPr>
            <p:nvPr/>
          </p:nvSpPr>
          <p:spPr bwMode="auto">
            <a:xfrm>
              <a:off x="912" y="3456"/>
              <a:ext cx="105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basic_ostream</a:t>
              </a:r>
            </a:p>
          </p:txBody>
        </p:sp>
        <p:sp>
          <p:nvSpPr>
            <p:cNvPr id="17420" name="Rectangle 12"/>
            <p:cNvSpPr>
              <a:spLocks noChangeArrowheads="1"/>
            </p:cNvSpPr>
            <p:nvPr/>
          </p:nvSpPr>
          <p:spPr bwMode="auto">
            <a:xfrm>
              <a:off x="1584" y="3264"/>
              <a:ext cx="912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charT, traits</a:t>
              </a:r>
            </a:p>
          </p:txBody>
        </p:sp>
        <p:sp>
          <p:nvSpPr>
            <p:cNvPr id="17421" name="Rectangle 13"/>
            <p:cNvSpPr>
              <a:spLocks noChangeArrowheads="1"/>
            </p:cNvSpPr>
            <p:nvPr/>
          </p:nvSpPr>
          <p:spPr bwMode="auto">
            <a:xfrm>
              <a:off x="3072" y="2832"/>
              <a:ext cx="120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basic_streambuf</a:t>
              </a:r>
            </a:p>
          </p:txBody>
        </p:sp>
        <p:sp>
          <p:nvSpPr>
            <p:cNvPr id="17422" name="Rectangle 14"/>
            <p:cNvSpPr>
              <a:spLocks noChangeArrowheads="1"/>
            </p:cNvSpPr>
            <p:nvPr/>
          </p:nvSpPr>
          <p:spPr bwMode="auto">
            <a:xfrm>
              <a:off x="3744" y="2640"/>
              <a:ext cx="912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charT, traits</a:t>
              </a:r>
            </a:p>
          </p:txBody>
        </p:sp>
        <p:sp>
          <p:nvSpPr>
            <p:cNvPr id="17423" name="Freeform 15"/>
            <p:cNvSpPr>
              <a:spLocks/>
            </p:cNvSpPr>
            <p:nvPr/>
          </p:nvSpPr>
          <p:spPr bwMode="auto">
            <a:xfrm>
              <a:off x="1824" y="2880"/>
              <a:ext cx="192" cy="192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96" y="0"/>
                </a:cxn>
                <a:cxn ang="0">
                  <a:pos x="192" y="96"/>
                </a:cxn>
                <a:cxn ang="0">
                  <a:pos x="96" y="192"/>
                </a:cxn>
                <a:cxn ang="0">
                  <a:pos x="0" y="96"/>
                </a:cxn>
              </a:cxnLst>
              <a:rect l="0" t="0" r="r" b="b"/>
              <a:pathLst>
                <a:path w="192" h="192">
                  <a:moveTo>
                    <a:pt x="0" y="96"/>
                  </a:moveTo>
                  <a:lnTo>
                    <a:pt x="96" y="0"/>
                  </a:lnTo>
                  <a:lnTo>
                    <a:pt x="192" y="96"/>
                  </a:lnTo>
                  <a:lnTo>
                    <a:pt x="96" y="192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2016" y="2976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1440" y="3168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17426" name="AutoShape 18"/>
            <p:cNvSpPr>
              <a:spLocks noChangeArrowheads="1"/>
            </p:cNvSpPr>
            <p:nvPr/>
          </p:nvSpPr>
          <p:spPr bwMode="auto">
            <a:xfrm rot="2179309">
              <a:off x="4080" y="3216"/>
              <a:ext cx="720" cy="432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F77AF-431A-437B-A40A-0531B87C63C6}" type="slidenum">
              <a:rPr lang="de-DE"/>
              <a:pPr/>
              <a:t>39</a:t>
            </a:fld>
            <a:endParaRPr lang="de-DE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Umleitung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Zunächst wird ein eigener Streambuf definiert und dann ein ostream „darüber gestülpt“</a:t>
            </a:r>
          </a:p>
          <a:p>
            <a:pPr lvl="1">
              <a:buFontTx/>
              <a:buNone/>
            </a:pP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de-DE" sz="1800" b="1">
                <a:latin typeface="Courier New" pitchFamily="49" charset="0"/>
              </a:rPr>
              <a:t> MeinSB :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800" b="1">
                <a:latin typeface="Courier New" pitchFamily="49" charset="0"/>
              </a:rPr>
              <a:t>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800" b="1">
                <a:latin typeface="Courier New" pitchFamily="49" charset="0"/>
              </a:rPr>
              <a:t>::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800" b="1">
                <a:latin typeface="Courier New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de-DE" sz="1800" b="1">
                <a:latin typeface="Courier New" pitchFamily="49" charset="0"/>
              </a:rPr>
              <a:t>};</a:t>
            </a:r>
          </a:p>
          <a:p>
            <a:pPr lvl="1">
              <a:buFontTx/>
              <a:buNone/>
            </a:pPr>
            <a:r>
              <a:rPr lang="de-DE" sz="1800" b="1">
                <a:latin typeface="Courier New" pitchFamily="49" charset="0"/>
              </a:rPr>
              <a:t>MeinSb sb;</a:t>
            </a:r>
          </a:p>
          <a:p>
            <a:pPr lvl="1">
              <a:buFontTx/>
              <a:buNone/>
            </a:pP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800" b="1">
                <a:latin typeface="Courier New" pitchFamily="49" charset="0"/>
              </a:rPr>
              <a:t>::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de-DE" sz="1800" b="1">
                <a:latin typeface="Courier New" pitchFamily="49" charset="0"/>
              </a:rPr>
              <a:t> out( &amp;sb );</a:t>
            </a:r>
          </a:p>
          <a:p>
            <a:pPr lvl="1">
              <a:buFontTx/>
              <a:buNone/>
            </a:pPr>
            <a:r>
              <a:rPr lang="de-DE" sz="1800" b="1">
                <a:latin typeface="Courier New" pitchFamily="49" charset="0"/>
              </a:rPr>
              <a:t>out &lt;&lt; “Alles klar ! .. “ &lt;&lt; ...</a:t>
            </a:r>
          </a:p>
          <a:p>
            <a:r>
              <a:rPr lang="de-DE"/>
              <a:t>Der Nutzer des ostreams weiß nichts von ‚MeinSB‘</a:t>
            </a:r>
          </a:p>
          <a:p>
            <a:r>
              <a:rPr lang="de-DE"/>
              <a:t>.. übrigens der Code oben ist bereits ein „fertiger“ streambuf!</a:t>
            </a:r>
          </a:p>
        </p:txBody>
      </p:sp>
      <p:sp>
        <p:nvSpPr>
          <p:cNvPr id="18436" name="AutoShape 4"/>
          <p:cNvSpPr>
            <a:spLocks noChangeArrowheads="1"/>
          </p:cNvSpPr>
          <p:nvPr/>
        </p:nvSpPr>
        <p:spPr bwMode="auto">
          <a:xfrm>
            <a:off x="4114800" y="5029200"/>
            <a:ext cx="2819400" cy="1219200"/>
          </a:xfrm>
          <a:prstGeom prst="verticalScroll">
            <a:avLst>
              <a:gd name="adj" fmla="val 125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ein NIL-Device</a:t>
            </a:r>
            <a:endParaRPr lang="de-DE">
              <a:latin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69CFC-0AAF-4B68-B30B-57A43395917F}" type="slidenum">
              <a:rPr lang="de-DE"/>
              <a:pPr/>
              <a:t>40</a:t>
            </a:fld>
            <a:endParaRPr lang="de-DE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ungepufferter Ausgabe (1)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721225"/>
          </a:xfrm>
        </p:spPr>
        <p:txBody>
          <a:bodyPr/>
          <a:lstStyle/>
          <a:p>
            <a:r>
              <a:rPr lang="de-DE" dirty="0"/>
              <a:t>Die Funktion, die Zeichen wegschreibt sei</a:t>
            </a:r>
            <a:br>
              <a:rPr lang="de-DE" dirty="0"/>
            </a:br>
            <a:r>
              <a:rPr lang="de-DE" sz="2000" b="1" dirty="0" err="1">
                <a:latin typeface="Courier New" pitchFamily="49" charset="0"/>
              </a:rPr>
              <a:t>int</a:t>
            </a:r>
            <a:r>
              <a:rPr lang="de-DE" sz="2000" b="1" dirty="0">
                <a:latin typeface="Courier New" pitchFamily="49" charset="0"/>
              </a:rPr>
              <a:t> </a:t>
            </a:r>
            <a:r>
              <a:rPr lang="de-DE" sz="2000" b="1" dirty="0" err="1">
                <a:latin typeface="Courier New" pitchFamily="49" charset="0"/>
              </a:rPr>
              <a:t>abNachKassel</a:t>
            </a:r>
            <a:r>
              <a:rPr lang="de-DE" sz="2000" b="1" dirty="0">
                <a:latin typeface="Courier New" pitchFamily="49" charset="0"/>
              </a:rPr>
              <a:t>( </a:t>
            </a:r>
            <a:r>
              <a:rPr lang="de-DE" sz="2000" b="1" dirty="0" err="1">
                <a:latin typeface="Courier New" pitchFamily="49" charset="0"/>
              </a:rPr>
              <a:t>char</a:t>
            </a:r>
            <a:r>
              <a:rPr lang="de-DE" sz="2000" b="1" dirty="0">
                <a:latin typeface="Courier New" pitchFamily="49" charset="0"/>
              </a:rPr>
              <a:t> c ); // </a:t>
            </a:r>
            <a:r>
              <a:rPr lang="de-DE" sz="2000" b="1" dirty="0" err="1">
                <a:latin typeface="Courier New" pitchFamily="49" charset="0"/>
              </a:rPr>
              <a:t>ret</a:t>
            </a:r>
            <a:r>
              <a:rPr lang="de-DE" sz="2000" b="1" dirty="0">
                <a:latin typeface="Courier New" pitchFamily="49" charset="0"/>
              </a:rPr>
              <a:t> &lt; 0: Fehler</a:t>
            </a:r>
            <a:endParaRPr lang="de-DE" sz="2000" dirty="0"/>
          </a:p>
          <a:p>
            <a:r>
              <a:rPr lang="de-DE" dirty="0"/>
              <a:t>Alle (Ausgabe-)Wege des </a:t>
            </a:r>
            <a:r>
              <a:rPr lang="de-DE" dirty="0" err="1"/>
              <a:t>streambufs</a:t>
            </a:r>
            <a:r>
              <a:rPr lang="de-DE" dirty="0"/>
              <a:t> führen </a:t>
            </a:r>
            <a:br>
              <a:rPr lang="de-DE" dirty="0"/>
            </a:br>
            <a:r>
              <a:rPr lang="de-DE" dirty="0"/>
              <a:t>zur Methode </a:t>
            </a:r>
            <a:r>
              <a:rPr lang="de-DE" b="1" dirty="0" err="1">
                <a:latin typeface="Courier New" pitchFamily="49" charset="0"/>
              </a:rPr>
              <a:t>overflow</a:t>
            </a:r>
            <a:r>
              <a:rPr lang="de-DE" dirty="0"/>
              <a:t> !</a:t>
            </a:r>
          </a:p>
          <a:p>
            <a:pPr>
              <a:buFontTx/>
              <a:buNone/>
            </a:pPr>
            <a:r>
              <a:rPr lang="de-DE" sz="1800" b="1" dirty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MeinSB</a:t>
            </a:r>
            <a:r>
              <a:rPr lang="de-DE" sz="1800" b="1" dirty="0">
                <a:latin typeface="Courier New" pitchFamily="49" charset="0"/>
              </a:rPr>
              <a:t> :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800" b="1" dirty="0">
                <a:latin typeface="Courier New" pitchFamily="49" charset="0"/>
              </a:rPr>
              <a:t> {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protected</a:t>
            </a:r>
            <a:r>
              <a:rPr lang="de-DE" sz="1800" b="1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virtual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overflow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800" b="1" dirty="0">
                <a:latin typeface="Courier New" pitchFamily="49" charset="0"/>
              </a:rPr>
              <a:t> c = EOF ) {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800" b="1" dirty="0">
                <a:latin typeface="Courier New" pitchFamily="49" charset="0"/>
              </a:rPr>
              <a:t>( c == EOF )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>
                <a:latin typeface="Courier New" pitchFamily="49" charset="0"/>
              </a:rPr>
              <a:t>(</a:t>
            </a:r>
            <a:r>
              <a:rPr lang="de-DE" sz="18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>Ok ); </a:t>
            </a:r>
            <a:r>
              <a:rPr lang="de-DE" sz="1800" dirty="0">
                <a:latin typeface="Courier New" pitchFamily="49" charset="0"/>
              </a:rPr>
              <a:t>// nix zu tun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abNachKassel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(c) ) &lt; 0)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  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>
                <a:latin typeface="Courier New" pitchFamily="49" charset="0"/>
              </a:rPr>
              <a:t>( EOF );  </a:t>
            </a:r>
            <a:r>
              <a:rPr lang="de-DE" sz="1800" dirty="0">
                <a:latin typeface="Courier New" pitchFamily="49" charset="0"/>
              </a:rPr>
              <a:t>// Fehler</a:t>
            </a:r>
            <a:endParaRPr lang="de-DE" sz="1800" b="1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>
                <a:latin typeface="Courier New" pitchFamily="49" charset="0"/>
              </a:rPr>
              <a:t>(</a:t>
            </a:r>
            <a:r>
              <a:rPr lang="de-DE" sz="1800" b="1" dirty="0">
                <a:solidFill>
                  <a:schemeClr val="accent2"/>
                </a:solidFill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>Ok ); 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}		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smtClean="0">
                <a:latin typeface="Courier New" pitchFamily="49" charset="0"/>
              </a:rPr>
              <a:t>};</a:t>
            </a:r>
            <a:endParaRPr lang="de-DE" sz="1800" b="1" dirty="0">
              <a:latin typeface="Courier New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6371-D4EA-48D9-B843-C477B811DAC2}" type="slidenum">
              <a:rPr lang="de-DE"/>
              <a:pPr/>
              <a:t>41</a:t>
            </a:fld>
            <a:endParaRPr lang="de-DE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ungepufferter Ausgabe (2)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de-DE"/>
              <a:t>Bei allen Operationen auf Zeichen, sind deren Eigenschaften (traits) zu beachten</a:t>
            </a:r>
          </a:p>
          <a:p>
            <a:pPr>
              <a:lnSpc>
                <a:spcPct val="90000"/>
              </a:lnSpc>
            </a:pPr>
            <a:r>
              <a:rPr lang="de-DE"/>
              <a:t>Die Methode </a:t>
            </a:r>
            <a:r>
              <a:rPr lang="de-DE" sz="2000" b="1">
                <a:latin typeface="Courier New" pitchFamily="49" charset="0"/>
              </a:rPr>
              <a:t>overflow</a:t>
            </a:r>
            <a:r>
              <a:rPr lang="de-DE"/>
              <a:t> in voller „Schönheit“.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class</a:t>
            </a:r>
            <a:r>
              <a:rPr lang="de-DE" sz="1600" b="1">
                <a:latin typeface="Courier New" pitchFamily="49" charset="0"/>
              </a:rPr>
              <a:t> MeinSB :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6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600" b="1">
                <a:latin typeface="Courier New" pitchFamily="49" charset="0"/>
              </a:rPr>
              <a:t>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protected</a:t>
            </a:r>
            <a:r>
              <a:rPr lang="de-DE" sz="1600" b="1">
                <a:latin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virtual</a:t>
            </a:r>
            <a:r>
              <a:rPr lang="de-DE" sz="16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6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overflow</a:t>
            </a:r>
            <a:r>
              <a:rPr lang="de-DE" sz="1600" b="1">
                <a:latin typeface="Courier New" pitchFamily="49" charset="0"/>
              </a:rPr>
              <a:t>(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600" b="1">
                <a:latin typeface="Courier New" pitchFamily="49" charset="0"/>
              </a:rPr>
              <a:t> c 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>
                <a:latin typeface="Courier New" pitchFamily="49" charset="0"/>
              </a:rPr>
              <a:t>( !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eq_int_type</a:t>
            </a:r>
            <a:r>
              <a:rPr lang="de-DE" sz="1600" b="1">
                <a:latin typeface="Courier New" pitchFamily="49" charset="0"/>
              </a:rPr>
              <a:t>( c,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eof</a:t>
            </a:r>
            <a:r>
              <a:rPr lang="de-DE" sz="1600" b="1">
                <a:latin typeface="Courier New" pitchFamily="49" charset="0"/>
              </a:rPr>
              <a:t>())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  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>
                <a:latin typeface="Courier New" pitchFamily="49" charset="0"/>
              </a:rPr>
              <a:t>( abNachKassel(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to_char_type</a:t>
            </a:r>
            <a:r>
              <a:rPr lang="de-DE" sz="1600" b="1">
                <a:latin typeface="Courier New" pitchFamily="49" charset="0"/>
              </a:rPr>
              <a:t>( c ) ) &lt; 0)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    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>
                <a:latin typeface="Courier New" pitchFamily="49" charset="0"/>
              </a:rPr>
              <a:t>(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eof</a:t>
            </a:r>
            <a:r>
              <a:rPr lang="de-DE" sz="1600" b="1">
                <a:latin typeface="Courier New" pitchFamily="49" charset="0"/>
              </a:rPr>
              <a:t>() );  </a:t>
            </a:r>
            <a:r>
              <a:rPr lang="de-DE" sz="1600">
                <a:latin typeface="Courier New" pitchFamily="49" charset="0"/>
              </a:rPr>
              <a:t>// Fehler</a:t>
            </a:r>
            <a:endParaRPr lang="de-DE" sz="1600" b="1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>
                <a:latin typeface="Courier New" pitchFamily="49" charset="0"/>
              </a:rPr>
              <a:t>(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not_eof</a:t>
            </a:r>
            <a:r>
              <a:rPr lang="de-DE" sz="1600" b="1">
                <a:latin typeface="Courier New" pitchFamily="49" charset="0"/>
              </a:rPr>
              <a:t>( c ) ); </a:t>
            </a:r>
            <a:r>
              <a:rPr lang="de-DE" sz="1600">
                <a:latin typeface="Courier New" pitchFamily="49" charset="0"/>
              </a:rPr>
              <a:t>// Ok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  }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600" b="1">
                <a:latin typeface="Courier New" pitchFamily="49" charset="0"/>
              </a:rPr>
              <a:t>	};</a:t>
            </a:r>
          </a:p>
          <a:p>
            <a:pPr>
              <a:lnSpc>
                <a:spcPct val="90000"/>
              </a:lnSpc>
            </a:pPr>
            <a:endParaRPr lang="de-DE" sz="1600"/>
          </a:p>
          <a:p>
            <a:pPr>
              <a:lnSpc>
                <a:spcPct val="90000"/>
              </a:lnSpc>
            </a:pPr>
            <a:endParaRPr lang="de-DE"/>
          </a:p>
        </p:txBody>
      </p:sp>
      <p:sp>
        <p:nvSpPr>
          <p:cNvPr id="27654" name="AutoShape 6"/>
          <p:cNvSpPr>
            <a:spLocks noChangeArrowheads="1"/>
          </p:cNvSpPr>
          <p:nvPr/>
        </p:nvSpPr>
        <p:spPr bwMode="auto">
          <a:xfrm>
            <a:off x="6659563" y="5157788"/>
            <a:ext cx="1219200" cy="1143000"/>
          </a:xfrm>
          <a:prstGeom prst="star8">
            <a:avLst>
              <a:gd name="adj" fmla="val 3825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fertig!</a:t>
            </a:r>
            <a:endParaRPr lang="de-DE">
              <a:latin typeface="Times New Roman" pitchFamily="18" charset="0"/>
            </a:endParaRPr>
          </a:p>
        </p:txBody>
      </p:sp>
      <p:sp>
        <p:nvSpPr>
          <p:cNvPr id="27653" name="AutoShape 5"/>
          <p:cNvSpPr>
            <a:spLocks noChangeArrowheads="1"/>
          </p:cNvSpPr>
          <p:nvPr/>
        </p:nvSpPr>
        <p:spPr bwMode="auto">
          <a:xfrm>
            <a:off x="7451725" y="5805488"/>
            <a:ext cx="1223963" cy="836612"/>
          </a:xfrm>
          <a:prstGeom prst="rightArrow">
            <a:avLst>
              <a:gd name="adj1" fmla="val 50000"/>
              <a:gd name="adj2" fmla="val 36575"/>
            </a:avLst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Code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nimBg="1" autoUpdateAnimBg="0"/>
      <p:bldP spid="2765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66876-6BBF-4E49-9209-39F26585E24C}" type="slidenum">
              <a:rPr lang="de-DE"/>
              <a:pPr/>
              <a:t>42</a:t>
            </a:fld>
            <a:endParaRPr lang="de-DE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gepufferte Ausgabe – das Device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Eine gepufferte Ausgabe macht nur Sinn, wenn das Device auch mehrere Zeichen auf einmal verarbeiten kann</a:t>
            </a:r>
          </a:p>
          <a:p>
            <a:r>
              <a:rPr lang="de-DE"/>
              <a:t>Zum Beispiel: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HauWech(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8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>
                <a:latin typeface="Courier New" pitchFamily="49" charset="0"/>
              </a:rPr>
              <a:t>* pBase,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unsigned</a:t>
            </a:r>
            <a:r>
              <a:rPr lang="de-DE" sz="1800" b="1">
                <a:latin typeface="Courier New" pitchFamily="49" charset="0"/>
              </a:rPr>
              <a:t> anz );</a:t>
            </a:r>
          </a:p>
          <a:p>
            <a:r>
              <a:rPr lang="de-DE"/>
              <a:t>In der Praxis ist die gepufferte Ausgabe der Normalfall! </a:t>
            </a:r>
          </a:p>
          <a:p>
            <a:r>
              <a:rPr lang="de-DE"/>
              <a:t>Die Pufferung führt dazu, dass Zeichen im Streambuf verbleiben und später „im Stück“ geschrieben werden.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out &lt;&lt; “Juhee“ &lt;&lt;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600" b="1">
                <a:latin typeface="Courier New" pitchFamily="49" charset="0"/>
              </a:rPr>
              <a:t>; </a:t>
            </a:r>
            <a:r>
              <a:rPr lang="de-DE" sz="1600">
                <a:latin typeface="Courier New" pitchFamily="49" charset="0"/>
              </a:rPr>
              <a:t>// endl führt zum sync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2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2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B1BE-256A-4386-94F3-B703B9942468}" type="slidenum">
              <a:rPr lang="de-DE"/>
              <a:pPr/>
              <a:t>43</a:t>
            </a:fld>
            <a:endParaRPr lang="de-DE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gepufferte Ausgabe - setp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3657600"/>
          </a:xfrm>
        </p:spPr>
        <p:txBody>
          <a:bodyPr/>
          <a:lstStyle/>
          <a:p>
            <a:r>
              <a:rPr lang="de-DE"/>
              <a:t>Zunächst einmal brauchen wir einen Buffer</a:t>
            </a:r>
          </a:p>
          <a:p>
            <a:pPr>
              <a:buFontTx/>
              <a:buNone/>
            </a:pP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	class</a:t>
            </a:r>
            <a:r>
              <a:rPr lang="de-DE" sz="1600" b="1">
                <a:latin typeface="Courier New" pitchFamily="49" charset="0"/>
              </a:rPr>
              <a:t> MeinSB :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600" b="1">
                <a:latin typeface="Courier New" pitchFamily="49" charset="0"/>
              </a:rPr>
              <a:t>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600" b="1">
                <a:latin typeface="Courier New" pitchFamily="49" charset="0"/>
              </a:rPr>
              <a:t>::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600" b="1">
                <a:latin typeface="Courier New" pitchFamily="49" charset="0"/>
              </a:rPr>
              <a:t> {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private</a:t>
            </a:r>
            <a:r>
              <a:rPr lang="de-DE" sz="1600" b="1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  </a:t>
            </a:r>
            <a:r>
              <a:rPr lang="de-DE" sz="1600" b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600" b="1">
                <a:latin typeface="Courier New" pitchFamily="49" charset="0"/>
              </a:rPr>
              <a:t> m_buff[8];  </a:t>
            </a:r>
            <a:r>
              <a:rPr lang="de-DE" sz="1600">
                <a:latin typeface="Courier New" pitchFamily="49" charset="0"/>
              </a:rPr>
              <a:t>// das ist mein Buffer</a:t>
            </a:r>
            <a:endParaRPr lang="de-DE" sz="1600" b="1">
              <a:latin typeface="Courier New" pitchFamily="49" charset="0"/>
            </a:endParaRPr>
          </a:p>
          <a:p>
            <a:r>
              <a:rPr lang="de-DE"/>
              <a:t>dann teilen wir dem streambuf mit, dass und wo der Buffer existiert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MeinSB::MeinSB() { </a:t>
            </a:r>
            <a:r>
              <a:rPr lang="de-DE" sz="1600">
                <a:latin typeface="Courier New" pitchFamily="49" charset="0"/>
              </a:rPr>
              <a:t>// Konstruktor</a:t>
            </a:r>
            <a:endParaRPr lang="de-DE" sz="1600" b="1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  </a:t>
            </a:r>
            <a:r>
              <a:rPr lang="de-DE" sz="1600" b="1">
                <a:solidFill>
                  <a:srgbClr val="CC66FF"/>
                </a:solidFill>
                <a:latin typeface="Courier New" pitchFamily="49" charset="0"/>
              </a:rPr>
              <a:t>setp</a:t>
            </a:r>
            <a:r>
              <a:rPr lang="de-DE" sz="1600" b="1">
                <a:latin typeface="Courier New" pitchFamily="49" charset="0"/>
              </a:rPr>
              <a:t>( m_buff, m_buff+8 ); </a:t>
            </a:r>
            <a:r>
              <a:rPr lang="de-DE" sz="1600">
                <a:latin typeface="Courier New" pitchFamily="49" charset="0"/>
              </a:rPr>
              <a:t>// jetzt sitzen die Pointer</a:t>
            </a:r>
            <a:endParaRPr lang="de-DE" sz="1600" b="1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}</a:t>
            </a:r>
            <a:endParaRPr lang="de-DE"/>
          </a:p>
          <a:p>
            <a:endParaRPr lang="de-DE"/>
          </a:p>
        </p:txBody>
      </p:sp>
      <p:grpSp>
        <p:nvGrpSpPr>
          <p:cNvPr id="20518" name="Group 38"/>
          <p:cNvGrpSpPr>
            <a:grpSpLocks/>
          </p:cNvGrpSpPr>
          <p:nvPr/>
        </p:nvGrpSpPr>
        <p:grpSpPr bwMode="auto">
          <a:xfrm>
            <a:off x="1331913" y="4508500"/>
            <a:ext cx="5389562" cy="1571625"/>
            <a:chOff x="839" y="2840"/>
            <a:chExt cx="3395" cy="990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333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491" name="Line 11"/>
            <p:cNvSpPr>
              <a:spLocks noChangeShapeType="1"/>
            </p:cNvSpPr>
            <p:nvPr/>
          </p:nvSpPr>
          <p:spPr bwMode="auto">
            <a:xfrm flipV="1">
              <a:off x="1750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20492" name="Line 12"/>
            <p:cNvSpPr>
              <a:spLocks noChangeShapeType="1"/>
            </p:cNvSpPr>
            <p:nvPr/>
          </p:nvSpPr>
          <p:spPr bwMode="auto">
            <a:xfrm flipV="1">
              <a:off x="3648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20493" name="Text Box 13"/>
            <p:cNvSpPr txBox="1">
              <a:spLocks noChangeArrowheads="1"/>
            </p:cNvSpPr>
            <p:nvPr/>
          </p:nvSpPr>
          <p:spPr bwMode="auto">
            <a:xfrm>
              <a:off x="1632" y="3312"/>
              <a:ext cx="768" cy="5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pbase()</a:t>
              </a:r>
            </a:p>
            <a:p>
              <a:r>
                <a:rPr lang="de-DE"/>
                <a:t>pptr()</a:t>
              </a:r>
            </a:p>
          </p:txBody>
        </p:sp>
        <p:sp>
          <p:nvSpPr>
            <p:cNvPr id="20494" name="Text Box 14"/>
            <p:cNvSpPr txBox="1">
              <a:spLocks noChangeArrowheads="1"/>
            </p:cNvSpPr>
            <p:nvPr/>
          </p:nvSpPr>
          <p:spPr bwMode="auto">
            <a:xfrm>
              <a:off x="3552" y="3312"/>
              <a:ext cx="68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epptr()</a:t>
              </a:r>
            </a:p>
          </p:txBody>
        </p:sp>
        <p:sp>
          <p:nvSpPr>
            <p:cNvPr id="20495" name="Rectangle 15"/>
            <p:cNvSpPr>
              <a:spLocks noChangeArrowheads="1"/>
            </p:cNvSpPr>
            <p:nvPr/>
          </p:nvSpPr>
          <p:spPr bwMode="auto">
            <a:xfrm>
              <a:off x="189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496" name="Rectangle 16"/>
            <p:cNvSpPr>
              <a:spLocks noChangeArrowheads="1"/>
            </p:cNvSpPr>
            <p:nvPr/>
          </p:nvSpPr>
          <p:spPr bwMode="auto">
            <a:xfrm>
              <a:off x="213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497" name="Rectangle 17"/>
            <p:cNvSpPr>
              <a:spLocks noChangeArrowheads="1"/>
            </p:cNvSpPr>
            <p:nvPr/>
          </p:nvSpPr>
          <p:spPr bwMode="auto">
            <a:xfrm>
              <a:off x="237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498" name="Rectangle 18"/>
            <p:cNvSpPr>
              <a:spLocks noChangeArrowheads="1"/>
            </p:cNvSpPr>
            <p:nvPr/>
          </p:nvSpPr>
          <p:spPr bwMode="auto">
            <a:xfrm>
              <a:off x="261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499" name="Rectangle 19"/>
            <p:cNvSpPr>
              <a:spLocks noChangeArrowheads="1"/>
            </p:cNvSpPr>
            <p:nvPr/>
          </p:nvSpPr>
          <p:spPr bwMode="auto">
            <a:xfrm>
              <a:off x="285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0" name="Rectangle 20"/>
            <p:cNvSpPr>
              <a:spLocks noChangeArrowheads="1"/>
            </p:cNvSpPr>
            <p:nvPr/>
          </p:nvSpPr>
          <p:spPr bwMode="auto">
            <a:xfrm>
              <a:off x="309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1" name="Rectangle 21"/>
            <p:cNvSpPr>
              <a:spLocks noChangeArrowheads="1"/>
            </p:cNvSpPr>
            <p:nvPr/>
          </p:nvSpPr>
          <p:spPr bwMode="auto">
            <a:xfrm>
              <a:off x="165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4" name="Rectangle 24"/>
            <p:cNvSpPr>
              <a:spLocks noChangeArrowheads="1"/>
            </p:cNvSpPr>
            <p:nvPr/>
          </p:nvSpPr>
          <p:spPr bwMode="auto">
            <a:xfrm>
              <a:off x="165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5" name="Rectangle 25"/>
            <p:cNvSpPr>
              <a:spLocks noChangeArrowheads="1"/>
            </p:cNvSpPr>
            <p:nvPr/>
          </p:nvSpPr>
          <p:spPr bwMode="auto">
            <a:xfrm>
              <a:off x="189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6" name="Rectangle 26"/>
            <p:cNvSpPr>
              <a:spLocks noChangeArrowheads="1"/>
            </p:cNvSpPr>
            <p:nvPr/>
          </p:nvSpPr>
          <p:spPr bwMode="auto">
            <a:xfrm>
              <a:off x="237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7" name="Rectangle 27"/>
            <p:cNvSpPr>
              <a:spLocks noChangeArrowheads="1"/>
            </p:cNvSpPr>
            <p:nvPr/>
          </p:nvSpPr>
          <p:spPr bwMode="auto">
            <a:xfrm>
              <a:off x="213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8" name="Rectangle 28"/>
            <p:cNvSpPr>
              <a:spLocks noChangeArrowheads="1"/>
            </p:cNvSpPr>
            <p:nvPr/>
          </p:nvSpPr>
          <p:spPr bwMode="auto">
            <a:xfrm>
              <a:off x="261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09" name="Rectangle 29"/>
            <p:cNvSpPr>
              <a:spLocks noChangeArrowheads="1"/>
            </p:cNvSpPr>
            <p:nvPr/>
          </p:nvSpPr>
          <p:spPr bwMode="auto">
            <a:xfrm>
              <a:off x="285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10" name="Rectangle 30"/>
            <p:cNvSpPr>
              <a:spLocks noChangeArrowheads="1"/>
            </p:cNvSpPr>
            <p:nvPr/>
          </p:nvSpPr>
          <p:spPr bwMode="auto">
            <a:xfrm>
              <a:off x="3094" y="2880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0517" name="Text Box 37"/>
            <p:cNvSpPr txBox="1">
              <a:spLocks noChangeArrowheads="1"/>
            </p:cNvSpPr>
            <p:nvPr/>
          </p:nvSpPr>
          <p:spPr bwMode="auto">
            <a:xfrm>
              <a:off x="839" y="2840"/>
              <a:ext cx="70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m_buff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29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30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7E2D6-D4FF-4603-B69C-1B6C3E6C9833}" type="slidenum">
              <a:rPr lang="de-DE"/>
              <a:pPr/>
              <a:t>44</a:t>
            </a:fld>
            <a:endParaRPr lang="de-DE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gepufferte Ausgabe - sync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3065463"/>
          </a:xfrm>
        </p:spPr>
        <p:txBody>
          <a:bodyPr/>
          <a:lstStyle/>
          <a:p>
            <a:r>
              <a:rPr lang="de-DE" dirty="0"/>
              <a:t>Überladen der </a:t>
            </a:r>
            <a:r>
              <a:rPr lang="de-DE" dirty="0" err="1"/>
              <a:t>Streambuf</a:t>
            </a:r>
            <a:r>
              <a:rPr lang="de-DE" dirty="0"/>
              <a:t>-Methode </a:t>
            </a:r>
            <a:r>
              <a:rPr lang="de-DE" dirty="0" err="1"/>
              <a:t>sync</a:t>
            </a:r>
            <a:endParaRPr lang="de-DE" dirty="0"/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virtual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sync</a:t>
            </a:r>
            <a:r>
              <a:rPr lang="de-DE" sz="1600" b="1" dirty="0">
                <a:latin typeface="Courier New" pitchFamily="49" charset="0"/>
              </a:rPr>
              <a:t>() {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anz</a:t>
            </a:r>
            <a:r>
              <a:rPr lang="de-DE" sz="1600" b="1" dirty="0">
                <a:latin typeface="Courier New" pitchFamily="49" charset="0"/>
              </a:rPr>
              <a:t> =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pptr</a:t>
            </a:r>
            <a:r>
              <a:rPr lang="de-DE" sz="1600" b="1" dirty="0">
                <a:latin typeface="Courier New" pitchFamily="49" charset="0"/>
              </a:rPr>
              <a:t>() -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pbase</a:t>
            </a:r>
            <a:r>
              <a:rPr lang="de-DE" sz="1600" b="1" dirty="0">
                <a:latin typeface="Courier New" pitchFamily="49" charset="0"/>
              </a:rPr>
              <a:t>(); </a:t>
            </a:r>
            <a:r>
              <a:rPr lang="de-DE" sz="1600" dirty="0">
                <a:latin typeface="Courier New" pitchFamily="49" charset="0"/>
              </a:rPr>
              <a:t>// Anzahl Zeichen im </a:t>
            </a:r>
            <a:r>
              <a:rPr lang="de-DE" sz="1600" dirty="0" err="1">
                <a:latin typeface="Courier New" pitchFamily="49" charset="0"/>
              </a:rPr>
              <a:t>Buffer</a:t>
            </a:r>
            <a:endParaRPr lang="de-DE" sz="16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latin typeface="Courier New" pitchFamily="49" charset="0"/>
              </a:rPr>
              <a:t>ret</a:t>
            </a:r>
            <a:r>
              <a:rPr lang="de-DE" sz="1600" b="1" dirty="0">
                <a:latin typeface="Courier New" pitchFamily="49" charset="0"/>
              </a:rPr>
              <a:t> = </a:t>
            </a:r>
            <a:r>
              <a:rPr lang="de-DE" sz="1600" b="1" dirty="0" err="1">
                <a:latin typeface="Courier New" pitchFamily="49" charset="0"/>
              </a:rPr>
              <a:t>HauWech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pbase</a:t>
            </a:r>
            <a:r>
              <a:rPr lang="de-DE" sz="1600" b="1" dirty="0">
                <a:latin typeface="Courier New" pitchFamily="49" charset="0"/>
              </a:rPr>
              <a:t>(),  </a:t>
            </a:r>
            <a:r>
              <a:rPr lang="de-DE" sz="1600" b="1" dirty="0" err="1">
                <a:latin typeface="Courier New" pitchFamily="49" charset="0"/>
              </a:rPr>
              <a:t>anz</a:t>
            </a:r>
            <a:r>
              <a:rPr lang="de-DE" sz="1600" b="1" dirty="0">
                <a:latin typeface="Courier New" pitchFamily="49" charset="0"/>
              </a:rPr>
              <a:t> );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latin typeface="Courier New" pitchFamily="49" charset="0"/>
              </a:rPr>
              <a:t>ret</a:t>
            </a:r>
            <a:r>
              <a:rPr lang="de-DE" sz="1600" b="1" dirty="0">
                <a:latin typeface="Courier New" pitchFamily="49" charset="0"/>
              </a:rPr>
              <a:t> &lt; 0 )        </a:t>
            </a:r>
            <a:r>
              <a:rPr lang="de-DE" sz="1600" dirty="0">
                <a:latin typeface="Courier New" pitchFamily="49" charset="0"/>
              </a:rPr>
              <a:t>// Fehler ?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  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-1 );    </a:t>
            </a:r>
            <a:r>
              <a:rPr lang="de-DE" sz="1600" dirty="0">
                <a:latin typeface="Courier New" pitchFamily="49" charset="0"/>
              </a:rPr>
              <a:t>// .. Dann weitergeben</a:t>
            </a:r>
          </a:p>
          <a:p>
            <a:pPr>
              <a:buFontTx/>
              <a:buNone/>
            </a:pPr>
            <a:r>
              <a:rPr lang="en-US" sz="1600" b="1" dirty="0">
                <a:latin typeface="Courier New" pitchFamily="49" charset="0"/>
              </a:rPr>
              <a:t>	  </a:t>
            </a:r>
            <a:r>
              <a:rPr lang="en-US" sz="1600" b="1" dirty="0" err="1">
                <a:solidFill>
                  <a:srgbClr val="CC66FF"/>
                </a:solidFill>
                <a:latin typeface="Courier New" pitchFamily="49" charset="0"/>
              </a:rPr>
              <a:t>setp</a:t>
            </a:r>
            <a:r>
              <a:rPr lang="en-US" sz="1600" b="1" dirty="0">
                <a:latin typeface="Courier New" pitchFamily="49" charset="0"/>
              </a:rPr>
              <a:t>( </a:t>
            </a:r>
            <a:r>
              <a:rPr lang="en-US" sz="1600" b="1" dirty="0" err="1">
                <a:latin typeface="Courier New" pitchFamily="49" charset="0"/>
              </a:rPr>
              <a:t>m_buff</a:t>
            </a:r>
            <a:r>
              <a:rPr lang="en-US" sz="1600" b="1" dirty="0">
                <a:latin typeface="Courier New" pitchFamily="49" charset="0"/>
              </a:rPr>
              <a:t>, m_buff+8 );       </a:t>
            </a:r>
            <a:r>
              <a:rPr lang="en-US" sz="1600" dirty="0">
                <a:latin typeface="Courier New" pitchFamily="49" charset="0"/>
              </a:rPr>
              <a:t>// reset buffer</a:t>
            </a:r>
          </a:p>
          <a:p>
            <a:pPr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( 0 );                    </a:t>
            </a:r>
            <a:r>
              <a:rPr lang="de-DE" sz="1600" dirty="0">
                <a:latin typeface="Courier New" pitchFamily="49" charset="0"/>
              </a:rPr>
              <a:t>// Ok</a:t>
            </a:r>
          </a:p>
          <a:p>
            <a:pPr>
              <a:buFontTx/>
              <a:buNone/>
            </a:pPr>
            <a:r>
              <a:rPr lang="de-DE" sz="1600" dirty="0">
                <a:latin typeface="Courier New" pitchFamily="49" charset="0"/>
              </a:rPr>
              <a:t>	</a:t>
            </a:r>
            <a:r>
              <a:rPr lang="de-DE" sz="1600" b="1" dirty="0">
                <a:latin typeface="Courier New" pitchFamily="49" charset="0"/>
              </a:rPr>
              <a:t>}</a:t>
            </a:r>
          </a:p>
          <a:p>
            <a:endParaRPr lang="de-DE" dirty="0"/>
          </a:p>
        </p:txBody>
      </p:sp>
      <p:sp>
        <p:nvSpPr>
          <p:cNvPr id="21533" name="AutoShape 29"/>
          <p:cNvSpPr>
            <a:spLocks noChangeArrowheads="1"/>
          </p:cNvSpPr>
          <p:nvPr/>
        </p:nvSpPr>
        <p:spPr bwMode="auto">
          <a:xfrm>
            <a:off x="7451725" y="5805488"/>
            <a:ext cx="1223963" cy="836612"/>
          </a:xfrm>
          <a:prstGeom prst="rightArrow">
            <a:avLst>
              <a:gd name="adj1" fmla="val 50000"/>
              <a:gd name="adj2" fmla="val 36575"/>
            </a:avLst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Code</a:t>
            </a:r>
          </a:p>
        </p:txBody>
      </p:sp>
      <p:grpSp>
        <p:nvGrpSpPr>
          <p:cNvPr id="21535" name="Group 31"/>
          <p:cNvGrpSpPr>
            <a:grpSpLocks/>
          </p:cNvGrpSpPr>
          <p:nvPr/>
        </p:nvGrpSpPr>
        <p:grpSpPr bwMode="auto">
          <a:xfrm>
            <a:off x="1476375" y="4724400"/>
            <a:ext cx="5497513" cy="1216025"/>
            <a:chOff x="930" y="2976"/>
            <a:chExt cx="3463" cy="766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349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 flipV="1">
              <a:off x="1909" y="33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 flipV="1">
              <a:off x="3807" y="33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1800" y="3454"/>
              <a:ext cx="768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pbase()</a:t>
              </a:r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3711" y="3454"/>
              <a:ext cx="682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epptr()</a:t>
              </a: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205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229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3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277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8" name="Rectangle 14"/>
            <p:cNvSpPr>
              <a:spLocks noChangeArrowheads="1"/>
            </p:cNvSpPr>
            <p:nvPr/>
          </p:nvSpPr>
          <p:spPr bwMode="auto">
            <a:xfrm>
              <a:off x="301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19" name="Rectangle 15"/>
            <p:cNvSpPr>
              <a:spLocks noChangeArrowheads="1"/>
            </p:cNvSpPr>
            <p:nvPr/>
          </p:nvSpPr>
          <p:spPr bwMode="auto">
            <a:xfrm>
              <a:off x="325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181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181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J</a:t>
              </a:r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205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u</a:t>
              </a:r>
            </a:p>
          </p:txBody>
        </p:sp>
        <p:sp>
          <p:nvSpPr>
            <p:cNvPr id="21523" name="Rectangle 19"/>
            <p:cNvSpPr>
              <a:spLocks noChangeArrowheads="1"/>
            </p:cNvSpPr>
            <p:nvPr/>
          </p:nvSpPr>
          <p:spPr bwMode="auto">
            <a:xfrm>
              <a:off x="253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e</a:t>
              </a:r>
            </a:p>
          </p:txBody>
        </p:sp>
        <p:sp>
          <p:nvSpPr>
            <p:cNvPr id="21524" name="Rectangle 20"/>
            <p:cNvSpPr>
              <a:spLocks noChangeArrowheads="1"/>
            </p:cNvSpPr>
            <p:nvPr/>
          </p:nvSpPr>
          <p:spPr bwMode="auto">
            <a:xfrm>
              <a:off x="229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h</a:t>
              </a:r>
            </a:p>
          </p:txBody>
        </p:sp>
        <p:sp>
          <p:nvSpPr>
            <p:cNvPr id="21525" name="Rectangle 21"/>
            <p:cNvSpPr>
              <a:spLocks noChangeArrowheads="1"/>
            </p:cNvSpPr>
            <p:nvPr/>
          </p:nvSpPr>
          <p:spPr bwMode="auto">
            <a:xfrm>
              <a:off x="277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e</a:t>
              </a:r>
            </a:p>
          </p:txBody>
        </p:sp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301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\n</a:t>
              </a:r>
            </a:p>
          </p:txBody>
        </p:sp>
        <p:sp>
          <p:nvSpPr>
            <p:cNvPr id="21527" name="Rectangle 23"/>
            <p:cNvSpPr>
              <a:spLocks noChangeArrowheads="1"/>
            </p:cNvSpPr>
            <p:nvPr/>
          </p:nvSpPr>
          <p:spPr bwMode="auto">
            <a:xfrm>
              <a:off x="3253" y="3022"/>
              <a:ext cx="24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endParaRPr lang="de-DE"/>
            </a:p>
          </p:txBody>
        </p:sp>
        <p:sp>
          <p:nvSpPr>
            <p:cNvPr id="21529" name="Line 25"/>
            <p:cNvSpPr>
              <a:spLocks noChangeShapeType="1"/>
            </p:cNvSpPr>
            <p:nvPr/>
          </p:nvSpPr>
          <p:spPr bwMode="auto">
            <a:xfrm flipV="1">
              <a:off x="3379" y="33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21530" name="Text Box 26"/>
            <p:cNvSpPr txBox="1">
              <a:spLocks noChangeArrowheads="1"/>
            </p:cNvSpPr>
            <p:nvPr/>
          </p:nvSpPr>
          <p:spPr bwMode="auto">
            <a:xfrm>
              <a:off x="3107" y="3454"/>
              <a:ext cx="575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pptr()</a:t>
              </a:r>
            </a:p>
          </p:txBody>
        </p:sp>
        <p:sp>
          <p:nvSpPr>
            <p:cNvPr id="21534" name="Text Box 30"/>
            <p:cNvSpPr txBox="1">
              <a:spLocks noChangeArrowheads="1"/>
            </p:cNvSpPr>
            <p:nvPr/>
          </p:nvSpPr>
          <p:spPr bwMode="auto">
            <a:xfrm>
              <a:off x="930" y="2976"/>
              <a:ext cx="70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>
              <a:spAutoFit/>
            </a:bodyPr>
            <a:lstStyle/>
            <a:p>
              <a:r>
                <a:rPr lang="de-DE"/>
                <a:t>m_buff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ED594-B4BF-47CA-84BD-E06E82565163}" type="slidenum">
              <a:rPr lang="de-DE"/>
              <a:pPr/>
              <a:t>45</a:t>
            </a:fld>
            <a:endParaRPr lang="de-DE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gepufferte Ausgabe - overflow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1"/>
            <a:ext cx="7772400" cy="4793704"/>
          </a:xfrm>
        </p:spPr>
        <p:txBody>
          <a:bodyPr/>
          <a:lstStyle/>
          <a:p>
            <a:r>
              <a:rPr lang="de-DE" dirty="0"/>
              <a:t>Jeder Puffer ist endlich, also muss nach wie vor auf den </a:t>
            </a:r>
            <a:r>
              <a:rPr lang="de-DE" dirty="0" err="1"/>
              <a:t>overflow</a:t>
            </a:r>
            <a:r>
              <a:rPr lang="de-DE" dirty="0"/>
              <a:t> reagiert werden.</a:t>
            </a:r>
          </a:p>
          <a:p>
            <a:r>
              <a:rPr lang="de-DE" dirty="0"/>
              <a:t>Die </a:t>
            </a:r>
            <a:r>
              <a:rPr lang="de-DE" dirty="0" err="1"/>
              <a:t>user-defined</a:t>
            </a:r>
            <a:r>
              <a:rPr lang="de-DE" dirty="0"/>
              <a:t> private Methode </a:t>
            </a:r>
            <a:r>
              <a:rPr lang="de-DE" dirty="0" err="1"/>
              <a:t>write_to_device</a:t>
            </a:r>
            <a:r>
              <a:rPr lang="de-DE" dirty="0"/>
              <a:t> schreibt den Inhalt des Puffers in das Device.</a:t>
            </a:r>
            <a:r>
              <a:rPr lang="de-DE" sz="2000" dirty="0"/>
              <a:t>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600" b="1" dirty="0">
                <a:latin typeface="Courier New" pitchFamily="49" charset="0"/>
              </a:rPr>
              <a:t>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overflow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int_type</a:t>
            </a:r>
            <a:r>
              <a:rPr lang="de-DE" sz="1600" b="1" dirty="0">
                <a:latin typeface="Courier New" pitchFamily="49" charset="0"/>
              </a:rPr>
              <a:t> c =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eof</a:t>
            </a:r>
            <a:r>
              <a:rPr lang="de-DE" sz="1600" b="1" dirty="0">
                <a:latin typeface="Courier New" pitchFamily="49" charset="0"/>
              </a:rPr>
              <a:t>() 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latin typeface="Courier New" pitchFamily="49" charset="0"/>
              </a:rPr>
              <a:t>write_to_device</a:t>
            </a:r>
            <a:r>
              <a:rPr lang="de-DE" sz="1600" b="1" dirty="0">
                <a:latin typeface="Courier New" pitchFamily="49" charset="0"/>
              </a:rPr>
              <a:t>() &lt; 0 )  </a:t>
            </a:r>
            <a:r>
              <a:rPr lang="de-DE" sz="1600" dirty="0">
                <a:latin typeface="Courier New" pitchFamily="49" charset="0"/>
              </a:rPr>
              <a:t>// nach </a:t>
            </a:r>
            <a:r>
              <a:rPr lang="de-DE" sz="1600" dirty="0" err="1">
                <a:latin typeface="Courier New" pitchFamily="49" charset="0"/>
              </a:rPr>
              <a:t>device</a:t>
            </a:r>
            <a:r>
              <a:rPr lang="de-DE" sz="1600" dirty="0">
                <a:latin typeface="Courier New" pitchFamily="49" charset="0"/>
              </a:rPr>
              <a:t> schreiben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  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eof</a:t>
            </a:r>
            <a:r>
              <a:rPr lang="de-DE" sz="1600" b="1" dirty="0">
                <a:latin typeface="Courier New" pitchFamily="49" charset="0"/>
              </a:rPr>
              <a:t>() );  </a:t>
            </a:r>
            <a:r>
              <a:rPr lang="de-DE" sz="1600" dirty="0">
                <a:latin typeface="Courier New" pitchFamily="49" charset="0"/>
              </a:rPr>
              <a:t>// </a:t>
            </a:r>
            <a:r>
              <a:rPr lang="de-DE" sz="1600" dirty="0" err="1">
                <a:latin typeface="Courier New" pitchFamily="49" charset="0"/>
              </a:rPr>
              <a:t>Oops</a:t>
            </a:r>
            <a:r>
              <a:rPr lang="de-DE" sz="1600" dirty="0">
                <a:latin typeface="Courier New" pitchFamily="49" charset="0"/>
              </a:rPr>
              <a:t>! - Fehler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eq_int_type</a:t>
            </a:r>
            <a:r>
              <a:rPr lang="de-DE" sz="1600" b="1" dirty="0">
                <a:latin typeface="Courier New" pitchFamily="49" charset="0"/>
              </a:rPr>
              <a:t>( c,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eof</a:t>
            </a:r>
            <a:r>
              <a:rPr lang="de-DE" sz="1600" b="1" dirty="0">
                <a:latin typeface="Courier New" pitchFamily="49" charset="0"/>
              </a:rPr>
              <a:t>()) 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  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not_eof</a:t>
            </a:r>
            <a:r>
              <a:rPr lang="de-DE" sz="1600" b="1" dirty="0">
                <a:latin typeface="Courier New" pitchFamily="49" charset="0"/>
              </a:rPr>
              <a:t>( c ) );</a:t>
            </a:r>
          </a:p>
          <a:p>
            <a:pPr>
              <a:lnSpc>
                <a:spcPct val="80000"/>
              </a:lnSpc>
              <a:buFontTx/>
              <a:buNone/>
            </a:pPr>
            <a:endParaRPr lang="de-DE" sz="1600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*</a:t>
            </a:r>
            <a:r>
              <a:rPr lang="de-DE" sz="1600" b="1" dirty="0" err="1">
                <a:solidFill>
                  <a:srgbClr val="3366FF"/>
                </a:solidFill>
                <a:latin typeface="Courier New" pitchFamily="49" charset="0"/>
              </a:rPr>
              <a:t>pptr</a:t>
            </a:r>
            <a:r>
              <a:rPr lang="de-DE" sz="1600" b="1" dirty="0">
                <a:latin typeface="Courier New" pitchFamily="49" charset="0"/>
              </a:rPr>
              <a:t>() =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600" b="1" dirty="0">
                <a:latin typeface="Courier New" pitchFamily="49" charset="0"/>
              </a:rPr>
              <a:t>::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to_char_type</a:t>
            </a:r>
            <a:r>
              <a:rPr lang="de-DE" sz="1600" b="1" dirty="0">
                <a:latin typeface="Courier New" pitchFamily="49" charset="0"/>
              </a:rPr>
              <a:t>( c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rgbClr val="CC66FF"/>
                </a:solidFill>
                <a:latin typeface="Courier New" pitchFamily="49" charset="0"/>
              </a:rPr>
              <a:t>pbump</a:t>
            </a:r>
            <a:r>
              <a:rPr lang="de-DE" sz="1600" b="1" dirty="0">
                <a:latin typeface="Courier New" pitchFamily="49" charset="0"/>
              </a:rPr>
              <a:t>( 1 );                     </a:t>
            </a:r>
            <a:r>
              <a:rPr lang="de-DE" sz="1600" dirty="0">
                <a:latin typeface="Courier New" pitchFamily="49" charset="0"/>
              </a:rPr>
              <a:t>// </a:t>
            </a:r>
            <a:r>
              <a:rPr lang="de-DE" sz="1600" dirty="0" err="1">
                <a:latin typeface="Courier New" pitchFamily="49" charset="0"/>
              </a:rPr>
              <a:t>pptr</a:t>
            </a:r>
            <a:r>
              <a:rPr lang="de-DE" sz="1600" dirty="0">
                <a:latin typeface="Courier New" pitchFamily="49" charset="0"/>
              </a:rPr>
              <a:t> += 1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  </a:t>
            </a:r>
            <a:r>
              <a:rPr lang="de-DE" sz="16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600" b="1" dirty="0">
                <a:latin typeface="Courier New" pitchFamily="49" charset="0"/>
              </a:rPr>
              <a:t>( c );                    </a:t>
            </a:r>
            <a:r>
              <a:rPr lang="de-DE" sz="1600" dirty="0">
                <a:latin typeface="Courier New" pitchFamily="49" charset="0"/>
              </a:rPr>
              <a:t>// Ok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de-DE" sz="1600" b="1" dirty="0">
                <a:latin typeface="Courier New" pitchFamily="49" charset="0"/>
              </a:rPr>
              <a:t>	}</a:t>
            </a:r>
            <a:endParaRPr lang="de-DE" sz="1400" dirty="0"/>
          </a:p>
          <a:p>
            <a:pPr>
              <a:lnSpc>
                <a:spcPct val="80000"/>
              </a:lnSpc>
            </a:pPr>
            <a:endParaRPr lang="de-DE" sz="1400" dirty="0"/>
          </a:p>
          <a:p>
            <a:pPr>
              <a:lnSpc>
                <a:spcPct val="80000"/>
              </a:lnSpc>
            </a:pPr>
            <a:endParaRPr lang="de-DE" dirty="0"/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7740650" y="5516563"/>
            <a:ext cx="582613" cy="7016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>
            <a:spAutoFit/>
          </a:bodyPr>
          <a:lstStyle/>
          <a:p>
            <a:r>
              <a:rPr lang="de-DE" sz="4000">
                <a:latin typeface="Times New Roman" pitchFamily="18" charset="0"/>
                <a:sym typeface="Wingdings" pitchFamily="2" charset="2"/>
              </a:rPr>
              <a:t>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C1F8E-1097-44CC-8080-38E4491EF673}" type="slidenum">
              <a:rPr lang="de-DE" smtClean="0"/>
              <a:pPr/>
              <a:t>46</a:t>
            </a:fld>
            <a:endParaRPr lang="de-DE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Der CAN-Streambuf</a:t>
            </a:r>
            <a:endParaRPr lang="de-DE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62913" cy="4724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de-DE" smtClean="0"/>
              <a:t>Anforderung: Diese Anwendung</a:t>
            </a:r>
          </a:p>
          <a:p>
            <a:pPr>
              <a:buFontTx/>
              <a:buNone/>
            </a:pPr>
            <a:r>
              <a:rPr lang="en-US" sz="1600" b="1" smtClean="0">
                <a:latin typeface="Courier New" pitchFamily="49" charset="0"/>
              </a:rPr>
              <a:t>	</a:t>
            </a:r>
            <a:r>
              <a:rPr lang="en-US" sz="1800" b="1" smtClean="0">
                <a:latin typeface="Courier New" pitchFamily="49" charset="0"/>
              </a:rPr>
              <a:t>CCanStreambuf canSb( 0, 0x203 );  </a:t>
            </a:r>
            <a:r>
              <a:rPr lang="en-US" sz="1800" smtClean="0">
                <a:latin typeface="Courier New" pitchFamily="49" charset="0"/>
              </a:rPr>
              <a:t>// CAN-Id = 0x203</a:t>
            </a:r>
          </a:p>
          <a:p>
            <a:pPr>
              <a:buFontTx/>
              <a:buNone/>
            </a:pPr>
            <a:r>
              <a:rPr lang="en-US" sz="1800" b="1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en-US" sz="1800" b="1" smtClean="0">
                <a:latin typeface="Courier New" pitchFamily="49" charset="0"/>
              </a:rPr>
              <a:t> can( &amp;canSb );</a:t>
            </a:r>
          </a:p>
          <a:p>
            <a:pPr>
              <a:buFontTx/>
              <a:buNone/>
            </a:pPr>
            <a:r>
              <a:rPr lang="en-US" sz="1800" b="1" smtClean="0">
                <a:latin typeface="Courier New" pitchFamily="49" charset="0"/>
              </a:rPr>
              <a:t>	can &lt;&lt; "A01" &lt;&lt; </a:t>
            </a:r>
            <a:r>
              <a:rPr lang="en-US" sz="1800" b="1" smtClean="0">
                <a:solidFill>
                  <a:srgbClr val="CC66FF"/>
                </a:solidFill>
                <a:latin typeface="Courier New" pitchFamily="49" charset="0"/>
              </a:rPr>
              <a:t>flush</a:t>
            </a:r>
            <a:r>
              <a:rPr lang="en-US" sz="1800" b="1" smtClean="0">
                <a:latin typeface="Courier New" pitchFamily="49" charset="0"/>
              </a:rPr>
              <a:t>;</a:t>
            </a:r>
          </a:p>
          <a:p>
            <a:endParaRPr lang="en-US" sz="1800" smtClean="0"/>
          </a:p>
          <a:p>
            <a:pPr>
              <a:buFontTx/>
              <a:buNone/>
            </a:pPr>
            <a:r>
              <a:rPr lang="en-US" smtClean="0"/>
              <a:t>	soll zu folgendem Treiberaufruf führen:</a:t>
            </a:r>
          </a:p>
          <a:p>
            <a:pPr>
              <a:buFontTx/>
              <a:buNone/>
            </a:pPr>
            <a:r>
              <a:rPr lang="en-US" sz="1600" b="1" smtClean="0">
                <a:latin typeface="Courier New" pitchFamily="49" charset="0"/>
              </a:rPr>
              <a:t>	</a:t>
            </a:r>
            <a:r>
              <a:rPr lang="en-US" sz="1800" b="1" smtClean="0">
                <a:latin typeface="Courier New" pitchFamily="49" charset="0"/>
              </a:rPr>
              <a:t>CMSG cmsg = … ; </a:t>
            </a:r>
            <a:r>
              <a:rPr lang="en-US" sz="1800" smtClean="0">
                <a:latin typeface="Courier New" pitchFamily="49" charset="0"/>
              </a:rPr>
              <a:t>// CMSG-struct belegen</a:t>
            </a:r>
          </a:p>
          <a:p>
            <a:pPr>
              <a:buFontTx/>
              <a:buNone/>
            </a:pPr>
            <a:r>
              <a:rPr lang="en-US" sz="1800" b="1" smtClean="0">
                <a:latin typeface="Courier New" pitchFamily="49" charset="0"/>
              </a:rPr>
              <a:t>	</a:t>
            </a:r>
            <a:r>
              <a:rPr lang="en-US" sz="1800" b="1" smtClean="0">
                <a:solidFill>
                  <a:schemeClr val="accent2"/>
                </a:solidFill>
                <a:latin typeface="Courier New" pitchFamily="49" charset="0"/>
              </a:rPr>
              <a:t>long</a:t>
            </a:r>
            <a:r>
              <a:rPr lang="en-US" sz="1800" b="1" smtClean="0">
                <a:latin typeface="Courier New" pitchFamily="49" charset="0"/>
              </a:rPr>
              <a:t> anz = 1;</a:t>
            </a:r>
          </a:p>
          <a:p>
            <a:pPr>
              <a:buFontTx/>
              <a:buNone/>
            </a:pPr>
            <a:r>
              <a:rPr lang="en-US" sz="1800" b="1" smtClean="0">
                <a:latin typeface="Courier New" pitchFamily="49" charset="0"/>
              </a:rPr>
              <a:t>	canWrite( hnd, &amp;cmsg, &amp;anz, 0 ); </a:t>
            </a:r>
            <a:r>
              <a:rPr lang="en-US" sz="1600" smtClean="0">
                <a:latin typeface="Courier New" pitchFamily="49" charset="0"/>
              </a:rPr>
              <a:t>// ein Telegramm senden</a:t>
            </a:r>
          </a:p>
          <a:p>
            <a:pPr>
              <a:buFont typeface="Wingdings" pitchFamily="2" charset="2"/>
              <a:buChar char="Ø"/>
            </a:pPr>
            <a:endParaRPr lang="de-DE" smtClean="0"/>
          </a:p>
          <a:p>
            <a:pPr>
              <a:buFont typeface="Wingdings" pitchFamily="2" charset="2"/>
              <a:buChar char="Ø"/>
            </a:pPr>
            <a:r>
              <a:rPr lang="de-DE" u="sng" smtClean="0"/>
              <a:t>Bem.:</a:t>
            </a:r>
            <a:r>
              <a:rPr lang="de-DE" smtClean="0"/>
              <a:t> ein ‚flush‘ soll das Verschicken des CAN-Telegramms auslösen.</a:t>
            </a:r>
          </a:p>
          <a:p>
            <a:pPr>
              <a:buFontTx/>
              <a:buNone/>
            </a:pPr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90760-56B2-4673-BEE8-9ACD87B94F22}" type="slidenum">
              <a:rPr lang="de-DE"/>
              <a:pPr/>
              <a:t>47</a:t>
            </a:fld>
            <a:endParaRPr lang="de-DE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CAN-Streambuf – der Puffer 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96975"/>
            <a:ext cx="7772400" cy="4724400"/>
          </a:xfrm>
        </p:spPr>
        <p:txBody>
          <a:bodyPr/>
          <a:lstStyle/>
          <a:p>
            <a:r>
              <a:rPr lang="de-DE" dirty="0"/>
              <a:t>Als Puffer wird die von der CAN-Treiber-C-API gestellte Struktur (hier CMSG) verwendet.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struct</a:t>
            </a:r>
            <a:r>
              <a:rPr lang="de-DE" sz="1800" b="1" dirty="0">
                <a:latin typeface="Courier New" pitchFamily="49" charset="0"/>
              </a:rPr>
              <a:t> CMSG {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long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id</a:t>
            </a:r>
            <a:r>
              <a:rPr lang="de-DE" sz="18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unsigned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len</a:t>
            </a:r>
            <a:r>
              <a:rPr lang="de-DE" sz="18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unsigned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data</a:t>
            </a:r>
            <a:r>
              <a:rPr lang="de-DE" sz="1800" b="1" dirty="0">
                <a:latin typeface="Courier New" pitchFamily="49" charset="0"/>
              </a:rPr>
              <a:t>[8];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};</a:t>
            </a:r>
          </a:p>
          <a:p>
            <a:r>
              <a:rPr lang="de-DE" dirty="0"/>
              <a:t>Puffer in der Klasse </a:t>
            </a:r>
            <a:r>
              <a:rPr lang="de-DE" dirty="0" err="1"/>
              <a:t>CCanStreambuf</a:t>
            </a:r>
            <a:r>
              <a:rPr lang="de-DE" dirty="0"/>
              <a:t> deklarieren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CCanStreambuf</a:t>
            </a:r>
            <a:r>
              <a:rPr lang="de-DE" sz="1800" b="1" dirty="0">
                <a:latin typeface="Courier New" pitchFamily="49" charset="0"/>
              </a:rPr>
              <a:t> :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800" b="1" dirty="0">
                <a:latin typeface="Courier New" pitchFamily="49" charset="0"/>
              </a:rPr>
              <a:t> {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>
                <a:solidFill>
                  <a:schemeClr val="accent2"/>
                </a:solidFill>
                <a:latin typeface="Courier New" pitchFamily="49" charset="0"/>
              </a:rPr>
              <a:t>private</a:t>
            </a:r>
            <a:r>
              <a:rPr lang="de-DE" sz="1800" b="1" dirty="0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CMSG </a:t>
            </a:r>
            <a:r>
              <a:rPr lang="de-DE" sz="1800" b="1" dirty="0" err="1">
                <a:latin typeface="Courier New" pitchFamily="49" charset="0"/>
              </a:rPr>
              <a:t>m_msg</a:t>
            </a:r>
            <a:r>
              <a:rPr lang="de-DE" sz="1800" b="1" dirty="0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HANDLE </a:t>
            </a:r>
            <a:r>
              <a:rPr lang="de-DE" sz="1800" b="1" dirty="0" err="1">
                <a:latin typeface="Courier New" pitchFamily="49" charset="0"/>
              </a:rPr>
              <a:t>m_hnd</a:t>
            </a:r>
            <a:r>
              <a:rPr lang="de-DE" sz="1800" b="1" dirty="0">
                <a:latin typeface="Courier New" pitchFamily="49" charset="0"/>
              </a:rPr>
              <a:t>;  </a:t>
            </a:r>
            <a:r>
              <a:rPr lang="de-DE" sz="1800" dirty="0">
                <a:latin typeface="Courier New" pitchFamily="49" charset="0"/>
              </a:rPr>
              <a:t>// Handle der CAN-Verbindung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};</a:t>
            </a:r>
          </a:p>
          <a:p>
            <a:pPr>
              <a:buNone/>
            </a:pPr>
            <a:endParaRPr lang="de-DE" sz="1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456C-58E5-4E4C-ACCB-7FEA87DD56F8}" type="slidenum">
              <a:rPr lang="de-DE"/>
              <a:pPr/>
              <a:t>48</a:t>
            </a:fld>
            <a:endParaRPr lang="de-DE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CAN-Streambuf – setp &amp; sync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578350"/>
          </a:xfrm>
        </p:spPr>
        <p:txBody>
          <a:bodyPr/>
          <a:lstStyle/>
          <a:p>
            <a:r>
              <a:rPr lang="de-DE"/>
              <a:t>Im Konstruktor den Puffer bekannt machen und die CAN-Verbindung öffnen (canOpen)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</a:t>
            </a:r>
            <a:r>
              <a:rPr lang="de-DE" sz="1800" b="1">
                <a:latin typeface="Courier New" pitchFamily="49" charset="0"/>
              </a:rPr>
              <a:t>CCanStreambuf::CCanStreambuf(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long</a:t>
            </a:r>
            <a:r>
              <a:rPr lang="de-DE" sz="1800" b="1">
                <a:latin typeface="Courier New" pitchFamily="49" charset="0"/>
              </a:rPr>
              <a:t> net, .. ) {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setp</a:t>
            </a:r>
            <a:r>
              <a:rPr lang="de-DE" sz="1800" b="1">
                <a:latin typeface="Courier New" pitchFamily="49" charset="0"/>
              </a:rPr>
              <a:t>( m_msg.data, m_msg.data + 8 );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canOpen( net, 0, ..., &amp;m_hnd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}</a:t>
            </a:r>
          </a:p>
          <a:p>
            <a:r>
              <a:rPr lang="de-DE"/>
              <a:t>Auf ‚sync‘ wird das Telegramm verschickt (canWrite)</a:t>
            </a:r>
          </a:p>
          <a:p>
            <a:pPr>
              <a:buFontTx/>
              <a:buNone/>
            </a:pPr>
            <a:r>
              <a:rPr lang="de-DE" sz="16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CCanStreambuf::sync() {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m_msg.len =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pptr</a:t>
            </a:r>
            <a:r>
              <a:rPr lang="de-DE" sz="1800" b="1">
                <a:latin typeface="Courier New" pitchFamily="49" charset="0"/>
              </a:rPr>
              <a:t>() –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pbase</a:t>
            </a:r>
            <a:r>
              <a:rPr lang="de-DE" sz="1800" b="1">
                <a:latin typeface="Courier New" pitchFamily="49" charset="0"/>
              </a:rPr>
              <a:t>();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long</a:t>
            </a:r>
            <a:r>
              <a:rPr lang="de-DE" sz="1800" b="1">
                <a:latin typeface="Courier New" pitchFamily="49" charset="0"/>
              </a:rPr>
              <a:t> anz = 1;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canWrite( m_hnd, &amp;m_msg, &amp;anz, 0 );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}</a:t>
            </a:r>
          </a:p>
          <a:p>
            <a:endParaRPr lang="de-DE"/>
          </a:p>
        </p:txBody>
      </p:sp>
      <p:grpSp>
        <p:nvGrpSpPr>
          <p:cNvPr id="46086" name="Group 6"/>
          <p:cNvGrpSpPr>
            <a:grpSpLocks/>
          </p:cNvGrpSpPr>
          <p:nvPr/>
        </p:nvGrpSpPr>
        <p:grpSpPr bwMode="auto">
          <a:xfrm>
            <a:off x="7596188" y="4221163"/>
            <a:ext cx="1223962" cy="2232025"/>
            <a:chOff x="4694" y="2795"/>
            <a:chExt cx="771" cy="1406"/>
          </a:xfrm>
        </p:grpSpPr>
        <p:sp>
          <p:nvSpPr>
            <p:cNvPr id="46084" name="AutoShape 4"/>
            <p:cNvSpPr>
              <a:spLocks noChangeArrowheads="1"/>
            </p:cNvSpPr>
            <p:nvPr/>
          </p:nvSpPr>
          <p:spPr bwMode="auto">
            <a:xfrm>
              <a:off x="4694" y="2795"/>
              <a:ext cx="771" cy="99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/>
                <a:t>Kein </a:t>
              </a:r>
            </a:p>
            <a:p>
              <a:pPr algn="ctr"/>
              <a:r>
                <a:rPr lang="de-DE"/>
                <a:t>over-</a:t>
              </a:r>
            </a:p>
            <a:p>
              <a:pPr algn="ctr"/>
              <a:r>
                <a:rPr lang="de-DE"/>
                <a:t>flow</a:t>
              </a:r>
            </a:p>
          </p:txBody>
        </p:sp>
        <p:sp>
          <p:nvSpPr>
            <p:cNvPr id="46085" name="Oval 5"/>
            <p:cNvSpPr>
              <a:spLocks noChangeArrowheads="1"/>
            </p:cNvSpPr>
            <p:nvPr/>
          </p:nvSpPr>
          <p:spPr bwMode="auto">
            <a:xfrm>
              <a:off x="4921" y="3884"/>
              <a:ext cx="317" cy="317"/>
            </a:xfrm>
            <a:prstGeom prst="ellipse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36774-B42E-4479-BF39-D03237DAEBFC}" type="slidenum">
              <a:rPr lang="de-DE"/>
              <a:pPr/>
              <a:t>49</a:t>
            </a:fld>
            <a:endParaRPr lang="de-DE"/>
          </a:p>
        </p:txBody>
      </p:sp>
      <p:sp>
        <p:nvSpPr>
          <p:cNvPr id="4813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Binär-Stream - CBinStream</a:t>
            </a:r>
          </a:p>
        </p:txBody>
      </p:sp>
      <p:sp>
        <p:nvSpPr>
          <p:cNvPr id="481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772400" cy="1625600"/>
          </a:xfrm>
        </p:spPr>
        <p:txBody>
          <a:bodyPr/>
          <a:lstStyle/>
          <a:p>
            <a:r>
              <a:rPr lang="de-DE"/>
              <a:t>Da die Inhalte der CAN-Messages binär sind, war der iostream (ASCII-Format) nicht optimal geeignet.</a:t>
            </a:r>
          </a:p>
          <a:p>
            <a:pPr>
              <a:buFont typeface="Wingdings" pitchFamily="2" charset="2"/>
              <a:buChar char="Ø"/>
            </a:pPr>
            <a:r>
              <a:rPr lang="de-DE"/>
              <a:t>Eigener Stream-Typ CBinStream</a:t>
            </a:r>
          </a:p>
          <a:p>
            <a:pPr>
              <a:buFontTx/>
              <a:buNone/>
            </a:pPr>
            <a:endParaRPr lang="de-DE"/>
          </a:p>
        </p:txBody>
      </p:sp>
      <p:sp>
        <p:nvSpPr>
          <p:cNvPr id="48144" name="Rectangle 1040"/>
          <p:cNvSpPr>
            <a:spLocks noChangeArrowheads="1"/>
          </p:cNvSpPr>
          <p:nvPr/>
        </p:nvSpPr>
        <p:spPr bwMode="auto">
          <a:xfrm>
            <a:off x="684213" y="4149725"/>
            <a:ext cx="77724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de-DE"/>
              <a:t>CBinStream ist für die Konvertierung rudimentärer Datentypen (short, int, ..) in einen Zeichenstrom verantwortlich.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de-DE"/>
              <a:t>Hier wird u.a. entschieden, ob im Little- oder Big-Endian-Format konvertiert wird.</a:t>
            </a:r>
          </a:p>
          <a:p>
            <a:pPr marL="342900" indent="-342900">
              <a:spcBef>
                <a:spcPct val="20000"/>
              </a:spcBef>
            </a:pPr>
            <a:endParaRPr lang="de-DE"/>
          </a:p>
        </p:txBody>
      </p:sp>
      <p:grpSp>
        <p:nvGrpSpPr>
          <p:cNvPr id="48145" name="Group 1041"/>
          <p:cNvGrpSpPr>
            <a:grpSpLocks/>
          </p:cNvGrpSpPr>
          <p:nvPr/>
        </p:nvGrpSpPr>
        <p:grpSpPr bwMode="auto">
          <a:xfrm>
            <a:off x="4932363" y="2420938"/>
            <a:ext cx="2671762" cy="1533525"/>
            <a:chOff x="2064" y="1842"/>
            <a:chExt cx="1683" cy="966"/>
          </a:xfrm>
        </p:grpSpPr>
        <p:sp>
          <p:nvSpPr>
            <p:cNvPr id="48133" name="Rectangle 1029"/>
            <p:cNvSpPr>
              <a:spLocks noChangeArrowheads="1"/>
            </p:cNvSpPr>
            <p:nvPr/>
          </p:nvSpPr>
          <p:spPr bwMode="auto">
            <a:xfrm>
              <a:off x="2211" y="2034"/>
              <a:ext cx="768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basic_ios</a:t>
              </a:r>
            </a:p>
          </p:txBody>
        </p:sp>
        <p:sp>
          <p:nvSpPr>
            <p:cNvPr id="48134" name="Freeform 1030"/>
            <p:cNvSpPr>
              <a:spLocks/>
            </p:cNvSpPr>
            <p:nvPr/>
          </p:nvSpPr>
          <p:spPr bwMode="auto">
            <a:xfrm>
              <a:off x="2499" y="2274"/>
              <a:ext cx="192" cy="96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96"/>
                </a:cxn>
                <a:cxn ang="0">
                  <a:pos x="192" y="96"/>
                </a:cxn>
                <a:cxn ang="0">
                  <a:pos x="96" y="0"/>
                </a:cxn>
              </a:cxnLst>
              <a:rect l="0" t="0" r="r" b="b"/>
              <a:pathLst>
                <a:path w="192" h="96">
                  <a:moveTo>
                    <a:pt x="96" y="0"/>
                  </a:moveTo>
                  <a:lnTo>
                    <a:pt x="0" y="96"/>
                  </a:lnTo>
                  <a:lnTo>
                    <a:pt x="192" y="9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48135" name="Rectangle 1031"/>
            <p:cNvSpPr>
              <a:spLocks noChangeArrowheads="1"/>
            </p:cNvSpPr>
            <p:nvPr/>
          </p:nvSpPr>
          <p:spPr bwMode="auto">
            <a:xfrm>
              <a:off x="2835" y="1842"/>
              <a:ext cx="912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charT = char</a:t>
              </a:r>
            </a:p>
          </p:txBody>
        </p:sp>
        <p:sp>
          <p:nvSpPr>
            <p:cNvPr id="48142" name="Line 1038"/>
            <p:cNvSpPr>
              <a:spLocks noChangeShapeType="1"/>
            </p:cNvSpPr>
            <p:nvPr/>
          </p:nvSpPr>
          <p:spPr bwMode="auto">
            <a:xfrm>
              <a:off x="2595" y="237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48136" name="Rectangle 1032"/>
            <p:cNvSpPr>
              <a:spLocks noChangeArrowheads="1"/>
            </p:cNvSpPr>
            <p:nvPr/>
          </p:nvSpPr>
          <p:spPr bwMode="auto">
            <a:xfrm>
              <a:off x="2064" y="2568"/>
              <a:ext cx="105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CBinStream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4B7AB-A8E7-454A-AA32-962B281AA031}" type="slidenum">
              <a:rPr lang="de-DE"/>
              <a:pPr/>
              <a:t>50</a:t>
            </a:fld>
            <a:endParaRPr lang="de-DE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Ausgabe in ein Window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371600"/>
            <a:ext cx="7631113" cy="1409700"/>
          </a:xfrm>
        </p:spPr>
        <p:txBody>
          <a:bodyPr/>
          <a:lstStyle/>
          <a:p>
            <a:r>
              <a:rPr lang="de-DE"/>
              <a:t>Anforderung:</a:t>
            </a:r>
          </a:p>
          <a:p>
            <a:pPr>
              <a:buFontTx/>
              <a:buNone/>
            </a:pPr>
            <a:r>
              <a:rPr lang="de-DE" sz="20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2000" b="1">
                <a:latin typeface="Courier New" pitchFamily="49" charset="0"/>
              </a:rPr>
              <a:t> &lt;&lt; „Hy das ist cout“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2000" b="1">
                <a:latin typeface="Courier New" pitchFamily="49" charset="0"/>
              </a:rPr>
              <a:t>;</a:t>
            </a:r>
          </a:p>
          <a:p>
            <a:pPr>
              <a:buFontTx/>
              <a:buNone/>
            </a:pPr>
            <a:r>
              <a:rPr lang="de-DE" sz="20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cerr</a:t>
            </a:r>
            <a:r>
              <a:rPr lang="de-DE" sz="2000" b="1">
                <a:latin typeface="Courier New" pitchFamily="49" charset="0"/>
              </a:rPr>
              <a:t> &lt;&lt; „ERROR: ... 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2000" b="1">
                <a:latin typeface="Courier New" pitchFamily="49" charset="0"/>
              </a:rPr>
              <a:t>;</a:t>
            </a:r>
          </a:p>
          <a:p>
            <a:endParaRPr lang="de-DE" sz="2000" b="1">
              <a:latin typeface="Courier New" pitchFamily="49" charset="0"/>
            </a:endParaRPr>
          </a:p>
        </p:txBody>
      </p:sp>
      <p:graphicFrame>
        <p:nvGraphicFramePr>
          <p:cNvPr id="51207" name="Object 7"/>
          <p:cNvGraphicFramePr>
            <a:graphicFrameLocks noChangeAspect="1"/>
          </p:cNvGraphicFramePr>
          <p:nvPr>
            <p:ph sz="half" idx="2"/>
          </p:nvPr>
        </p:nvGraphicFramePr>
        <p:xfrm>
          <a:off x="3419475" y="2565400"/>
          <a:ext cx="5113338" cy="3733800"/>
        </p:xfrm>
        <a:graphic>
          <a:graphicData uri="http://schemas.openxmlformats.org/presentationml/2006/ole">
            <p:oleObj spid="_x0000_s51207" name="Paint Shop Pro Image" r:id="rId4" imgW="3287805" imgH="2400000" progId="">
              <p:embed/>
            </p:oleObj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E8FA6-14FA-4261-B8B2-BDBB7A5ED122}" type="slidenum">
              <a:rPr lang="de-DE"/>
              <a:pPr/>
              <a:t>51</a:t>
            </a:fld>
            <a:endParaRPr lang="de-DE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Umschalten eines Standard-Stream-Objekts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cout, cerr sind Objekte der iostream-Klassen und können auch genauso behandelt werden.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de-DE" sz="1800" b="1">
                <a:latin typeface="Courier New" pitchFamily="49" charset="0"/>
              </a:rPr>
              <a:t> MeinSB :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de-DE" sz="1800" b="1">
                <a:latin typeface="Courier New" pitchFamily="49" charset="0"/>
              </a:rPr>
              <a:t>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de-DE" sz="1800" b="1">
                <a:latin typeface="Courier New" pitchFamily="49" charset="0"/>
              </a:rPr>
              <a:t>::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streambuf</a:t>
            </a:r>
          </a:p>
          <a:p>
            <a:pPr>
              <a:buFontTx/>
              <a:buNone/>
            </a:pPr>
            <a:endParaRPr lang="de-DE" sz="1800" b="1">
              <a:solidFill>
                <a:srgbClr val="3366FF"/>
              </a:solidFill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MeinSB sb;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cout.rdbuf</a:t>
            </a:r>
            <a:r>
              <a:rPr lang="de-DE" sz="1800" b="1">
                <a:latin typeface="Courier New" pitchFamily="49" charset="0"/>
              </a:rPr>
              <a:t>( &amp;sb );  // Umschalten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“Hello World“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 // geht nach ‚sb‘</a:t>
            </a:r>
          </a:p>
          <a:p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97E5-2E74-4550-B4BF-40BF7F26371D}" type="slidenum">
              <a:rPr lang="de-DE"/>
              <a:pPr/>
              <a:t>52</a:t>
            </a:fld>
            <a:endParaRPr lang="de-DE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Zurückschalten nicht vergessen!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de-DE"/>
              <a:t>Nach Ende des Programms müssen die alten Streambuf‘s der Standard IO-Stream-Objekte wieder hergestellt werden!</a:t>
            </a:r>
          </a:p>
          <a:p>
            <a:r>
              <a:rPr lang="de-DE"/>
              <a:t>Initialisieren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MeinSB sb;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streambuf</a:t>
            </a:r>
            <a:r>
              <a:rPr lang="de-DE" sz="1800" b="1">
                <a:latin typeface="Courier New" pitchFamily="49" charset="0"/>
              </a:rPr>
              <a:t>* pOld =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.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rdbuf</a:t>
            </a:r>
            <a:r>
              <a:rPr lang="de-DE" sz="1800" b="1">
                <a:latin typeface="Courier New" pitchFamily="49" charset="0"/>
              </a:rPr>
              <a:t>( &amp;sb );  </a:t>
            </a:r>
            <a:r>
              <a:rPr lang="de-DE" sz="1800">
                <a:latin typeface="Courier New" pitchFamily="49" charset="0"/>
              </a:rPr>
              <a:t>// Umschalten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“Hello World“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 </a:t>
            </a:r>
            <a:r>
              <a:rPr lang="de-DE" sz="1800">
                <a:latin typeface="Courier New" pitchFamily="49" charset="0"/>
              </a:rPr>
              <a:t>// geht nach ‚sb‘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>
                <a:latin typeface="Courier New" pitchFamily="49" charset="0"/>
              </a:rPr>
              <a:t>// cout nutzen</a:t>
            </a:r>
            <a:endParaRPr lang="de-DE"/>
          </a:p>
          <a:p>
            <a:endParaRPr lang="de-DE"/>
          </a:p>
          <a:p>
            <a:r>
              <a:rPr lang="de-DE"/>
              <a:t>Beim Beenden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.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rdbuf</a:t>
            </a:r>
            <a:r>
              <a:rPr lang="de-DE" sz="1800" b="1">
                <a:latin typeface="Courier New" pitchFamily="49" charset="0"/>
              </a:rPr>
              <a:t>( pOld ); </a:t>
            </a:r>
            <a:r>
              <a:rPr lang="de-DE" sz="1800">
                <a:latin typeface="Courier New" pitchFamily="49" charset="0"/>
              </a:rPr>
              <a:t>// alten Zustand wiederherstellen</a:t>
            </a:r>
          </a:p>
        </p:txBody>
      </p:sp>
      <p:sp>
        <p:nvSpPr>
          <p:cNvPr id="56324" name="AutoShape 4"/>
          <p:cNvSpPr>
            <a:spLocks noChangeArrowheads="1"/>
          </p:cNvSpPr>
          <p:nvPr/>
        </p:nvSpPr>
        <p:spPr bwMode="auto">
          <a:xfrm>
            <a:off x="7451725" y="5805488"/>
            <a:ext cx="1223963" cy="836612"/>
          </a:xfrm>
          <a:prstGeom prst="rightArrow">
            <a:avLst>
              <a:gd name="adj1" fmla="val 50000"/>
              <a:gd name="adj2" fmla="val 36575"/>
            </a:avLst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de-DE"/>
              <a:t>RAII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AF09D-6BEF-4DFA-8508-C55A8B52C737}" type="slidenum">
              <a:rPr lang="de-DE"/>
              <a:pPr/>
              <a:t>53</a:t>
            </a:fld>
            <a:endParaRPr lang="de-DE"/>
          </a:p>
        </p:txBody>
      </p:sp>
      <p:sp>
        <p:nvSpPr>
          <p:cNvPr id="573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Ein CListCtrl-Window als Ausgabe-Device</a:t>
            </a:r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Gewählt wurde ein ListCtrl mit zwei Spalten</a:t>
            </a:r>
          </a:p>
          <a:p>
            <a:r>
              <a:rPr lang="de-DE"/>
              <a:t>Das Füllen einer neuen Spalte geschieht mit:</a:t>
            </a:r>
          </a:p>
          <a:p>
            <a:pPr>
              <a:buFontTx/>
              <a:buNone/>
            </a:pPr>
            <a:r>
              <a:rPr lang="de-DE" sz="1800">
                <a:latin typeface="Courier New" pitchFamily="49" charset="0"/>
              </a:rPr>
              <a:t>	</a:t>
            </a:r>
            <a:r>
              <a:rPr lang="de-DE" sz="1800" b="1">
                <a:latin typeface="Courier New" pitchFamily="49" charset="0"/>
              </a:rPr>
              <a:t>CListCtrl&amp; m_dev;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m_curItem;</a:t>
            </a:r>
          </a:p>
          <a:p>
            <a:pPr>
              <a:buFontTx/>
              <a:buNone/>
            </a:pPr>
            <a:endParaRPr lang="de-DE" sz="1800" b="1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item = m_dev.InsertItem( m_curItem, pfx, icon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>
                <a:latin typeface="Courier New" pitchFamily="49" charset="0"/>
              </a:rPr>
              <a:t>* txt = ..; </a:t>
            </a:r>
            <a:r>
              <a:rPr lang="de-DE" sz="1800">
                <a:latin typeface="Courier New" pitchFamily="49" charset="0"/>
              </a:rPr>
              <a:t>// von pbase() nach pptr()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m_dev.SetItemText( item, 1 , txt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++m_curItem; // nächstes Item im ListCtrl</a:t>
            </a:r>
          </a:p>
          <a:p>
            <a:r>
              <a:rPr lang="de-DE"/>
              <a:t>Notwendig sind weiter:</a:t>
            </a:r>
          </a:p>
          <a:p>
            <a:pPr lvl="1"/>
            <a:r>
              <a:rPr lang="de-DE"/>
              <a:t>Prefix ‚</a:t>
            </a:r>
            <a:r>
              <a:rPr lang="de-DE" b="1">
                <a:latin typeface="Courier New" pitchFamily="49" charset="0"/>
              </a:rPr>
              <a:t>pfx</a:t>
            </a:r>
            <a:r>
              <a:rPr lang="de-DE"/>
              <a:t>‘, in Form eines Zeitstempels</a:t>
            </a:r>
          </a:p>
          <a:p>
            <a:pPr lvl="1"/>
            <a:r>
              <a:rPr lang="de-DE"/>
              <a:t>Idx ‚</a:t>
            </a:r>
            <a:r>
              <a:rPr lang="de-DE" b="1">
                <a:latin typeface="Courier New" pitchFamily="49" charset="0"/>
              </a:rPr>
              <a:t>icon</a:t>
            </a:r>
            <a:r>
              <a:rPr lang="de-DE"/>
              <a:t>‘ der Icon-Nr. im ListCtrl</a:t>
            </a:r>
          </a:p>
          <a:p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41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42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43C03-B045-4C4C-9E53-A82D9B92135A}" type="slidenum">
              <a:rPr lang="de-DE"/>
              <a:pPr/>
              <a:t>54</a:t>
            </a:fld>
            <a:endParaRPr lang="de-DE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Architektur der Ausgabe in ein CListCtrl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96975"/>
            <a:ext cx="5399088" cy="1079500"/>
          </a:xfrm>
        </p:spPr>
        <p:txBody>
          <a:bodyPr/>
          <a:lstStyle/>
          <a:p>
            <a:r>
              <a:rPr lang="de-DE"/>
              <a:t>Durch die Zweiteilung wird das System multistream-fähig</a:t>
            </a:r>
          </a:p>
        </p:txBody>
      </p:sp>
      <p:grpSp>
        <p:nvGrpSpPr>
          <p:cNvPr id="59433" name="Group 41"/>
          <p:cNvGrpSpPr>
            <a:grpSpLocks/>
          </p:cNvGrpSpPr>
          <p:nvPr/>
        </p:nvGrpSpPr>
        <p:grpSpPr bwMode="auto">
          <a:xfrm>
            <a:off x="971550" y="2781300"/>
            <a:ext cx="2816225" cy="685800"/>
            <a:chOff x="612" y="1752"/>
            <a:chExt cx="1774" cy="432"/>
          </a:xfrm>
        </p:grpSpPr>
        <p:sp>
          <p:nvSpPr>
            <p:cNvPr id="59397" name="Rectangle 5"/>
            <p:cNvSpPr>
              <a:spLocks noChangeArrowheads="1"/>
            </p:cNvSpPr>
            <p:nvPr/>
          </p:nvSpPr>
          <p:spPr bwMode="auto">
            <a:xfrm>
              <a:off x="612" y="1944"/>
              <a:ext cx="1225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 b="1"/>
                <a:t>basic_streambuf</a:t>
              </a:r>
            </a:p>
          </p:txBody>
        </p:sp>
        <p:sp>
          <p:nvSpPr>
            <p:cNvPr id="59399" name="Rectangle 7"/>
            <p:cNvSpPr>
              <a:spLocks noChangeArrowheads="1"/>
            </p:cNvSpPr>
            <p:nvPr/>
          </p:nvSpPr>
          <p:spPr bwMode="auto">
            <a:xfrm>
              <a:off x="1474" y="1752"/>
              <a:ext cx="912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/>
                <a:t>charT = char</a:t>
              </a:r>
            </a:p>
          </p:txBody>
        </p:sp>
      </p:grpSp>
      <p:grpSp>
        <p:nvGrpSpPr>
          <p:cNvPr id="59434" name="Group 42"/>
          <p:cNvGrpSpPr>
            <a:grpSpLocks/>
          </p:cNvGrpSpPr>
          <p:nvPr/>
        </p:nvGrpSpPr>
        <p:grpSpPr bwMode="auto">
          <a:xfrm>
            <a:off x="971550" y="3467100"/>
            <a:ext cx="1962150" cy="1563688"/>
            <a:chOff x="612" y="2184"/>
            <a:chExt cx="1236" cy="985"/>
          </a:xfrm>
        </p:grpSpPr>
        <p:sp>
          <p:nvSpPr>
            <p:cNvPr id="59398" name="Freeform 6"/>
            <p:cNvSpPr>
              <a:spLocks/>
            </p:cNvSpPr>
            <p:nvPr/>
          </p:nvSpPr>
          <p:spPr bwMode="auto">
            <a:xfrm>
              <a:off x="1138" y="2184"/>
              <a:ext cx="192" cy="96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0" y="96"/>
                </a:cxn>
                <a:cxn ang="0">
                  <a:pos x="192" y="96"/>
                </a:cxn>
                <a:cxn ang="0">
                  <a:pos x="96" y="0"/>
                </a:cxn>
              </a:cxnLst>
              <a:rect l="0" t="0" r="r" b="b"/>
              <a:pathLst>
                <a:path w="192" h="96">
                  <a:moveTo>
                    <a:pt x="96" y="0"/>
                  </a:moveTo>
                  <a:lnTo>
                    <a:pt x="0" y="96"/>
                  </a:lnTo>
                  <a:lnTo>
                    <a:pt x="192" y="96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sp>
          <p:nvSpPr>
            <p:cNvPr id="59400" name="Line 8"/>
            <p:cNvSpPr>
              <a:spLocks noChangeShapeType="1"/>
            </p:cNvSpPr>
            <p:nvPr/>
          </p:nvSpPr>
          <p:spPr bwMode="auto">
            <a:xfrm>
              <a:off x="1234" y="228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endParaRPr lang="de-DE"/>
            </a:p>
          </p:txBody>
        </p:sp>
        <p:grpSp>
          <p:nvGrpSpPr>
            <p:cNvPr id="59420" name="Group 28"/>
            <p:cNvGrpSpPr>
              <a:grpSpLocks/>
            </p:cNvGrpSpPr>
            <p:nvPr/>
          </p:nvGrpSpPr>
          <p:grpSpPr bwMode="auto">
            <a:xfrm>
              <a:off x="612" y="2478"/>
              <a:ext cx="1236" cy="691"/>
              <a:chOff x="646" y="2467"/>
              <a:chExt cx="1236" cy="691"/>
            </a:xfrm>
          </p:grpSpPr>
          <p:sp>
            <p:nvSpPr>
              <p:cNvPr id="59401" name="Rectangle 9"/>
              <p:cNvSpPr>
                <a:spLocks noChangeArrowheads="1"/>
              </p:cNvSpPr>
              <p:nvPr/>
            </p:nvSpPr>
            <p:spPr bwMode="auto">
              <a:xfrm>
                <a:off x="646" y="2467"/>
                <a:ext cx="1236" cy="69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lIns="92075" tIns="46038" rIns="92075" bIns="46038" anchor="ctr"/>
              <a:lstStyle/>
              <a:p>
                <a:pPr>
                  <a:spcAft>
                    <a:spcPct val="30000"/>
                  </a:spcAft>
                </a:pPr>
                <a:r>
                  <a:rPr lang="de-DE" sz="1800" b="1"/>
                  <a:t>CListCtrlSbAdap</a:t>
                </a:r>
              </a:p>
              <a:p>
                <a:r>
                  <a:rPr lang="de-DE" sz="1600" b="1"/>
                  <a:t>char* m_buf</a:t>
                </a:r>
              </a:p>
              <a:p>
                <a:r>
                  <a:rPr lang="de-DE" sz="1600" b="1"/>
                  <a:t>int m_icon</a:t>
                </a:r>
              </a:p>
            </p:txBody>
          </p:sp>
          <p:sp>
            <p:nvSpPr>
              <p:cNvPr id="59419" name="Line 27"/>
              <p:cNvSpPr>
                <a:spLocks noChangeShapeType="1"/>
              </p:cNvSpPr>
              <p:nvPr/>
            </p:nvSpPr>
            <p:spPr bwMode="auto">
              <a:xfrm>
                <a:off x="657" y="2750"/>
                <a:ext cx="122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lIns="92075" tIns="46038" rIns="92075" bIns="46038" anchor="ctr"/>
              <a:lstStyle/>
              <a:p>
                <a:endParaRPr lang="de-DE"/>
              </a:p>
            </p:txBody>
          </p:sp>
        </p:grpSp>
      </p:grpSp>
      <p:grpSp>
        <p:nvGrpSpPr>
          <p:cNvPr id="59437" name="Group 45"/>
          <p:cNvGrpSpPr>
            <a:grpSpLocks/>
          </p:cNvGrpSpPr>
          <p:nvPr/>
        </p:nvGrpSpPr>
        <p:grpSpPr bwMode="auto">
          <a:xfrm>
            <a:off x="3635375" y="1268413"/>
            <a:ext cx="5186363" cy="4824412"/>
            <a:chOff x="2290" y="799"/>
            <a:chExt cx="3267" cy="3039"/>
          </a:xfrm>
        </p:grpSpPr>
        <p:sp>
          <p:nvSpPr>
            <p:cNvPr id="59403" name="Rectangle 11"/>
            <p:cNvSpPr>
              <a:spLocks noChangeArrowheads="1"/>
            </p:cNvSpPr>
            <p:nvPr/>
          </p:nvSpPr>
          <p:spPr bwMode="auto">
            <a:xfrm>
              <a:off x="4105" y="2477"/>
              <a:ext cx="998" cy="4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600" b="1"/>
                <a:t>{ from MFC }</a:t>
              </a:r>
            </a:p>
            <a:p>
              <a:pPr algn="ctr"/>
              <a:r>
                <a:rPr lang="de-DE" sz="1800" b="1"/>
                <a:t>CListCtrl</a:t>
              </a:r>
            </a:p>
          </p:txBody>
        </p:sp>
        <p:sp>
          <p:nvSpPr>
            <p:cNvPr id="59410" name="Rectangle 18"/>
            <p:cNvSpPr>
              <a:spLocks noChangeArrowheads="1"/>
            </p:cNvSpPr>
            <p:nvPr/>
          </p:nvSpPr>
          <p:spPr bwMode="auto">
            <a:xfrm>
              <a:off x="4105" y="3293"/>
              <a:ext cx="998" cy="4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600" b="1"/>
                <a:t>{ from MFC }</a:t>
              </a:r>
            </a:p>
            <a:p>
              <a:pPr algn="ctr"/>
              <a:r>
                <a:rPr lang="de-DE" sz="1800" b="1"/>
                <a:t>CImageList</a:t>
              </a:r>
            </a:p>
          </p:txBody>
        </p:sp>
        <p:sp>
          <p:nvSpPr>
            <p:cNvPr id="59411" name="Rectangle 19"/>
            <p:cNvSpPr>
              <a:spLocks noChangeArrowheads="1"/>
            </p:cNvSpPr>
            <p:nvPr/>
          </p:nvSpPr>
          <p:spPr bwMode="auto">
            <a:xfrm>
              <a:off x="4105" y="1660"/>
              <a:ext cx="998" cy="4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600" b="1"/>
                <a:t>{ from MFC }</a:t>
              </a:r>
            </a:p>
            <a:p>
              <a:pPr algn="ctr"/>
              <a:r>
                <a:rPr lang="de-DE" sz="1800" b="1"/>
                <a:t>CListView</a:t>
              </a:r>
            </a:p>
          </p:txBody>
        </p:sp>
        <p:sp>
          <p:nvSpPr>
            <p:cNvPr id="59412" name="Freeform 20"/>
            <p:cNvSpPr>
              <a:spLocks/>
            </p:cNvSpPr>
            <p:nvPr/>
          </p:nvSpPr>
          <p:spPr bwMode="auto">
            <a:xfrm>
              <a:off x="4514" y="2114"/>
              <a:ext cx="182" cy="181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0" y="90"/>
                </a:cxn>
                <a:cxn ang="0">
                  <a:pos x="91" y="181"/>
                </a:cxn>
                <a:cxn ang="0">
                  <a:pos x="182" y="90"/>
                </a:cxn>
                <a:cxn ang="0">
                  <a:pos x="91" y="0"/>
                </a:cxn>
              </a:cxnLst>
              <a:rect l="0" t="0" r="r" b="b"/>
              <a:pathLst>
                <a:path w="182" h="181">
                  <a:moveTo>
                    <a:pt x="91" y="0"/>
                  </a:moveTo>
                  <a:lnTo>
                    <a:pt x="0" y="90"/>
                  </a:lnTo>
                  <a:lnTo>
                    <a:pt x="91" y="181"/>
                  </a:lnTo>
                  <a:lnTo>
                    <a:pt x="182" y="9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>
              <a:off x="4605" y="2295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15" name="AutoShape 23"/>
            <p:cNvSpPr>
              <a:spLocks noChangeArrowheads="1"/>
            </p:cNvSpPr>
            <p:nvPr/>
          </p:nvSpPr>
          <p:spPr bwMode="auto">
            <a:xfrm flipV="1">
              <a:off x="3833" y="799"/>
              <a:ext cx="1724" cy="499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rot="10800000" wrap="none" lIns="92075" tIns="46038" rIns="92075" bIns="46038" anchor="ctr"/>
            <a:lstStyle/>
            <a:p>
              <a:r>
                <a:rPr lang="de-DE" sz="1800"/>
                <a:t>View der MFC-Doc/View</a:t>
              </a:r>
            </a:p>
            <a:p>
              <a:r>
                <a:rPr lang="de-DE" sz="1800"/>
                <a:t>Architektur</a:t>
              </a:r>
            </a:p>
          </p:txBody>
        </p:sp>
        <p:sp>
          <p:nvSpPr>
            <p:cNvPr id="59416" name="Line 24"/>
            <p:cNvSpPr>
              <a:spLocks noChangeShapeType="1"/>
            </p:cNvSpPr>
            <p:nvPr/>
          </p:nvSpPr>
          <p:spPr bwMode="auto">
            <a:xfrm flipH="1">
              <a:off x="4695" y="1297"/>
              <a:ext cx="272" cy="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17" name="Freeform 25"/>
            <p:cNvSpPr>
              <a:spLocks/>
            </p:cNvSpPr>
            <p:nvPr/>
          </p:nvSpPr>
          <p:spPr bwMode="auto">
            <a:xfrm>
              <a:off x="4514" y="2930"/>
              <a:ext cx="182" cy="181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0" y="90"/>
                </a:cxn>
                <a:cxn ang="0">
                  <a:pos x="91" y="181"/>
                </a:cxn>
                <a:cxn ang="0">
                  <a:pos x="182" y="90"/>
                </a:cxn>
                <a:cxn ang="0">
                  <a:pos x="91" y="0"/>
                </a:cxn>
              </a:cxnLst>
              <a:rect l="0" t="0" r="r" b="b"/>
              <a:pathLst>
                <a:path w="182" h="181">
                  <a:moveTo>
                    <a:pt x="91" y="0"/>
                  </a:moveTo>
                  <a:lnTo>
                    <a:pt x="0" y="90"/>
                  </a:lnTo>
                  <a:lnTo>
                    <a:pt x="91" y="181"/>
                  </a:lnTo>
                  <a:lnTo>
                    <a:pt x="182" y="9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18" name="Line 26"/>
            <p:cNvSpPr>
              <a:spLocks noChangeShapeType="1"/>
            </p:cNvSpPr>
            <p:nvPr/>
          </p:nvSpPr>
          <p:spPr bwMode="auto">
            <a:xfrm>
              <a:off x="4605" y="3112"/>
              <a:ext cx="0" cy="1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7" name="Line 35"/>
            <p:cNvSpPr>
              <a:spLocks noChangeShapeType="1"/>
            </p:cNvSpPr>
            <p:nvPr/>
          </p:nvSpPr>
          <p:spPr bwMode="auto">
            <a:xfrm flipH="1">
              <a:off x="3787" y="3612"/>
              <a:ext cx="318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6" name="AutoShape 34"/>
            <p:cNvSpPr>
              <a:spLocks noChangeArrowheads="1"/>
            </p:cNvSpPr>
            <p:nvPr/>
          </p:nvSpPr>
          <p:spPr bwMode="auto">
            <a:xfrm flipV="1">
              <a:off x="2290" y="3475"/>
              <a:ext cx="1542" cy="363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rot="10800000" wrap="none" lIns="92075" tIns="46038" rIns="92075" bIns="46038" anchor="ctr"/>
            <a:lstStyle/>
            <a:p>
              <a:r>
                <a:rPr lang="de-DE" sz="1800"/>
                <a:t>Verwaltung der Icons</a:t>
              </a:r>
            </a:p>
          </p:txBody>
        </p:sp>
      </p:grpSp>
      <p:grpSp>
        <p:nvGrpSpPr>
          <p:cNvPr id="59436" name="Group 44"/>
          <p:cNvGrpSpPr>
            <a:grpSpLocks/>
          </p:cNvGrpSpPr>
          <p:nvPr/>
        </p:nvGrpSpPr>
        <p:grpSpPr bwMode="auto">
          <a:xfrm>
            <a:off x="1277938" y="5030788"/>
            <a:ext cx="1636712" cy="884237"/>
            <a:chOff x="805" y="3169"/>
            <a:chExt cx="1031" cy="557"/>
          </a:xfrm>
        </p:grpSpPr>
        <p:sp>
          <p:nvSpPr>
            <p:cNvPr id="59421" name="Freeform 29"/>
            <p:cNvSpPr>
              <a:spLocks/>
            </p:cNvSpPr>
            <p:nvPr/>
          </p:nvSpPr>
          <p:spPr bwMode="auto">
            <a:xfrm>
              <a:off x="1122" y="3169"/>
              <a:ext cx="182" cy="181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0" y="90"/>
                </a:cxn>
                <a:cxn ang="0">
                  <a:pos x="91" y="181"/>
                </a:cxn>
                <a:cxn ang="0">
                  <a:pos x="182" y="90"/>
                </a:cxn>
                <a:cxn ang="0">
                  <a:pos x="91" y="0"/>
                </a:cxn>
              </a:cxnLst>
              <a:rect l="0" t="0" r="r" b="b"/>
              <a:pathLst>
                <a:path w="182" h="181">
                  <a:moveTo>
                    <a:pt x="91" y="0"/>
                  </a:moveTo>
                  <a:lnTo>
                    <a:pt x="0" y="90"/>
                  </a:lnTo>
                  <a:lnTo>
                    <a:pt x="91" y="181"/>
                  </a:lnTo>
                  <a:lnTo>
                    <a:pt x="182" y="9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2" name="Line 30"/>
            <p:cNvSpPr>
              <a:spLocks noChangeShapeType="1"/>
            </p:cNvSpPr>
            <p:nvPr/>
          </p:nvSpPr>
          <p:spPr bwMode="auto">
            <a:xfrm>
              <a:off x="1213" y="3350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3" name="Rectangle 31"/>
            <p:cNvSpPr>
              <a:spLocks noChangeArrowheads="1"/>
            </p:cNvSpPr>
            <p:nvPr/>
          </p:nvSpPr>
          <p:spPr bwMode="auto">
            <a:xfrm>
              <a:off x="805" y="3486"/>
              <a:ext cx="816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 algn="ctr"/>
              <a:r>
                <a:rPr lang="de-DE" sz="1800" b="1"/>
                <a:t>prefix</a:t>
              </a:r>
            </a:p>
          </p:txBody>
        </p:sp>
        <p:sp>
          <p:nvSpPr>
            <p:cNvPr id="59429" name="Text Box 37"/>
            <p:cNvSpPr txBox="1">
              <a:spLocks noChangeArrowheads="1"/>
            </p:cNvSpPr>
            <p:nvPr/>
          </p:nvSpPr>
          <p:spPr bwMode="auto">
            <a:xfrm>
              <a:off x="1201" y="3295"/>
              <a:ext cx="635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r>
                <a:rPr lang="de-DE" sz="1600"/>
                <a:t>m_prefix</a:t>
              </a:r>
            </a:p>
          </p:txBody>
        </p:sp>
      </p:grpSp>
      <p:grpSp>
        <p:nvGrpSpPr>
          <p:cNvPr id="59440" name="Group 48"/>
          <p:cNvGrpSpPr>
            <a:grpSpLocks/>
          </p:cNvGrpSpPr>
          <p:nvPr/>
        </p:nvGrpSpPr>
        <p:grpSpPr bwMode="auto">
          <a:xfrm>
            <a:off x="2916238" y="3860800"/>
            <a:ext cx="3600450" cy="1081088"/>
            <a:chOff x="1837" y="2432"/>
            <a:chExt cx="2268" cy="681"/>
          </a:xfrm>
        </p:grpSpPr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 flipV="1">
              <a:off x="3697" y="2704"/>
              <a:ext cx="40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06" name="Line 14"/>
            <p:cNvSpPr>
              <a:spLocks noChangeShapeType="1"/>
            </p:cNvSpPr>
            <p:nvPr/>
          </p:nvSpPr>
          <p:spPr bwMode="auto">
            <a:xfrm flipV="1">
              <a:off x="1837" y="2704"/>
              <a:ext cx="725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5" name="Text Box 33"/>
            <p:cNvSpPr txBox="1">
              <a:spLocks noChangeArrowheads="1"/>
            </p:cNvSpPr>
            <p:nvPr/>
          </p:nvSpPr>
          <p:spPr bwMode="auto">
            <a:xfrm>
              <a:off x="1837" y="2750"/>
              <a:ext cx="191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/>
                <a:t>*</a:t>
              </a:r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2563" y="2477"/>
              <a:ext cx="1225" cy="6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 anchor="ctr"/>
            <a:lstStyle/>
            <a:p>
              <a:pPr>
                <a:lnSpc>
                  <a:spcPct val="120000"/>
                </a:lnSpc>
              </a:pPr>
              <a:r>
                <a:rPr lang="de-DE" sz="1800" b="1"/>
                <a:t>CSharedListCtrl</a:t>
              </a:r>
            </a:p>
            <a:p>
              <a:pPr>
                <a:lnSpc>
                  <a:spcPct val="120000"/>
                </a:lnSpc>
              </a:pPr>
              <a:r>
                <a:rPr lang="de-DE" sz="1600" b="1"/>
                <a:t>int m_curItem</a:t>
              </a:r>
            </a:p>
            <a:p>
              <a:pPr>
                <a:lnSpc>
                  <a:spcPct val="120000"/>
                </a:lnSpc>
              </a:pPr>
              <a:r>
                <a:rPr lang="de-DE" sz="1600" b="1"/>
                <a:t>InsertItem( .. )</a:t>
              </a:r>
            </a:p>
          </p:txBody>
        </p:sp>
        <p:sp>
          <p:nvSpPr>
            <p:cNvPr id="59408" name="Line 16"/>
            <p:cNvSpPr>
              <a:spLocks noChangeShapeType="1"/>
            </p:cNvSpPr>
            <p:nvPr/>
          </p:nvSpPr>
          <p:spPr bwMode="auto">
            <a:xfrm>
              <a:off x="2563" y="2749"/>
              <a:ext cx="12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  <p:sp>
          <p:nvSpPr>
            <p:cNvPr id="59424" name="Text Box 32"/>
            <p:cNvSpPr txBox="1">
              <a:spLocks noChangeArrowheads="1"/>
            </p:cNvSpPr>
            <p:nvPr/>
          </p:nvSpPr>
          <p:spPr bwMode="auto">
            <a:xfrm>
              <a:off x="2336" y="2704"/>
              <a:ext cx="22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/>
                <a:t>1</a:t>
              </a:r>
            </a:p>
          </p:txBody>
        </p:sp>
        <p:sp>
          <p:nvSpPr>
            <p:cNvPr id="59428" name="Text Box 36"/>
            <p:cNvSpPr txBox="1">
              <a:spLocks noChangeArrowheads="1"/>
            </p:cNvSpPr>
            <p:nvPr/>
          </p:nvSpPr>
          <p:spPr bwMode="auto">
            <a:xfrm>
              <a:off x="3787" y="2432"/>
              <a:ext cx="223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r>
                <a:rPr lang="de-DE"/>
                <a:t>1</a:t>
              </a:r>
            </a:p>
          </p:txBody>
        </p:sp>
        <p:sp>
          <p:nvSpPr>
            <p:cNvPr id="59430" name="Text Box 38"/>
            <p:cNvSpPr txBox="1">
              <a:spLocks noChangeArrowheads="1"/>
            </p:cNvSpPr>
            <p:nvPr/>
          </p:nvSpPr>
          <p:spPr bwMode="auto">
            <a:xfrm>
              <a:off x="1837" y="2478"/>
              <a:ext cx="771" cy="21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r"/>
              <a:r>
                <a:rPr lang="de-DE" sz="1600"/>
                <a:t>m_spDev</a:t>
              </a:r>
            </a:p>
          </p:txBody>
        </p:sp>
        <p:sp>
          <p:nvSpPr>
            <p:cNvPr id="59439" name="Line 47"/>
            <p:cNvSpPr>
              <a:spLocks noChangeShapeType="1"/>
            </p:cNvSpPr>
            <p:nvPr/>
          </p:nvSpPr>
          <p:spPr bwMode="auto">
            <a:xfrm>
              <a:off x="2562" y="2931"/>
              <a:ext cx="12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lIns="92075" tIns="46038" rIns="92075" bIns="46038" anchor="ctr"/>
            <a:lstStyle/>
            <a:p>
              <a:endParaRPr lang="de-DE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08CF5-E280-4529-B5D2-62D184917397}" type="slidenum">
              <a:rPr lang="de-DE"/>
              <a:pPr/>
              <a:t>55</a:t>
            </a:fld>
            <a:endParaRPr lang="de-DE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Klasse CListCtrlSbAdap - overflow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latin typeface="Courier New" pitchFamily="49" charset="0"/>
              </a:rPr>
              <a:t>int_type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CListCtrlSbAdap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overflow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int_type</a:t>
            </a:r>
            <a:r>
              <a:rPr lang="de-DE" sz="1800" b="1" dirty="0">
                <a:latin typeface="Courier New" pitchFamily="49" charset="0"/>
              </a:rPr>
              <a:t> c ) {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800" b="1" dirty="0">
                <a:latin typeface="Courier New" pitchFamily="49" charset="0"/>
              </a:rPr>
              <a:t>( !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pbase</a:t>
            </a:r>
            <a:r>
              <a:rPr lang="de-DE" sz="1800" b="1" dirty="0">
                <a:latin typeface="Courier New" pitchFamily="49" charset="0"/>
              </a:rPr>
              <a:t>() ) { ...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}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else</a:t>
            </a:r>
            <a:r>
              <a:rPr lang="de-DE" sz="1800" b="1" dirty="0">
                <a:latin typeface="Courier New" pitchFamily="49" charset="0"/>
              </a:rPr>
              <a:t> { // '</a:t>
            </a:r>
            <a:r>
              <a:rPr lang="de-DE" sz="1800" b="1" dirty="0" err="1">
                <a:latin typeface="Courier New" pitchFamily="49" charset="0"/>
              </a:rPr>
              <a:t>m_buf</a:t>
            </a:r>
            <a:r>
              <a:rPr lang="de-DE" sz="1800" b="1" dirty="0">
                <a:latin typeface="Courier New" pitchFamily="49" charset="0"/>
              </a:rPr>
              <a:t>' ist zu klein !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latin typeface="Courier New" pitchFamily="49" charset="0"/>
              </a:rPr>
              <a:t>m_buf.resize</a:t>
            </a:r>
            <a:r>
              <a:rPr lang="de-DE" sz="1800" b="1" dirty="0">
                <a:latin typeface="Courier New" pitchFamily="49" charset="0"/>
              </a:rPr>
              <a:t>( 2*</a:t>
            </a:r>
            <a:r>
              <a:rPr lang="de-DE" sz="1800" b="1" dirty="0" err="1">
                <a:latin typeface="Courier New" pitchFamily="49" charset="0"/>
              </a:rPr>
              <a:t>m_buf.size</a:t>
            </a:r>
            <a:r>
              <a:rPr lang="de-DE" sz="1800" b="1" dirty="0">
                <a:latin typeface="Courier New" pitchFamily="49" charset="0"/>
              </a:rPr>
              <a:t>() );  </a:t>
            </a:r>
            <a:r>
              <a:rPr lang="de-DE" sz="1800" dirty="0">
                <a:latin typeface="Courier New" pitchFamily="49" charset="0"/>
              </a:rPr>
              <a:t>// </a:t>
            </a:r>
            <a:r>
              <a:rPr lang="de-DE" sz="1800" dirty="0" err="1">
                <a:latin typeface="Courier New" pitchFamily="49" charset="0"/>
              </a:rPr>
              <a:t>vergroessern</a:t>
            </a:r>
            <a:endParaRPr lang="de-DE" sz="1800" dirty="0"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dirty="0">
                <a:latin typeface="Courier New" pitchFamily="49" charset="0"/>
              </a:rPr>
              <a:t>// aktuelle Schreibposition bestimmen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* </a:t>
            </a:r>
            <a:r>
              <a:rPr lang="de-DE" sz="1800" b="1" dirty="0" err="1">
                <a:latin typeface="Courier New" pitchFamily="49" charset="0"/>
              </a:rPr>
              <a:t>pPut</a:t>
            </a:r>
            <a:r>
              <a:rPr lang="de-DE" sz="1800" b="1" dirty="0">
                <a:latin typeface="Courier New" pitchFamily="49" charset="0"/>
              </a:rPr>
              <a:t> = </a:t>
            </a:r>
            <a:r>
              <a:rPr lang="de-DE" sz="1800" b="1" dirty="0" err="1">
                <a:latin typeface="Courier New" pitchFamily="49" charset="0"/>
              </a:rPr>
              <a:t>m_buf.begin</a:t>
            </a:r>
            <a:r>
              <a:rPr lang="de-DE" sz="1800" b="1" dirty="0">
                <a:latin typeface="Courier New" pitchFamily="49" charset="0"/>
              </a:rPr>
              <a:t>() + (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pptr</a:t>
            </a:r>
            <a:r>
              <a:rPr lang="de-DE" sz="1800" b="1" dirty="0">
                <a:latin typeface="Courier New" pitchFamily="49" charset="0"/>
              </a:rPr>
              <a:t>()-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pbase</a:t>
            </a:r>
            <a:r>
              <a:rPr lang="de-DE" sz="1800" b="1" dirty="0">
                <a:latin typeface="Courier New" pitchFamily="49" charset="0"/>
              </a:rPr>
              <a:t>());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dirty="0">
                <a:latin typeface="Courier New" pitchFamily="49" charset="0"/>
              </a:rPr>
              <a:t>// jetzt ist wieder Platz in '</a:t>
            </a:r>
            <a:r>
              <a:rPr lang="de-DE" sz="1800" dirty="0" err="1">
                <a:latin typeface="Courier New" pitchFamily="49" charset="0"/>
              </a:rPr>
              <a:t>m_buf</a:t>
            </a:r>
            <a:r>
              <a:rPr lang="de-DE" sz="1800" dirty="0">
                <a:latin typeface="Courier New" pitchFamily="49" charset="0"/>
              </a:rPr>
              <a:t>'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*</a:t>
            </a:r>
            <a:r>
              <a:rPr lang="de-DE" sz="1800" b="1" dirty="0" err="1">
                <a:latin typeface="Courier New" pitchFamily="49" charset="0"/>
              </a:rPr>
              <a:t>pPut</a:t>
            </a:r>
            <a:r>
              <a:rPr lang="de-DE" sz="1800" b="1" dirty="0">
                <a:latin typeface="Courier New" pitchFamily="49" charset="0"/>
              </a:rPr>
              <a:t> =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to_char_type</a:t>
            </a:r>
            <a:r>
              <a:rPr lang="de-DE" sz="1800" b="1" dirty="0">
                <a:latin typeface="Courier New" pitchFamily="49" charset="0"/>
              </a:rPr>
              <a:t>( c );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dirty="0">
                <a:latin typeface="Courier New" pitchFamily="49" charset="0"/>
              </a:rPr>
              <a:t>// </a:t>
            </a:r>
            <a:r>
              <a:rPr lang="de-DE" sz="1800" dirty="0" err="1">
                <a:latin typeface="Courier New" pitchFamily="49" charset="0"/>
              </a:rPr>
              <a:t>Put-Pointer</a:t>
            </a:r>
            <a:r>
              <a:rPr lang="de-DE" sz="1800" dirty="0">
                <a:latin typeface="Courier New" pitchFamily="49" charset="0"/>
              </a:rPr>
              <a:t> neu setzen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setp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m_buf.begin</a:t>
            </a:r>
            <a:r>
              <a:rPr lang="de-DE" sz="1800" b="1" dirty="0">
                <a:latin typeface="Courier New" pitchFamily="49" charset="0"/>
              </a:rPr>
              <a:t>(), pPut+1, m_buf.end() );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}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traits_type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not_eof</a:t>
            </a:r>
            <a:r>
              <a:rPr lang="de-DE" sz="1800" b="1" dirty="0">
                <a:latin typeface="Courier New" pitchFamily="49" charset="0"/>
              </a:rPr>
              <a:t>( c ) ); </a:t>
            </a:r>
            <a:r>
              <a:rPr lang="de-DE" sz="1800" dirty="0">
                <a:latin typeface="Courier New" pitchFamily="49" charset="0"/>
              </a:rPr>
              <a:t>// Ok</a:t>
            </a:r>
          </a:p>
          <a:p>
            <a:pPr>
              <a:buFontTx/>
              <a:buNone/>
            </a:pPr>
            <a:r>
              <a:rPr lang="de-DE" sz="1800" b="1" dirty="0">
                <a:latin typeface="Courier New" pitchFamily="49" charset="0"/>
              </a:rPr>
              <a:t>	}</a:t>
            </a:r>
          </a:p>
          <a:p>
            <a:pPr>
              <a:buFontTx/>
              <a:buNone/>
            </a:pPr>
            <a:r>
              <a:rPr lang="de-DE" sz="2000" dirty="0"/>
              <a:t>       </a:t>
            </a:r>
          </a:p>
          <a:p>
            <a:endParaRPr lang="de-DE" sz="2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6AC09-9136-4046-A2B8-1A88E8CB804B}" type="slidenum">
              <a:rPr lang="de-DE"/>
              <a:pPr/>
              <a:t>56</a:t>
            </a:fld>
            <a:endParaRPr lang="de-DE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Klasse CListCtrlSbAdap - sync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Der Code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de-DE" sz="1800" b="1">
                <a:latin typeface="Courier New" pitchFamily="49" charset="0"/>
              </a:rPr>
              <a:t> CListCtrlSbAdap::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sync</a:t>
            </a:r>
            <a:r>
              <a:rPr lang="de-DE" sz="1800" b="1">
                <a:latin typeface="Courier New" pitchFamily="49" charset="0"/>
              </a:rPr>
              <a:t>()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{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m_spDev-&gt;InsertItem( 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    m_prefix().c_str(), m_icon(), m_buf.begin()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setp</a:t>
            </a:r>
            <a:r>
              <a:rPr lang="de-DE" sz="1800" b="1">
                <a:latin typeface="Courier New" pitchFamily="49" charset="0"/>
              </a:rPr>
              <a:t>( 0, 0 );  </a:t>
            </a:r>
            <a:r>
              <a:rPr lang="de-DE" sz="1800">
                <a:latin typeface="Courier New" pitchFamily="49" charset="0"/>
              </a:rPr>
              <a:t>// Puffer „löschen“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  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>
                <a:latin typeface="Courier New" pitchFamily="49" charset="0"/>
              </a:rPr>
              <a:t>( 0 );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}</a:t>
            </a:r>
          </a:p>
          <a:p>
            <a:r>
              <a:rPr lang="de-DE"/>
              <a:t>m_prefix enthält den Zeitstempel als Text. </a:t>
            </a:r>
          </a:p>
          <a:p>
            <a:r>
              <a:rPr lang="de-DE"/>
              <a:t>m_icon die aktuelle Icon-Nr, die anschließend auf ihren Default-Wert zurückfällt.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BF65F-7527-4EF0-B72B-CDD6C02B30F9}" type="slidenum">
              <a:rPr lang="de-DE"/>
              <a:pPr/>
              <a:t>57</a:t>
            </a:fld>
            <a:endParaRPr lang="de-DE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Icon-Manipulatoren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772400" cy="4724400"/>
          </a:xfrm>
        </p:spPr>
        <p:txBody>
          <a:bodyPr/>
          <a:lstStyle/>
          <a:p>
            <a:r>
              <a:rPr lang="de-DE"/>
              <a:t>.. sind Objekte der Klasse CIconNo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class</a:t>
            </a:r>
            <a:r>
              <a:rPr lang="en-US" sz="1800" b="1">
                <a:latin typeface="Courier New" pitchFamily="49" charset="0"/>
              </a:rPr>
              <a:t> CIconNo {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public</a:t>
            </a:r>
            <a:r>
              <a:rPr lang="en-US" sz="1800" b="1">
                <a:latin typeface="Courier New" pitchFamily="49" charset="0"/>
              </a:rPr>
              <a:t>: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  CIconNo();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 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No()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en-US" sz="1800" b="1">
                <a:latin typeface="Courier New" pitchFamily="49" charset="0"/>
              </a:rPr>
              <a:t>;  // liefert die Icon-Nummer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  CIconNo&amp;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en-US" sz="1800" b="1">
                <a:latin typeface="Courier New" pitchFamily="49" charset="0"/>
              </a:rPr>
              <a:t>=(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icon );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 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friend</a:t>
            </a:r>
            <a:r>
              <a:rPr lang="en-US" sz="1800" b="1">
                <a:latin typeface="Courier New" pitchFamily="49" charset="0"/>
              </a:rPr>
              <a:t> </a:t>
            </a:r>
            <a:r>
              <a:rPr lang="en-US" sz="18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en-US" sz="1800" b="1">
                <a:latin typeface="Courier New" pitchFamily="49" charset="0"/>
              </a:rPr>
              <a:t>::</a:t>
            </a:r>
            <a:r>
              <a:rPr lang="en-US" sz="1800" b="1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en-US" sz="1800" b="1">
                <a:latin typeface="Courier New" pitchFamily="49" charset="0"/>
              </a:rPr>
              <a:t>&amp;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en-US" sz="1800" b="1">
                <a:latin typeface="Courier New" pitchFamily="49" charset="0"/>
              </a:rPr>
              <a:t>&lt;&lt;(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    </a:t>
            </a:r>
            <a:r>
              <a:rPr lang="en-US" sz="1800" b="1">
                <a:solidFill>
                  <a:srgbClr val="CC66FF"/>
                </a:solidFill>
                <a:latin typeface="Courier New" pitchFamily="49" charset="0"/>
              </a:rPr>
              <a:t>std</a:t>
            </a:r>
            <a:r>
              <a:rPr lang="en-US" sz="1800" b="1">
                <a:latin typeface="Courier New" pitchFamily="49" charset="0"/>
              </a:rPr>
              <a:t>::</a:t>
            </a:r>
            <a:r>
              <a:rPr lang="en-US" sz="1800" b="1">
                <a:solidFill>
                  <a:srgbClr val="CC66FF"/>
                </a:solidFill>
                <a:latin typeface="Courier New" pitchFamily="49" charset="0"/>
              </a:rPr>
              <a:t>ostream</a:t>
            </a:r>
            <a:r>
              <a:rPr lang="en-US" sz="1800" b="1">
                <a:latin typeface="Courier New" pitchFamily="49" charset="0"/>
              </a:rPr>
              <a:t>&amp; out,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en-US" sz="1800" b="1">
                <a:latin typeface="Courier New" pitchFamily="49" charset="0"/>
              </a:rPr>
              <a:t> CIconNo&amp; icon );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private</a:t>
            </a:r>
            <a:r>
              <a:rPr lang="en-US" sz="1800" b="1">
                <a:latin typeface="Courier New" pitchFamily="49" charset="0"/>
              </a:rPr>
              <a:t>:   </a:t>
            </a:r>
            <a:r>
              <a:rPr lang="en-US" sz="1800" b="1">
                <a:solidFill>
                  <a:schemeClr val="accent2"/>
                </a:solidFill>
                <a:latin typeface="Courier New" pitchFamily="49" charset="0"/>
              </a:rPr>
              <a:t>int</a:t>
            </a:r>
            <a:r>
              <a:rPr lang="en-US" sz="1800" b="1">
                <a:latin typeface="Courier New" pitchFamily="49" charset="0"/>
              </a:rPr>
              <a:t> m_icon;</a:t>
            </a:r>
          </a:p>
          <a:p>
            <a:pPr>
              <a:buFontTx/>
              <a:buNone/>
            </a:pPr>
            <a:r>
              <a:rPr lang="en-US" sz="1800" b="1">
                <a:latin typeface="Courier New" pitchFamily="49" charset="0"/>
              </a:rPr>
              <a:t>	};</a:t>
            </a:r>
            <a:endParaRPr lang="de-DE" sz="1800" b="1">
              <a:latin typeface="Courier New" pitchFamily="49" charset="0"/>
            </a:endParaRPr>
          </a:p>
          <a:p>
            <a:r>
              <a:rPr lang="de-DE"/>
              <a:t>Anwendung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de-DE"/>
              <a:t>	</a:t>
            </a:r>
            <a:r>
              <a:rPr lang="de-DE" sz="1800" b="1">
                <a:solidFill>
                  <a:schemeClr val="accent2"/>
                </a:solidFill>
                <a:latin typeface="Courier New" pitchFamily="49" charset="0"/>
              </a:rPr>
              <a:t>extern</a:t>
            </a:r>
            <a:r>
              <a:rPr lang="de-DE" sz="1800" b="1">
                <a:latin typeface="Courier New" pitchFamily="49" charset="0"/>
              </a:rPr>
              <a:t> CIconNo info; </a:t>
            </a:r>
            <a:r>
              <a:rPr lang="de-DE" sz="1800">
                <a:latin typeface="Courier New" pitchFamily="49" charset="0"/>
              </a:rPr>
              <a:t>// im namespace icon</a:t>
            </a:r>
          </a:p>
          <a:p>
            <a:pPr>
              <a:buFontTx/>
              <a:buNone/>
            </a:pPr>
            <a:r>
              <a:rPr lang="de-DE" sz="1800" b="1">
                <a:latin typeface="Courier New" pitchFamily="49" charset="0"/>
              </a:rPr>
              <a:t>	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>
                <a:latin typeface="Courier New" pitchFamily="49" charset="0"/>
              </a:rPr>
              <a:t> &lt;&lt; icon::info &lt;&lt; “besondere Info“ &lt;&lt; </a:t>
            </a:r>
            <a:r>
              <a:rPr lang="de-DE" sz="1800" b="1">
                <a:solidFill>
                  <a:srgbClr val="CC66FF"/>
                </a:solidFill>
                <a:latin typeface="Courier New" pitchFamily="49" charset="0"/>
              </a:rPr>
              <a:t>endl</a:t>
            </a:r>
            <a:r>
              <a:rPr lang="de-DE" sz="1800" b="1">
                <a:latin typeface="Courier New" pitchFamily="49" charset="0"/>
              </a:rPr>
              <a:t>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6DC3C-23D8-44C7-AB4C-B3ADF78B1013}" type="slidenum">
              <a:rPr lang="de-DE"/>
              <a:pPr/>
              <a:t>58</a:t>
            </a:fld>
            <a:endParaRPr lang="de-DE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Initialisieren der Anwendung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de-DE" dirty="0"/>
              <a:t>Das Initialisieren geschieht z.B. in der View-Klasse der MFC-Applikation in der Methode </a:t>
            </a:r>
            <a:r>
              <a:rPr lang="de-DE" dirty="0" err="1"/>
              <a:t>OnInitialUpdate</a:t>
            </a:r>
            <a:endParaRPr lang="de-DE" dirty="0"/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void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CReportView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OnInitialUpdate</a:t>
            </a:r>
            <a:r>
              <a:rPr lang="de-DE" sz="1800" b="1" dirty="0">
                <a:latin typeface="Courier New" pitchFamily="49" charset="0"/>
              </a:rPr>
              <a:t>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dirty="0">
                <a:latin typeface="Courier New" pitchFamily="49" charset="0"/>
              </a:rPr>
              <a:t>// Icons laden und Nummern definieren</a:t>
            </a:r>
            <a:endParaRPr lang="de-DE" sz="1800" b="1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latin typeface="Courier New" pitchFamily="49" charset="0"/>
              </a:rPr>
              <a:t>icon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error</a:t>
            </a:r>
            <a:r>
              <a:rPr lang="de-DE" sz="1800" b="1" dirty="0">
                <a:latin typeface="Courier New" pitchFamily="49" charset="0"/>
              </a:rPr>
              <a:t> = </a:t>
            </a:r>
            <a:r>
              <a:rPr lang="de-DE" sz="1800" b="1" dirty="0" err="1">
                <a:latin typeface="Courier New" pitchFamily="49" charset="0"/>
              </a:rPr>
              <a:t>m_imageList.Add</a:t>
            </a:r>
            <a:r>
              <a:rPr lang="de-DE" sz="1800" b="1" dirty="0">
                <a:latin typeface="Courier New" pitchFamily="49" charset="0"/>
              </a:rPr>
              <a:t>(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  </a:t>
            </a:r>
            <a:r>
              <a:rPr lang="de-DE" sz="1800" b="1" dirty="0" err="1">
                <a:latin typeface="Courier New" pitchFamily="49" charset="0"/>
              </a:rPr>
              <a:t>pApp</a:t>
            </a:r>
            <a:r>
              <a:rPr lang="de-DE" sz="1800" b="1" dirty="0">
                <a:latin typeface="Courier New" pitchFamily="49" charset="0"/>
              </a:rPr>
              <a:t>-&gt;</a:t>
            </a:r>
            <a:r>
              <a:rPr lang="de-DE" sz="1800" b="1" dirty="0" err="1">
                <a:latin typeface="Courier New" pitchFamily="49" charset="0"/>
              </a:rPr>
              <a:t>LoadIcon</a:t>
            </a:r>
            <a:r>
              <a:rPr lang="de-DE" sz="1800" b="1" dirty="0">
                <a:latin typeface="Courier New" pitchFamily="49" charset="0"/>
              </a:rPr>
              <a:t>(IDI_ERROR1)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latin typeface="Courier New" pitchFamily="49" charset="0"/>
              </a:rPr>
              <a:t>icon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info</a:t>
            </a:r>
            <a:r>
              <a:rPr lang="de-DE" sz="1800" b="1" dirty="0">
                <a:latin typeface="Courier New" pitchFamily="49" charset="0"/>
              </a:rPr>
              <a:t>  = </a:t>
            </a:r>
            <a:r>
              <a:rPr lang="de-DE" sz="1800" b="1" dirty="0" err="1">
                <a:latin typeface="Courier New" pitchFamily="49" charset="0"/>
              </a:rPr>
              <a:t>m_imageList.Add</a:t>
            </a:r>
            <a:r>
              <a:rPr lang="de-DE" sz="1800" b="1" dirty="0">
                <a:latin typeface="Courier New" pitchFamily="49" charset="0"/>
              </a:rPr>
              <a:t>(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    </a:t>
            </a:r>
            <a:r>
              <a:rPr lang="de-DE" sz="1800" b="1" dirty="0" err="1">
                <a:latin typeface="Courier New" pitchFamily="49" charset="0"/>
              </a:rPr>
              <a:t>pApp</a:t>
            </a:r>
            <a:r>
              <a:rPr lang="de-DE" sz="1800" b="1" dirty="0">
                <a:latin typeface="Courier New" pitchFamily="49" charset="0"/>
              </a:rPr>
              <a:t>-&gt;</a:t>
            </a:r>
            <a:r>
              <a:rPr lang="de-DE" sz="1800" b="1" dirty="0" err="1">
                <a:latin typeface="Courier New" pitchFamily="49" charset="0"/>
              </a:rPr>
              <a:t>LoadIcon</a:t>
            </a:r>
            <a:r>
              <a:rPr lang="de-DE" sz="1800" b="1" dirty="0">
                <a:latin typeface="Courier New" pitchFamily="49" charset="0"/>
              </a:rPr>
              <a:t>(IDI_INFO_ICON)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latin typeface="Courier New" pitchFamily="49" charset="0"/>
              </a:rPr>
              <a:t>GetListCtrl</a:t>
            </a:r>
            <a:r>
              <a:rPr lang="de-DE" sz="1800" b="1" dirty="0">
                <a:latin typeface="Courier New" pitchFamily="49" charset="0"/>
              </a:rPr>
              <a:t>().</a:t>
            </a:r>
            <a:r>
              <a:rPr lang="de-DE" sz="1800" b="1" dirty="0" err="1">
                <a:latin typeface="Courier New" pitchFamily="49" charset="0"/>
              </a:rPr>
              <a:t>SetImageList</a:t>
            </a:r>
            <a:r>
              <a:rPr lang="de-DE" sz="1800" b="1" dirty="0">
                <a:latin typeface="Courier New" pitchFamily="49" charset="0"/>
              </a:rPr>
              <a:t>( &amp;</a:t>
            </a:r>
            <a:r>
              <a:rPr lang="de-DE" sz="1800" b="1" dirty="0" err="1">
                <a:latin typeface="Courier New" pitchFamily="49" charset="0"/>
              </a:rPr>
              <a:t>m_imageList</a:t>
            </a:r>
            <a:r>
              <a:rPr lang="de-DE" sz="1800" b="1" dirty="0">
                <a:latin typeface="Courier New" pitchFamily="49" charset="0"/>
              </a:rPr>
              <a:t>, ...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dirty="0">
                <a:latin typeface="Courier New" pitchFamily="49" charset="0"/>
              </a:rPr>
              <a:t>// .. globale </a:t>
            </a:r>
            <a:r>
              <a:rPr lang="de-DE" sz="1800" dirty="0" err="1">
                <a:latin typeface="Courier New" pitchFamily="49" charset="0"/>
              </a:rPr>
              <a:t>ostream</a:t>
            </a:r>
            <a:r>
              <a:rPr lang="de-DE" sz="1800" dirty="0">
                <a:latin typeface="Courier New" pitchFamily="49" charset="0"/>
              </a:rPr>
              <a:t>-Objekte umschalten</a:t>
            </a:r>
            <a:endParaRPr lang="de-DE" sz="1800" b="1" dirty="0">
              <a:latin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latin typeface="Courier New" pitchFamily="49" charset="0"/>
              </a:rPr>
              <a:t>CListCtrlSbAdap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lca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GetListCtrl</a:t>
            </a:r>
            <a:r>
              <a:rPr lang="de-DE" sz="1800" b="1" dirty="0">
                <a:latin typeface="Courier New" pitchFamily="49" charset="0"/>
              </a:rPr>
              <a:t>()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cout</a:t>
            </a:r>
            <a:r>
              <a:rPr lang="de-DE" sz="1800" b="1" dirty="0" err="1">
                <a:latin typeface="Courier New" pitchFamily="49" charset="0"/>
              </a:rPr>
              <a:t>.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rdbuf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lca.clone</a:t>
            </a:r>
            <a:r>
              <a:rPr lang="de-DE" sz="1800" b="1" dirty="0">
                <a:latin typeface="Courier New" pitchFamily="49" charset="0"/>
              </a:rPr>
              <a:t>()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  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cerr</a:t>
            </a:r>
            <a:r>
              <a:rPr lang="de-DE" sz="1800" b="1" dirty="0" err="1">
                <a:latin typeface="Courier New" pitchFamily="49" charset="0"/>
              </a:rPr>
              <a:t>.</a:t>
            </a:r>
            <a:r>
              <a:rPr lang="de-DE" sz="1800" b="1" dirty="0" err="1">
                <a:solidFill>
                  <a:srgbClr val="CC66FF"/>
                </a:solidFill>
                <a:latin typeface="Courier New" pitchFamily="49" charset="0"/>
              </a:rPr>
              <a:t>rdbuf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lca.clone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icon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error.No</a:t>
            </a:r>
            <a:r>
              <a:rPr lang="de-DE" sz="1800" b="1" dirty="0">
                <a:latin typeface="Courier New" pitchFamily="49" charset="0"/>
              </a:rPr>
              <a:t>() ) 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de-DE" sz="1800" b="1" dirty="0">
                <a:latin typeface="Courier New" pitchFamily="49" charset="0"/>
              </a:rPr>
              <a:t>	}</a:t>
            </a: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574800"/>
          </a:xfrm>
        </p:spPr>
        <p:txBody>
          <a:bodyPr/>
          <a:lstStyle/>
          <a:p>
            <a:pPr algn="ctr"/>
            <a:r>
              <a:rPr lang="de-DE" dirty="0" smtClean="0"/>
              <a:t>Parst Du noch, oder liest Du schon?</a:t>
            </a:r>
            <a:br>
              <a:rPr lang="de-DE" dirty="0" smtClean="0"/>
            </a:br>
            <a:r>
              <a:rPr lang="de-DE" dirty="0" smtClean="0"/>
              <a:t> </a:t>
            </a:r>
            <a:r>
              <a:rPr lang="de-DE" dirty="0"/>
              <a:t/>
            </a:r>
            <a:br>
              <a:rPr lang="de-DE" dirty="0"/>
            </a:b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696200" cy="819944"/>
          </a:xfrm>
        </p:spPr>
        <p:txBody>
          <a:bodyPr/>
          <a:lstStyle/>
          <a:p>
            <a:pPr algn="l"/>
            <a:r>
              <a:rPr lang="de-DE" dirty="0" smtClean="0"/>
              <a:t>Holzwege(1)</a:t>
            </a:r>
            <a:br>
              <a:rPr lang="de-DE" dirty="0" smtClean="0"/>
            </a:br>
            <a:r>
              <a:rPr lang="de-DE" dirty="0" smtClean="0"/>
              <a:t>				Der </a:t>
            </a:r>
            <a:r>
              <a:rPr lang="de-DE" dirty="0" err="1" smtClean="0"/>
              <a:t>while</a:t>
            </a:r>
            <a:r>
              <a:rPr lang="de-DE" dirty="0" smtClean="0"/>
              <a:t>-not-</a:t>
            </a:r>
            <a:r>
              <a:rPr lang="de-DE" dirty="0" err="1" smtClean="0"/>
              <a:t>eof</a:t>
            </a:r>
            <a:r>
              <a:rPr lang="de-DE" dirty="0" smtClean="0"/>
              <a:t> </a:t>
            </a:r>
            <a:r>
              <a:rPr lang="de-DE" dirty="0" err="1" smtClean="0"/>
              <a:t>Horax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sz="1800" b="1" dirty="0" smtClean="0">
                <a:latin typeface="Courier New" pitchFamily="49" charset="0"/>
              </a:rPr>
              <a:t>	</a:t>
            </a:r>
            <a:r>
              <a:rPr lang="de-DE" sz="1800" b="1" dirty="0" err="1">
                <a:latin typeface="Courier New" pitchFamily="49" charset="0"/>
              </a:rPr>
              <a:t>istream</a:t>
            </a:r>
            <a:r>
              <a:rPr lang="de-DE" sz="1800" b="1" dirty="0">
                <a:latin typeface="Courier New" pitchFamily="49" charset="0"/>
              </a:rPr>
              <a:t> in(…);</a:t>
            </a:r>
          </a:p>
          <a:p>
            <a:pPr>
              <a:lnSpc>
                <a:spcPct val="90000"/>
              </a:lnSpc>
              <a:buNone/>
            </a:pP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while</a:t>
            </a:r>
            <a:r>
              <a:rPr lang="de-DE" sz="1800" b="1" dirty="0" err="1">
                <a:latin typeface="Courier New" pitchFamily="49" charset="0"/>
              </a:rPr>
              <a:t>( !in.eof() ) {</a:t>
            </a:r>
            <a:br>
              <a:rPr lang="de-DE" sz="1800" b="1" dirty="0" err="1">
                <a:latin typeface="Courier New" pitchFamily="49" charset="0"/>
              </a:rPr>
            </a:br>
            <a:r>
              <a:rPr lang="de-DE" sz="1800" b="1" dirty="0" err="1">
                <a:latin typeface="Courier New" pitchFamily="49" charset="0"/>
              </a:rPr>
              <a:t>	in &gt;&gt; irgendwas;</a:t>
            </a:r>
            <a:br>
              <a:rPr lang="de-DE" sz="1800" b="1" dirty="0" err="1">
                <a:latin typeface="Courier New" pitchFamily="49" charset="0"/>
              </a:rPr>
            </a:br>
            <a:r>
              <a:rPr lang="de-DE" sz="1800" b="1" dirty="0" err="1">
                <a:latin typeface="Courier New" pitchFamily="49" charset="0"/>
              </a:rPr>
              <a:t>	</a:t>
            </a:r>
            <a:r>
              <a:rPr lang="de-DE" sz="1800" dirty="0" err="1">
                <a:latin typeface="Courier New" pitchFamily="49" charset="0"/>
              </a:rPr>
              <a:t>// hier wird ‚irgendwas‘ verwendet</a:t>
            </a:r>
          </a:p>
          <a:p>
            <a:r>
              <a:rPr lang="de-DE" dirty="0" smtClean="0"/>
              <a:t>Falls hier bei Lesen ein Fehler auftritt, ist der Inhalt von ‚irgendwas‘ nicht definiert.</a:t>
            </a:r>
          </a:p>
          <a:p>
            <a:r>
              <a:rPr lang="de-DE" dirty="0" smtClean="0"/>
              <a:t>Der Lesevorgang wird im Fehlerfall nicht fortgesetzt, EOF wird nie erreicht – Folge: das Programm endet in einer Endlosschleife.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egal!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60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696200" cy="819944"/>
          </a:xfrm>
        </p:spPr>
        <p:txBody>
          <a:bodyPr/>
          <a:lstStyle/>
          <a:p>
            <a:pPr algn="l"/>
            <a:r>
              <a:rPr lang="de-DE" dirty="0" smtClean="0"/>
              <a:t>Holzwege(2)</a:t>
            </a:r>
            <a:br>
              <a:rPr lang="de-DE" dirty="0" smtClean="0"/>
            </a:br>
            <a:r>
              <a:rPr lang="de-DE" dirty="0" smtClean="0"/>
              <a:t>			    Die Angst vor dem </a:t>
            </a:r>
            <a:r>
              <a:rPr lang="de-DE" dirty="0" err="1" smtClean="0"/>
              <a:t>ifstream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sz="1800" b="1" dirty="0" smtClean="0">
                <a:latin typeface="Courier New" pitchFamily="49" charset="0"/>
              </a:rPr>
              <a:t>	</a:t>
            </a:r>
            <a:r>
              <a:rPr lang="de-DE" sz="1800" b="1" dirty="0" err="1" smtClean="0">
                <a:latin typeface="Courier New" pitchFamily="49" charset="0"/>
              </a:rPr>
              <a:t>ifstream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>in(„input.txt“);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latin typeface="Courier New" pitchFamily="49" charset="0"/>
              </a:rPr>
              <a:t>string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line</a:t>
            </a:r>
            <a:r>
              <a:rPr lang="de-DE" sz="1800" b="1" dirty="0">
                <a:latin typeface="Courier New" pitchFamily="49" charset="0"/>
              </a:rPr>
              <a:t>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while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getline</a:t>
            </a:r>
            <a:r>
              <a:rPr lang="de-DE" sz="1800" b="1" dirty="0">
                <a:latin typeface="Courier New" pitchFamily="49" charset="0"/>
              </a:rPr>
              <a:t>( in, </a:t>
            </a:r>
            <a:r>
              <a:rPr lang="de-DE" sz="1800" b="1" dirty="0" err="1">
                <a:latin typeface="Courier New" pitchFamily="49" charset="0"/>
              </a:rPr>
              <a:t>line</a:t>
            </a:r>
            <a:r>
              <a:rPr lang="de-DE" sz="1800" b="1" dirty="0">
                <a:latin typeface="Courier New" pitchFamily="49" charset="0"/>
              </a:rPr>
              <a:t> ) ) {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	</a:t>
            </a:r>
            <a:r>
              <a:rPr lang="de-DE" sz="1800" dirty="0">
                <a:latin typeface="Courier New" pitchFamily="49" charset="0"/>
              </a:rPr>
              <a:t>// parse ‚</a:t>
            </a:r>
            <a:r>
              <a:rPr lang="de-DE" sz="1800" dirty="0" err="1">
                <a:latin typeface="Courier New" pitchFamily="49" charset="0"/>
              </a:rPr>
              <a:t>line</a:t>
            </a:r>
            <a:r>
              <a:rPr lang="de-DE" sz="1800" dirty="0">
                <a:latin typeface="Courier New" pitchFamily="49" charset="0"/>
              </a:rPr>
              <a:t>‘ mit </a:t>
            </a:r>
            <a:r>
              <a:rPr lang="de-DE" sz="1800" dirty="0" smtClean="0">
                <a:latin typeface="Courier New" pitchFamily="49" charset="0"/>
              </a:rPr>
              <a:t>String-Operationen</a:t>
            </a:r>
          </a:p>
          <a:p>
            <a:pPr>
              <a:buNone/>
            </a:pPr>
            <a:endParaRPr lang="de-DE" sz="1800" dirty="0">
              <a:latin typeface="Courier New" pitchFamily="49" charset="0"/>
            </a:endParaRPr>
          </a:p>
          <a:p>
            <a:r>
              <a:rPr lang="de-DE" dirty="0" smtClean="0"/>
              <a:t>Genau diese Vorgehensweise wird z.B. auf </a:t>
            </a:r>
            <a:r>
              <a:rPr lang="de-DE" b="1" dirty="0">
                <a:latin typeface="Courier New" pitchFamily="49" charset="0"/>
              </a:rPr>
              <a:t>stackoverflow.com</a:t>
            </a:r>
            <a:r>
              <a:rPr lang="de-DE" dirty="0" smtClean="0"/>
              <a:t> tausendfach empfohlen!</a:t>
            </a:r>
          </a:p>
          <a:p>
            <a:r>
              <a:rPr lang="de-DE" dirty="0" smtClean="0"/>
              <a:t>Nachteile:</a:t>
            </a:r>
          </a:p>
          <a:p>
            <a:pPr lvl="1"/>
            <a:r>
              <a:rPr lang="de-DE" dirty="0" smtClean="0"/>
              <a:t>1. Performance</a:t>
            </a:r>
          </a:p>
          <a:p>
            <a:pPr lvl="1"/>
            <a:r>
              <a:rPr lang="de-DE" dirty="0" smtClean="0"/>
              <a:t>2. Verlust aller Einstellungen des Original-Streams</a:t>
            </a:r>
            <a:endParaRPr lang="de-DE" dirty="0"/>
          </a:p>
          <a:p>
            <a:endParaRPr lang="de-DE" dirty="0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61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188640"/>
            <a:ext cx="7696200" cy="1107976"/>
          </a:xfrm>
        </p:spPr>
        <p:txBody>
          <a:bodyPr/>
          <a:lstStyle/>
          <a:p>
            <a:pPr algn="l"/>
            <a:r>
              <a:rPr lang="de-DE" dirty="0" smtClean="0"/>
              <a:t>Holzwege(3) </a:t>
            </a:r>
            <a:br>
              <a:rPr lang="de-DE" dirty="0" smtClean="0"/>
            </a:br>
            <a:r>
              <a:rPr lang="de-DE" dirty="0" smtClean="0"/>
              <a:t>	        ‚Schnelles‘ Parsen aus dem Memory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412776"/>
            <a:ext cx="7772400" cy="4683224"/>
          </a:xfrm>
        </p:spPr>
        <p:txBody>
          <a:bodyPr/>
          <a:lstStyle/>
          <a:p>
            <a:pPr>
              <a:buNone/>
            </a:pPr>
            <a:r>
              <a:rPr lang="de-DE" sz="1800" b="1" dirty="0" smtClean="0">
                <a:latin typeface="Courier New" pitchFamily="49" charset="0"/>
              </a:rPr>
              <a:t>	</a:t>
            </a:r>
            <a:r>
              <a:rPr lang="de-DE" sz="1800" b="1" dirty="0" err="1" smtClean="0">
                <a:latin typeface="Courier New" pitchFamily="49" charset="0"/>
              </a:rPr>
              <a:t>ifstream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>in(„input.txt“);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 smtClean="0">
                <a:latin typeface="Courier New" pitchFamily="49" charset="0"/>
              </a:rPr>
              <a:t>big</a:t>
            </a:r>
            <a:r>
              <a:rPr lang="de-DE" sz="1800" b="1" dirty="0" smtClean="0">
                <a:latin typeface="Courier New" pitchFamily="49" charset="0"/>
              </a:rPr>
              <a:t>[N];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latin typeface="Courier New" pitchFamily="49" charset="0"/>
              </a:rPr>
              <a:t>in.read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big</a:t>
            </a:r>
            <a:r>
              <a:rPr lang="de-DE" sz="1800" b="1" dirty="0">
                <a:latin typeface="Courier New" pitchFamily="49" charset="0"/>
              </a:rPr>
              <a:t>, N );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* </a:t>
            </a:r>
            <a:r>
              <a:rPr lang="de-DE" sz="1800" b="1" dirty="0" err="1">
                <a:latin typeface="Courier New" pitchFamily="49" charset="0"/>
              </a:rPr>
              <a:t>ptr</a:t>
            </a:r>
            <a:r>
              <a:rPr lang="de-DE" sz="1800" b="1" dirty="0">
                <a:latin typeface="Courier New" pitchFamily="49" charset="0"/>
              </a:rPr>
              <a:t> = </a:t>
            </a:r>
            <a:r>
              <a:rPr lang="de-DE" sz="1800" b="1" dirty="0" err="1">
                <a:latin typeface="Courier New" pitchFamily="49" charset="0"/>
              </a:rPr>
              <a:t>big</a:t>
            </a:r>
            <a:r>
              <a:rPr lang="de-DE" sz="1800" b="1" dirty="0">
                <a:latin typeface="Courier New" pitchFamily="49" charset="0"/>
              </a:rPr>
              <a:t>;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>
                <a:latin typeface="Courier New" pitchFamily="49" charset="0"/>
              </a:rPr>
              <a:t>// parse ab ‚</a:t>
            </a:r>
            <a:r>
              <a:rPr lang="de-DE" sz="1800" dirty="0" err="1">
                <a:latin typeface="Courier New" pitchFamily="49" charset="0"/>
              </a:rPr>
              <a:t>ptr</a:t>
            </a:r>
            <a:r>
              <a:rPr lang="de-DE" sz="1800" dirty="0">
                <a:latin typeface="Courier New" pitchFamily="49" charset="0"/>
              </a:rPr>
              <a:t>‘ - *</a:t>
            </a:r>
            <a:r>
              <a:rPr lang="de-DE" sz="1800" dirty="0" err="1">
                <a:latin typeface="Courier New" pitchFamily="49" charset="0"/>
              </a:rPr>
              <a:t>ptr</a:t>
            </a:r>
            <a:r>
              <a:rPr lang="de-DE" sz="1800" dirty="0">
                <a:latin typeface="Courier New" pitchFamily="49" charset="0"/>
              </a:rPr>
              <a:t>++</a:t>
            </a:r>
          </a:p>
          <a:p>
            <a:r>
              <a:rPr lang="de-DE" dirty="0" smtClean="0"/>
              <a:t>So arbeiten alle (mir bekannten) frei verfügbaren XML-Parser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62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Lesen aus einer CSV-Datei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CSV steht für </a:t>
            </a:r>
            <a:r>
              <a:rPr lang="de-DE" dirty="0" err="1" smtClean="0"/>
              <a:t>Comma</a:t>
            </a:r>
            <a:r>
              <a:rPr lang="de-DE" dirty="0" smtClean="0"/>
              <a:t> </a:t>
            </a:r>
            <a:r>
              <a:rPr lang="de-DE" dirty="0" err="1" smtClean="0"/>
              <a:t>Separated</a:t>
            </a:r>
            <a:r>
              <a:rPr lang="de-DE" dirty="0" smtClean="0"/>
              <a:t> Values</a:t>
            </a:r>
          </a:p>
          <a:p>
            <a:r>
              <a:rPr lang="de-DE" dirty="0" smtClean="0"/>
              <a:t>Zum Beispiel: </a:t>
            </a:r>
            <a:br>
              <a:rPr lang="de-DE" dirty="0" smtClean="0"/>
            </a:br>
            <a:r>
              <a:rPr lang="de-DE" dirty="0" smtClean="0"/>
              <a:t>	</a:t>
            </a:r>
            <a:r>
              <a:rPr lang="de-DE" b="1" dirty="0" smtClean="0">
                <a:latin typeface="Courier New" pitchFamily="49" charset="0"/>
                <a:cs typeface="Courier New" pitchFamily="49" charset="0"/>
              </a:rPr>
              <a:t>23; 56;Beschreibung;0,0762</a:t>
            </a:r>
            <a:br>
              <a:rPr lang="de-DE" b="1" dirty="0" smtClean="0">
                <a:latin typeface="Courier New" pitchFamily="49" charset="0"/>
                <a:cs typeface="Courier New" pitchFamily="49" charset="0"/>
              </a:rPr>
            </a:br>
            <a:r>
              <a:rPr lang="de-DE" b="1" dirty="0" smtClean="0">
                <a:latin typeface="Courier New" pitchFamily="49" charset="0"/>
                <a:cs typeface="Courier New" pitchFamily="49" charset="0"/>
              </a:rPr>
              <a:t>	19;-2;anderer Text;1,234E-12</a:t>
            </a:r>
            <a:br>
              <a:rPr lang="de-DE" b="1" dirty="0" smtClean="0">
                <a:latin typeface="Courier New" pitchFamily="49" charset="0"/>
                <a:cs typeface="Courier New" pitchFamily="49" charset="0"/>
              </a:rPr>
            </a:br>
            <a:r>
              <a:rPr lang="de-DE" b="1" dirty="0" smtClean="0">
                <a:latin typeface="Courier New" pitchFamily="49" charset="0"/>
                <a:cs typeface="Courier New" pitchFamily="49" charset="0"/>
              </a:rPr>
              <a:t>	24;923;noch ein Text;3,142</a:t>
            </a:r>
          </a:p>
          <a:p>
            <a:r>
              <a:rPr lang="de-DE" dirty="0" smtClean="0"/>
              <a:t>.. sucht man danach z.B. bei Stackoverflow.com, so erhält man in 10 Fällen 10mal die Antwort -&gt; </a:t>
            </a:r>
            <a:r>
              <a:rPr lang="de-DE" dirty="0" err="1" smtClean="0"/>
              <a:t>getline</a:t>
            </a:r>
            <a:r>
              <a:rPr lang="de-DE" dirty="0" smtClean="0"/>
              <a:t> plus Parsen</a:t>
            </a:r>
          </a:p>
          <a:p>
            <a:r>
              <a:rPr lang="de-DE" dirty="0" err="1" smtClean="0"/>
              <a:t>Streamlike</a:t>
            </a:r>
            <a:r>
              <a:rPr lang="de-DE" dirty="0" smtClean="0"/>
              <a:t> ginge es so:</a:t>
            </a:r>
            <a:br>
              <a:rPr lang="de-DE" dirty="0" smtClean="0"/>
            </a:br>
            <a:r>
              <a:rPr lang="en-US" sz="1800" b="1" dirty="0" err="1" smtClean="0">
                <a:latin typeface="Courier New" pitchFamily="49" charset="0"/>
              </a:rPr>
              <a:t>getline</a:t>
            </a:r>
            <a:r>
              <a:rPr lang="en-US" sz="1800" b="1" dirty="0" smtClean="0">
                <a:latin typeface="Courier New" pitchFamily="49" charset="0"/>
              </a:rPr>
              <a:t>( in &gt;&gt; x &gt;&gt; Char&lt;';'&gt; &gt;&gt; y &gt;&gt; Char&lt;';'&gt;, </a:t>
            </a:r>
            <a:r>
              <a:rPr lang="en-US" sz="1800" b="1" dirty="0" err="1" smtClean="0">
                <a:latin typeface="Courier New" pitchFamily="49" charset="0"/>
              </a:rPr>
              <a:t>desc</a:t>
            </a:r>
            <a:r>
              <a:rPr lang="en-US" sz="1800" b="1" dirty="0" smtClean="0">
                <a:latin typeface="Courier New" pitchFamily="49" charset="0"/>
              </a:rPr>
              <a:t>, ';' ) &gt;&gt; d;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63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Lesen aus einer CSV-Datei (2)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Kleiner</a:t>
            </a:r>
            <a:r>
              <a:rPr lang="en-US" dirty="0" smtClean="0"/>
              <a:t> </a:t>
            </a:r>
            <a:r>
              <a:rPr lang="en-US" dirty="0" err="1" smtClean="0"/>
              <a:t>praktischer</a:t>
            </a:r>
            <a:r>
              <a:rPr lang="en-US" dirty="0" smtClean="0"/>
              <a:t> </a:t>
            </a:r>
            <a:r>
              <a:rPr lang="en-US" dirty="0" err="1" smtClean="0"/>
              <a:t>Helfer</a:t>
            </a:r>
            <a:r>
              <a:rPr lang="en-US" dirty="0" smtClean="0"/>
              <a:t>: </a:t>
            </a:r>
            <a:r>
              <a:rPr lang="en-US" dirty="0" err="1" smtClean="0"/>
              <a:t>lese</a:t>
            </a:r>
            <a:r>
              <a:rPr lang="en-US" dirty="0" smtClean="0"/>
              <a:t> </a:t>
            </a:r>
            <a:r>
              <a:rPr lang="en-US" dirty="0" err="1" smtClean="0"/>
              <a:t>ein</a:t>
            </a:r>
            <a:r>
              <a:rPr lang="en-US" dirty="0" smtClean="0"/>
              <a:t> </a:t>
            </a:r>
            <a:r>
              <a:rPr lang="en-US" dirty="0" err="1" smtClean="0"/>
              <a:t>bekanntes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Trenn</a:t>
            </a:r>
            <a:r>
              <a:rPr lang="en-US" dirty="0" smtClean="0"/>
              <a:t>-)</a:t>
            </a:r>
            <a:r>
              <a:rPr lang="en-US" dirty="0" err="1" smtClean="0"/>
              <a:t>Zeichen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</a:rPr>
              <a:t>		Char&lt;';'&gt;</a:t>
            </a:r>
          </a:p>
          <a:p>
            <a:r>
              <a:rPr lang="en-US" dirty="0" err="1" smtClean="0"/>
              <a:t>Implementierung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template</a:t>
            </a:r>
            <a:r>
              <a:rPr lang="de-DE" sz="1800" b="1" dirty="0" smtClean="0">
                <a:latin typeface="Courier New" pitchFamily="49" charset="0"/>
              </a:rPr>
              <a:t>&lt;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 smtClean="0">
                <a:latin typeface="Courier New" pitchFamily="49" charset="0"/>
              </a:rPr>
              <a:t> C &gt;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en-US" sz="1800" b="1" dirty="0" smtClean="0">
                <a:latin typeface="Courier New" pitchFamily="49" charset="0"/>
              </a:rPr>
              <a:t>std::</a:t>
            </a:r>
            <a:r>
              <a:rPr lang="en-US" sz="1800" b="1" dirty="0" err="1" smtClean="0">
                <a:latin typeface="Courier New" pitchFamily="49" charset="0"/>
              </a:rPr>
              <a:t>istream</a:t>
            </a:r>
            <a:r>
              <a:rPr lang="en-US" sz="1800" b="1" dirty="0" smtClean="0">
                <a:latin typeface="Courier New" pitchFamily="49" charset="0"/>
              </a:rPr>
              <a:t>&amp; Char( std::</a:t>
            </a:r>
            <a:r>
              <a:rPr lang="en-US" sz="1800" b="1" dirty="0" err="1" smtClean="0">
                <a:latin typeface="Courier New" pitchFamily="49" charset="0"/>
              </a:rPr>
              <a:t>istream</a:t>
            </a:r>
            <a:r>
              <a:rPr lang="en-US" sz="1800" b="1" dirty="0" smtClean="0">
                <a:latin typeface="Courier New" pitchFamily="49" charset="0"/>
              </a:rPr>
              <a:t>&amp; in ) </a:t>
            </a:r>
            <a:r>
              <a:rPr lang="de-DE" sz="1800" b="1" dirty="0" smtClean="0">
                <a:latin typeface="Courier New" pitchFamily="49" charset="0"/>
              </a:rPr>
              <a:t>{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 smtClean="0">
                <a:latin typeface="Courier New" pitchFamily="49" charset="0"/>
              </a:rPr>
              <a:t> c;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</a:t>
            </a:r>
            <a:r>
              <a:rPr lang="en-US" sz="1800" b="1" dirty="0" smtClean="0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en-US" sz="1800" b="1" dirty="0" smtClean="0">
                <a:latin typeface="Courier New" pitchFamily="49" charset="0"/>
              </a:rPr>
              <a:t>( in &gt;&gt; c &amp;&amp; c != C )</a:t>
            </a:r>
            <a:br>
              <a:rPr lang="en-US" sz="1800" b="1" dirty="0" smtClean="0">
                <a:latin typeface="Courier New" pitchFamily="49" charset="0"/>
              </a:rPr>
            </a:br>
            <a:r>
              <a:rPr lang="en-US" sz="1800" b="1" dirty="0" smtClean="0">
                <a:latin typeface="Courier New" pitchFamily="49" charset="0"/>
              </a:rPr>
              <a:t>        </a:t>
            </a:r>
            <a:r>
              <a:rPr lang="de-DE" sz="1800" b="1" dirty="0" err="1" smtClean="0">
                <a:latin typeface="Courier New" pitchFamily="49" charset="0"/>
              </a:rPr>
              <a:t>in.setstate</a:t>
            </a:r>
            <a:r>
              <a:rPr lang="de-DE" sz="1800" b="1" dirty="0" smtClean="0">
                <a:latin typeface="Courier New" pitchFamily="49" charset="0"/>
              </a:rPr>
              <a:t>( </a:t>
            </a:r>
            <a:r>
              <a:rPr lang="de-DE" sz="1800" b="1" dirty="0" err="1" smtClean="0">
                <a:latin typeface="Courier New" pitchFamily="49" charset="0"/>
              </a:rPr>
              <a:t>std</a:t>
            </a:r>
            <a:r>
              <a:rPr lang="de-DE" sz="1800" b="1" dirty="0" smtClean="0">
                <a:latin typeface="Courier New" pitchFamily="49" charset="0"/>
              </a:rPr>
              <a:t>::</a:t>
            </a:r>
            <a:r>
              <a:rPr lang="de-DE" sz="1800" b="1" dirty="0" err="1" smtClean="0">
                <a:latin typeface="Courier New" pitchFamily="49" charset="0"/>
              </a:rPr>
              <a:t>ios_base</a:t>
            </a:r>
            <a:r>
              <a:rPr lang="de-DE" sz="1800" b="1" dirty="0" smtClean="0">
                <a:latin typeface="Courier New" pitchFamily="49" charset="0"/>
              </a:rPr>
              <a:t>::</a:t>
            </a:r>
            <a:r>
              <a:rPr lang="de-DE" sz="1800" b="1" dirty="0" err="1" smtClean="0">
                <a:latin typeface="Courier New" pitchFamily="49" charset="0"/>
              </a:rPr>
              <a:t>failbit</a:t>
            </a:r>
            <a:r>
              <a:rPr lang="de-DE" sz="1800" b="1" dirty="0" smtClean="0">
                <a:latin typeface="Courier New" pitchFamily="49" charset="0"/>
              </a:rPr>
              <a:t> );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 smtClean="0">
                <a:latin typeface="Courier New" pitchFamily="49" charset="0"/>
              </a:rPr>
              <a:t> in;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}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64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Lesen eines arithmetischen Ausdrucks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 smtClean="0">
                <a:latin typeface="Courier New" pitchFamily="49" charset="0"/>
                <a:cs typeface="Courier New" pitchFamily="49" charset="0"/>
              </a:rPr>
              <a:t>	25/2-(0.3+4.7)*0.5</a:t>
            </a:r>
          </a:p>
          <a:p>
            <a:r>
              <a:rPr lang="de-DE" dirty="0" smtClean="0"/>
              <a:t>nach </a:t>
            </a:r>
            <a:r>
              <a:rPr lang="de-DE" dirty="0" err="1" smtClean="0"/>
              <a:t>Backus</a:t>
            </a:r>
            <a:r>
              <a:rPr lang="de-DE" dirty="0" smtClean="0"/>
              <a:t> </a:t>
            </a:r>
            <a:r>
              <a:rPr lang="de-DE" dirty="0" err="1" smtClean="0"/>
              <a:t>Naur</a:t>
            </a:r>
            <a:r>
              <a:rPr lang="de-DE" dirty="0" smtClean="0"/>
              <a:t>:</a:t>
            </a:r>
            <a:br>
              <a:rPr lang="de-DE" dirty="0" smtClean="0"/>
            </a:br>
            <a:r>
              <a:rPr lang="de-DE" sz="2000" dirty="0" smtClean="0"/>
              <a:t>&lt;</a:t>
            </a:r>
            <a:r>
              <a:rPr lang="de-DE" sz="2000" dirty="0" err="1" smtClean="0"/>
              <a:t>expr</a:t>
            </a:r>
            <a:r>
              <a:rPr lang="de-DE" sz="2000" dirty="0" smtClean="0"/>
              <a:t>&gt; ::= 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 | 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 </a:t>
            </a:r>
            <a:r>
              <a:rPr lang="de-DE" sz="2000" b="1" dirty="0" smtClean="0"/>
              <a:t>+</a:t>
            </a:r>
            <a:r>
              <a:rPr lang="de-DE" sz="2000" dirty="0" smtClean="0"/>
              <a:t> 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 | 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 </a:t>
            </a:r>
            <a:r>
              <a:rPr lang="de-DE" sz="2000" b="1" dirty="0" smtClean="0"/>
              <a:t>-</a:t>
            </a:r>
            <a:r>
              <a:rPr lang="de-DE" sz="2000" dirty="0" smtClean="0"/>
              <a:t> 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</a:t>
            </a:r>
            <a:br>
              <a:rPr lang="de-DE" sz="2000" dirty="0" smtClean="0"/>
            </a:br>
            <a:r>
              <a:rPr lang="de-DE" sz="2000" dirty="0" smtClean="0"/>
              <a:t>&lt;</a:t>
            </a:r>
            <a:r>
              <a:rPr lang="de-DE" sz="2000" dirty="0" err="1" smtClean="0"/>
              <a:t>term</a:t>
            </a:r>
            <a:r>
              <a:rPr lang="de-DE" sz="2000" dirty="0" smtClean="0"/>
              <a:t>&gt; ::= 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| 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</a:t>
            </a:r>
            <a:r>
              <a:rPr lang="de-DE" sz="2000" b="1" dirty="0" smtClean="0"/>
              <a:t>*</a:t>
            </a:r>
            <a:r>
              <a:rPr lang="de-DE" sz="2000" dirty="0" smtClean="0"/>
              <a:t> 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| 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</a:t>
            </a:r>
            <a:r>
              <a:rPr lang="de-DE" sz="2000" b="1" dirty="0" smtClean="0"/>
              <a:t>/</a:t>
            </a:r>
            <a:r>
              <a:rPr lang="de-DE" sz="2000" dirty="0" smtClean="0"/>
              <a:t> 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</a:t>
            </a:r>
            <a:br>
              <a:rPr lang="de-DE" sz="2000" dirty="0" smtClean="0"/>
            </a:br>
            <a:r>
              <a:rPr lang="de-DE" sz="2000" dirty="0" smtClean="0"/>
              <a:t>&lt;</a:t>
            </a:r>
            <a:r>
              <a:rPr lang="de-DE" sz="2000" dirty="0" err="1" smtClean="0"/>
              <a:t>factor</a:t>
            </a:r>
            <a:r>
              <a:rPr lang="de-DE" sz="2000" dirty="0" smtClean="0"/>
              <a:t>&gt; ::= &lt;T=</a:t>
            </a:r>
            <a:r>
              <a:rPr lang="de-DE" sz="1800" b="1" dirty="0" smtClean="0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sz="2000" dirty="0" smtClean="0"/>
              <a:t>&gt; | </a:t>
            </a:r>
            <a:r>
              <a:rPr lang="de-DE" sz="2000" b="1" dirty="0" smtClean="0"/>
              <a:t>(</a:t>
            </a:r>
            <a:r>
              <a:rPr lang="de-DE" sz="2000" dirty="0" smtClean="0"/>
              <a:t> &lt;</a:t>
            </a:r>
            <a:r>
              <a:rPr lang="de-DE" sz="2000" dirty="0" err="1" smtClean="0"/>
              <a:t>expr</a:t>
            </a:r>
            <a:r>
              <a:rPr lang="de-DE" sz="2000" dirty="0" smtClean="0"/>
              <a:t>&gt; </a:t>
            </a:r>
            <a:r>
              <a:rPr lang="de-DE" sz="2000" b="1" dirty="0" smtClean="0"/>
              <a:t>)</a:t>
            </a:r>
            <a:r>
              <a:rPr lang="de-DE" sz="2000" dirty="0" smtClean="0"/>
              <a:t/>
            </a:r>
            <a:br>
              <a:rPr lang="de-DE" sz="2000" dirty="0" smtClean="0"/>
            </a:br>
            <a:endParaRPr lang="de-DE" sz="2000" dirty="0" smtClean="0"/>
          </a:p>
          <a:p>
            <a:r>
              <a:rPr lang="de-DE" dirty="0" smtClean="0"/>
              <a:t>Im Grunde muss im Stream nur je nach Situation auf +,-,*,/ oder ( und ) geprüft werden.</a:t>
            </a:r>
          </a:p>
          <a:p>
            <a:r>
              <a:rPr lang="de-DE" dirty="0" smtClean="0"/>
              <a:t>Ansonsten wird eine Variable vom Typ T gelesen</a:t>
            </a:r>
          </a:p>
          <a:p>
            <a:r>
              <a:rPr lang="de-DE" dirty="0" smtClean="0"/>
              <a:t>s. </a:t>
            </a:r>
            <a:r>
              <a:rPr lang="de-DE" dirty="0" err="1" smtClean="0"/>
              <a:t>Lit</a:t>
            </a:r>
            <a:r>
              <a:rPr lang="de-DE" dirty="0" smtClean="0"/>
              <a:t>[4]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65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Prüfen welches Zeichen folgt ..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Es gibt keine sichere Funktion, die prüft, ob ein bestimmtes Zeichen im Stream folgt (formatiert!).</a:t>
            </a:r>
          </a:p>
          <a:p>
            <a:r>
              <a:rPr lang="de-DE" dirty="0" smtClean="0"/>
              <a:t>Der Dienstweg:</a:t>
            </a:r>
            <a:br>
              <a:rPr lang="de-DE" dirty="0" smtClean="0"/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next</a:t>
            </a:r>
            <a:r>
              <a:rPr lang="de-DE" sz="1800" b="1" dirty="0">
                <a:latin typeface="Courier New" pitchFamily="49" charset="0"/>
              </a:rPr>
              <a:t> = ‚+‘; </a:t>
            </a:r>
            <a:r>
              <a:rPr lang="de-DE" sz="1800" dirty="0">
                <a:latin typeface="Courier New" pitchFamily="49" charset="0"/>
              </a:rPr>
              <a:t>// z.B. prüfe, ob + folgt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800" b="1" dirty="0">
                <a:latin typeface="Courier New" pitchFamily="49" charset="0"/>
              </a:rPr>
              <a:t>( !in.eof() &amp;&amp; (in &gt;&gt; </a:t>
            </a:r>
            <a:r>
              <a:rPr lang="de-DE" sz="1800" b="1" dirty="0" err="1">
                <a:latin typeface="Courier New" pitchFamily="49" charset="0"/>
              </a:rPr>
              <a:t>ws</a:t>
            </a:r>
            <a:r>
              <a:rPr lang="de-DE" sz="1800" b="1" dirty="0">
                <a:latin typeface="Courier New" pitchFamily="49" charset="0"/>
              </a:rPr>
              <a:t>).</a:t>
            </a:r>
            <a:r>
              <a:rPr lang="de-DE" sz="1800" b="1" dirty="0" err="1">
                <a:latin typeface="Courier New" pitchFamily="49" charset="0"/>
              </a:rPr>
              <a:t>good</a:t>
            </a:r>
            <a:r>
              <a:rPr lang="de-DE" sz="1800" b="1" dirty="0" smtClean="0">
                <a:latin typeface="Courier New" pitchFamily="49" charset="0"/>
              </a:rPr>
              <a:t>()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	&amp;&amp;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 smtClean="0">
                <a:latin typeface="Courier New" pitchFamily="49" charset="0"/>
              </a:rPr>
              <a:t>(</a:t>
            </a:r>
            <a:r>
              <a:rPr lang="de-DE" sz="1800" b="1" dirty="0" err="1" smtClean="0">
                <a:latin typeface="Courier New" pitchFamily="49" charset="0"/>
              </a:rPr>
              <a:t>in.peek</a:t>
            </a:r>
            <a:r>
              <a:rPr lang="de-DE" sz="1800" b="1" dirty="0" smtClean="0">
                <a:latin typeface="Courier New" pitchFamily="49" charset="0"/>
              </a:rPr>
              <a:t>()) </a:t>
            </a:r>
            <a:r>
              <a:rPr lang="de-DE" sz="1800" b="1" dirty="0">
                <a:latin typeface="Courier New" pitchFamily="49" charset="0"/>
              </a:rPr>
              <a:t>== </a:t>
            </a:r>
            <a:r>
              <a:rPr lang="de-DE" sz="1800" b="1" dirty="0" err="1" smtClean="0">
                <a:latin typeface="Courier New" pitchFamily="49" charset="0"/>
              </a:rPr>
              <a:t>next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>) {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	</a:t>
            </a:r>
            <a:r>
              <a:rPr lang="de-DE" sz="1800" dirty="0" smtClean="0">
                <a:latin typeface="Courier New" pitchFamily="49" charset="0"/>
              </a:rPr>
              <a:t>// </a:t>
            </a:r>
            <a:r>
              <a:rPr lang="de-DE" sz="1800" dirty="0">
                <a:latin typeface="Courier New" pitchFamily="49" charset="0"/>
              </a:rPr>
              <a:t>ein ‚+‘ folgt; es wurde nicht ‚konsumiert‘</a:t>
            </a:r>
          </a:p>
          <a:p>
            <a:r>
              <a:rPr lang="de-DE" dirty="0" smtClean="0"/>
              <a:t>-&gt; Funktion </a:t>
            </a:r>
            <a:r>
              <a:rPr lang="de-DE" sz="1800" b="1" dirty="0" err="1" smtClean="0">
                <a:latin typeface="Courier New" pitchFamily="49" charset="0"/>
              </a:rPr>
              <a:t>ctest</a:t>
            </a:r>
            <a:r>
              <a:rPr lang="de-DE" sz="1800" b="1" dirty="0" smtClean="0">
                <a:latin typeface="Courier New" pitchFamily="49" charset="0"/>
              </a:rPr>
              <a:t>( </a:t>
            </a:r>
            <a:r>
              <a:rPr lang="de-DE" sz="1800" b="1" dirty="0" err="1" smtClean="0">
                <a:latin typeface="Courier New" pitchFamily="49" charset="0"/>
              </a:rPr>
              <a:t>istream</a:t>
            </a:r>
            <a:r>
              <a:rPr lang="de-DE" sz="1800" b="1" dirty="0" smtClean="0">
                <a:latin typeface="Courier New" pitchFamily="49" charset="0"/>
              </a:rPr>
              <a:t>&amp; in,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char</a:t>
            </a:r>
            <a:r>
              <a:rPr lang="de-DE" sz="1800" b="1" dirty="0" smtClean="0">
                <a:latin typeface="Courier New" pitchFamily="49" charset="0"/>
              </a:rPr>
              <a:t> c );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b="1" dirty="0" err="1" smtClean="0">
                <a:latin typeface="Courier New" pitchFamily="49" charset="0"/>
                <a:cs typeface="Courier New" pitchFamily="49" charset="0"/>
              </a:rPr>
              <a:t>ctest</a:t>
            </a:r>
            <a:r>
              <a:rPr lang="de-DE" dirty="0" smtClean="0"/>
              <a:t> konsumiert das Zeichen, wenn es im Stream folgt!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66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Factor</a:t>
            </a:r>
            <a:r>
              <a:rPr lang="de-DE" dirty="0" smtClean="0"/>
              <a:t> lesen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&lt;</a:t>
            </a:r>
            <a:r>
              <a:rPr lang="de-DE" dirty="0" err="1" smtClean="0"/>
              <a:t>factor</a:t>
            </a:r>
            <a:r>
              <a:rPr lang="de-DE" dirty="0" smtClean="0"/>
              <a:t>&gt; ::= &lt;T=</a:t>
            </a:r>
            <a:r>
              <a:rPr lang="de-DE" sz="2000" b="1" dirty="0" smtClean="0">
                <a:solidFill>
                  <a:schemeClr val="accent2"/>
                </a:solidFill>
                <a:latin typeface="Courier New" pitchFamily="49" charset="0"/>
              </a:rPr>
              <a:t>double</a:t>
            </a:r>
            <a:r>
              <a:rPr lang="de-DE" dirty="0" smtClean="0"/>
              <a:t>&gt; | </a:t>
            </a:r>
            <a:r>
              <a:rPr lang="de-DE" b="1" dirty="0" smtClean="0"/>
              <a:t>(</a:t>
            </a:r>
            <a:r>
              <a:rPr lang="de-DE" dirty="0" smtClean="0"/>
              <a:t> &lt;</a:t>
            </a:r>
            <a:r>
              <a:rPr lang="de-DE" dirty="0" err="1" smtClean="0"/>
              <a:t>expr</a:t>
            </a:r>
            <a:r>
              <a:rPr lang="de-DE" dirty="0" smtClean="0"/>
              <a:t>&gt; </a:t>
            </a:r>
            <a:r>
              <a:rPr lang="de-DE" b="1" dirty="0" smtClean="0"/>
              <a:t>)</a:t>
            </a:r>
            <a:endParaRPr lang="de-DE" dirty="0" smtClean="0"/>
          </a:p>
          <a:p>
            <a:pPr>
              <a:buNone/>
            </a:pPr>
            <a:r>
              <a:rPr lang="de-DE" sz="18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template</a:t>
            </a:r>
            <a:r>
              <a:rPr lang="de-DE" sz="1800" b="1" dirty="0">
                <a:latin typeface="Courier New" pitchFamily="49" charset="0"/>
              </a:rPr>
              <a:t>&lt;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typename</a:t>
            </a:r>
            <a:r>
              <a:rPr lang="de-DE" sz="1800" b="1" dirty="0">
                <a:latin typeface="Courier New" pitchFamily="49" charset="0"/>
              </a:rPr>
              <a:t> T &gt;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struct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Factor</a:t>
            </a:r>
            <a:r>
              <a:rPr lang="de-DE" sz="1800" b="1" dirty="0">
                <a:latin typeface="Courier New" pitchFamily="49" charset="0"/>
              </a:rPr>
              <a:t> {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  </a:t>
            </a:r>
            <a:r>
              <a:rPr lang="de-DE" sz="1800" b="1" dirty="0" smtClean="0">
                <a:solidFill>
                  <a:schemeClr val="accent2"/>
                </a:solidFill>
                <a:latin typeface="Courier New" pitchFamily="49" charset="0"/>
              </a:rPr>
              <a:t>explicit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Factor</a:t>
            </a:r>
            <a:r>
              <a:rPr lang="de-DE" sz="1800" b="1" dirty="0">
                <a:latin typeface="Courier New" pitchFamily="49" charset="0"/>
              </a:rPr>
              <a:t>( T&amp; </a:t>
            </a:r>
            <a:r>
              <a:rPr lang="de-DE" sz="1800" b="1" dirty="0" err="1">
                <a:latin typeface="Courier New" pitchFamily="49" charset="0"/>
              </a:rPr>
              <a:t>value</a:t>
            </a:r>
            <a:r>
              <a:rPr lang="de-DE" sz="1800" b="1" dirty="0">
                <a:latin typeface="Courier New" pitchFamily="49" charset="0"/>
              </a:rPr>
              <a:t> ) : </a:t>
            </a:r>
            <a:r>
              <a:rPr lang="de-DE" sz="1800" b="1" dirty="0" err="1">
                <a:latin typeface="Courier New" pitchFamily="49" charset="0"/>
              </a:rPr>
              <a:t>m_value</a:t>
            </a:r>
            <a:r>
              <a:rPr lang="de-DE" sz="1800" b="1" dirty="0">
                <a:latin typeface="Courier New" pitchFamily="49" charset="0"/>
              </a:rPr>
              <a:t>( </a:t>
            </a:r>
            <a:r>
              <a:rPr lang="de-DE" sz="1800" b="1" dirty="0" err="1">
                <a:latin typeface="Courier New" pitchFamily="49" charset="0"/>
              </a:rPr>
              <a:t>value</a:t>
            </a:r>
            <a:r>
              <a:rPr lang="de-DE" sz="1800" b="1" dirty="0">
                <a:latin typeface="Courier New" pitchFamily="49" charset="0"/>
              </a:rPr>
              <a:t> ) </a:t>
            </a:r>
            <a:r>
              <a:rPr lang="de-DE" sz="1800" b="1" dirty="0" smtClean="0">
                <a:latin typeface="Courier New" pitchFamily="49" charset="0"/>
              </a:rPr>
              <a:t>{}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 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friend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std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istream</a:t>
            </a:r>
            <a:r>
              <a:rPr lang="de-DE" sz="1800" b="1" dirty="0">
                <a:latin typeface="Courier New" pitchFamily="49" charset="0"/>
              </a:rPr>
              <a:t>&amp;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800" b="1" dirty="0">
                <a:latin typeface="Courier New" pitchFamily="49" charset="0"/>
              </a:rPr>
              <a:t>&gt;&gt;(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  </a:t>
            </a:r>
            <a:r>
              <a:rPr lang="de-DE" sz="1800" b="1" dirty="0" err="1" smtClean="0">
                <a:latin typeface="Courier New" pitchFamily="49" charset="0"/>
              </a:rPr>
              <a:t>std</a:t>
            </a:r>
            <a:r>
              <a:rPr lang="de-DE" sz="1800" b="1" dirty="0">
                <a:latin typeface="Courier New" pitchFamily="49" charset="0"/>
              </a:rPr>
              <a:t>::</a:t>
            </a:r>
            <a:r>
              <a:rPr lang="de-DE" sz="1800" b="1" dirty="0" err="1">
                <a:latin typeface="Courier New" pitchFamily="49" charset="0"/>
              </a:rPr>
              <a:t>istream</a:t>
            </a:r>
            <a:r>
              <a:rPr lang="de-DE" sz="1800" b="1" dirty="0">
                <a:latin typeface="Courier New" pitchFamily="49" charset="0"/>
              </a:rPr>
              <a:t>&amp; in, </a:t>
            </a:r>
            <a:r>
              <a:rPr lang="de-DE" sz="1800" b="1" dirty="0" err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err="1">
                <a:latin typeface="Courier New" pitchFamily="49" charset="0"/>
              </a:rPr>
              <a:t>Factor</a:t>
            </a:r>
            <a:r>
              <a:rPr lang="de-DE" sz="1800" b="1" dirty="0">
                <a:latin typeface="Courier New" pitchFamily="49" charset="0"/>
              </a:rPr>
              <a:t>&amp; x ) </a:t>
            </a:r>
            <a:r>
              <a:rPr lang="de-DE" sz="1800" b="1" dirty="0" smtClean="0">
                <a:latin typeface="Courier New" pitchFamily="49" charset="0"/>
              </a:rPr>
              <a:t>{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 err="1" smtClean="0">
                <a:latin typeface="Courier New" pitchFamily="49" charset="0"/>
              </a:rPr>
              <a:t>ctest</a:t>
            </a:r>
            <a:r>
              <a:rPr lang="de-DE" sz="1800" b="1" dirty="0" smtClean="0">
                <a:latin typeface="Courier New" pitchFamily="49" charset="0"/>
              </a:rPr>
              <a:t>( in, </a:t>
            </a:r>
            <a:r>
              <a:rPr lang="de-DE" sz="1800" b="1" smtClean="0">
                <a:latin typeface="Courier New" pitchFamily="49" charset="0"/>
              </a:rPr>
              <a:t>'(' )?</a:t>
            </a:r>
            <a:r>
              <a:rPr lang="de-DE" sz="1800" b="1" dirty="0" smtClean="0">
                <a:latin typeface="Courier New" pitchFamily="49" charset="0"/>
              </a:rPr>
              <a:t/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 </a:t>
            </a:r>
            <a:r>
              <a:rPr lang="de-DE" sz="1800" b="1" dirty="0" smtClean="0">
                <a:latin typeface="Courier New" pitchFamily="49" charset="0"/>
              </a:rPr>
              <a:t>     in &gt;&gt; </a:t>
            </a:r>
            <a:r>
              <a:rPr lang="de-DE" sz="1800" b="1" dirty="0" err="1" smtClean="0">
                <a:latin typeface="Courier New" pitchFamily="49" charset="0"/>
              </a:rPr>
              <a:t>expression</a:t>
            </a:r>
            <a:r>
              <a:rPr lang="de-DE" sz="1800" b="1" dirty="0" smtClean="0">
                <a:latin typeface="Courier New" pitchFamily="49" charset="0"/>
              </a:rPr>
              <a:t>( </a:t>
            </a:r>
            <a:r>
              <a:rPr lang="de-DE" sz="1800" b="1" dirty="0" err="1" smtClean="0">
                <a:latin typeface="Courier New" pitchFamily="49" charset="0"/>
              </a:rPr>
              <a:t>x.m_value</a:t>
            </a:r>
            <a:r>
              <a:rPr lang="de-DE" sz="1800" b="1" dirty="0" smtClean="0">
                <a:latin typeface="Courier New" pitchFamily="49" charset="0"/>
              </a:rPr>
              <a:t> ) &gt;&gt; </a:t>
            </a:r>
            <a:r>
              <a:rPr lang="de-DE" sz="1800" b="1" dirty="0" err="1" smtClean="0">
                <a:latin typeface="Courier New" pitchFamily="49" charset="0"/>
              </a:rPr>
              <a:t>Char</a:t>
            </a:r>
            <a:r>
              <a:rPr lang="de-DE" sz="1800" b="1" dirty="0" smtClean="0">
                <a:latin typeface="Courier New" pitchFamily="49" charset="0"/>
              </a:rPr>
              <a:t>&lt;')'&gt;: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  in &gt;&gt; </a:t>
            </a:r>
            <a:r>
              <a:rPr lang="de-DE" sz="1800" b="1" dirty="0" err="1" smtClean="0">
                <a:latin typeface="Courier New" pitchFamily="49" charset="0"/>
              </a:rPr>
              <a:t>x.m_value</a:t>
            </a:r>
            <a:r>
              <a:rPr lang="de-DE" sz="1800" b="1" dirty="0" smtClean="0">
                <a:latin typeface="Courier New" pitchFamily="49" charset="0"/>
              </a:rPr>
              <a:t>;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  </a:t>
            </a:r>
            <a:r>
              <a:rPr lang="de-DE" sz="1800" b="1" dirty="0" smtClean="0">
                <a:latin typeface="Courier New" pitchFamily="49" charset="0"/>
              </a:rPr>
              <a:t>}</a:t>
            </a:r>
            <a:r>
              <a:rPr lang="de-DE" sz="1800" b="1" dirty="0">
                <a:latin typeface="Courier New" pitchFamily="49" charset="0"/>
              </a:rPr>
              <a:t/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solidFill>
                  <a:schemeClr val="accent2"/>
                </a:solidFill>
                <a:latin typeface="Courier New" pitchFamily="49" charset="0"/>
              </a:rPr>
              <a:t>private</a:t>
            </a:r>
            <a:r>
              <a:rPr lang="de-DE" sz="1800" b="1" dirty="0">
                <a:latin typeface="Courier New" pitchFamily="49" charset="0"/>
              </a:rPr>
              <a:t>: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  </a:t>
            </a:r>
            <a:r>
              <a:rPr lang="de-DE" sz="1800" b="1" dirty="0" smtClean="0">
                <a:latin typeface="Courier New" pitchFamily="49" charset="0"/>
              </a:rPr>
              <a:t>T</a:t>
            </a:r>
            <a:r>
              <a:rPr lang="de-DE" sz="1800" b="1" dirty="0">
                <a:latin typeface="Courier New" pitchFamily="49" charset="0"/>
              </a:rPr>
              <a:t>&amp; </a:t>
            </a:r>
            <a:r>
              <a:rPr lang="de-DE" sz="1800" b="1" dirty="0" err="1">
                <a:latin typeface="Courier New" pitchFamily="49" charset="0"/>
              </a:rPr>
              <a:t>m_value</a:t>
            </a:r>
            <a:r>
              <a:rPr lang="de-DE" sz="1800" b="1" dirty="0">
                <a:latin typeface="Courier New" pitchFamily="49" charset="0"/>
              </a:rPr>
              <a:t>; </a:t>
            </a:r>
            <a:br>
              <a:rPr lang="de-DE" sz="1800" b="1" dirty="0">
                <a:latin typeface="Courier New" pitchFamily="49" charset="0"/>
              </a:rPr>
            </a:br>
            <a:r>
              <a:rPr lang="de-DE" sz="1800" b="1" dirty="0">
                <a:latin typeface="Courier New" pitchFamily="49" charset="0"/>
              </a:rPr>
              <a:t>};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67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Term lesen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196752"/>
            <a:ext cx="8134672" cy="4899248"/>
          </a:xfrm>
        </p:spPr>
        <p:txBody>
          <a:bodyPr/>
          <a:lstStyle/>
          <a:p>
            <a:r>
              <a:rPr lang="de-DE" dirty="0" smtClean="0"/>
              <a:t>&lt;</a:t>
            </a:r>
            <a:r>
              <a:rPr lang="de-DE" dirty="0" err="1" smtClean="0"/>
              <a:t>term</a:t>
            </a:r>
            <a:r>
              <a:rPr lang="de-DE" dirty="0" smtClean="0"/>
              <a:t>&gt; ::= &lt;</a:t>
            </a:r>
            <a:r>
              <a:rPr lang="de-DE" dirty="0" err="1" smtClean="0"/>
              <a:t>factor</a:t>
            </a:r>
            <a:r>
              <a:rPr lang="de-DE" dirty="0" smtClean="0"/>
              <a:t>&gt; </a:t>
            </a:r>
            <a:br>
              <a:rPr lang="de-DE" dirty="0" smtClean="0"/>
            </a:br>
            <a:r>
              <a:rPr lang="de-DE" dirty="0" smtClean="0"/>
              <a:t>	| &lt;</a:t>
            </a:r>
            <a:r>
              <a:rPr lang="de-DE" dirty="0" err="1" smtClean="0"/>
              <a:t>factor</a:t>
            </a:r>
            <a:r>
              <a:rPr lang="de-DE" dirty="0" smtClean="0"/>
              <a:t>&gt; </a:t>
            </a:r>
            <a:r>
              <a:rPr lang="de-DE" b="1" dirty="0" smtClean="0"/>
              <a:t>*</a:t>
            </a:r>
            <a:r>
              <a:rPr lang="de-DE" dirty="0" smtClean="0"/>
              <a:t> &lt;</a:t>
            </a:r>
            <a:r>
              <a:rPr lang="de-DE" dirty="0" err="1" smtClean="0"/>
              <a:t>factor</a:t>
            </a:r>
            <a:r>
              <a:rPr lang="de-DE" dirty="0" smtClean="0"/>
              <a:t>&gt; | &lt;</a:t>
            </a:r>
            <a:r>
              <a:rPr lang="de-DE" dirty="0" err="1" smtClean="0"/>
              <a:t>factor</a:t>
            </a:r>
            <a:r>
              <a:rPr lang="de-DE" dirty="0" smtClean="0"/>
              <a:t>&gt; </a:t>
            </a:r>
            <a:r>
              <a:rPr lang="de-DE" b="1" dirty="0" smtClean="0"/>
              <a:t>/</a:t>
            </a:r>
            <a:r>
              <a:rPr lang="de-DE" dirty="0" smtClean="0"/>
              <a:t> &lt;</a:t>
            </a:r>
            <a:r>
              <a:rPr lang="de-DE" dirty="0" err="1" smtClean="0"/>
              <a:t>factor</a:t>
            </a:r>
            <a:r>
              <a:rPr lang="de-DE" dirty="0" smtClean="0"/>
              <a:t>&gt; </a:t>
            </a:r>
          </a:p>
          <a:p>
            <a:pPr>
              <a:buNone/>
            </a:pPr>
            <a:r>
              <a:rPr lang="de-DE" sz="14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400" b="1" dirty="0" err="1" smtClean="0">
                <a:solidFill>
                  <a:schemeClr val="accent2"/>
                </a:solidFill>
                <a:latin typeface="Courier New" pitchFamily="49" charset="0"/>
              </a:rPr>
              <a:t>template</a:t>
            </a:r>
            <a:r>
              <a:rPr lang="de-DE" sz="1400" b="1" dirty="0">
                <a:latin typeface="Courier New" pitchFamily="49" charset="0"/>
              </a:rPr>
              <a:t>&lt;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typename</a:t>
            </a:r>
            <a:r>
              <a:rPr lang="de-DE" sz="1400" b="1" dirty="0">
                <a:latin typeface="Courier New" pitchFamily="49" charset="0"/>
              </a:rPr>
              <a:t> T &gt;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struct</a:t>
            </a:r>
            <a:r>
              <a:rPr lang="de-DE" sz="1400" b="1" dirty="0">
                <a:latin typeface="Courier New" pitchFamily="49" charset="0"/>
              </a:rPr>
              <a:t> Term {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</a:t>
            </a:r>
            <a:r>
              <a:rPr lang="de-DE" sz="1400" b="1" dirty="0">
                <a:solidFill>
                  <a:schemeClr val="accent2"/>
                </a:solidFill>
                <a:latin typeface="Courier New" pitchFamily="49" charset="0"/>
              </a:rPr>
              <a:t>explicit</a:t>
            </a:r>
            <a:r>
              <a:rPr lang="de-DE" sz="1400" b="1" dirty="0">
                <a:latin typeface="Courier New" pitchFamily="49" charset="0"/>
              </a:rPr>
              <a:t> Term( T&amp; </a:t>
            </a:r>
            <a:r>
              <a:rPr lang="de-DE" sz="1400" b="1" dirty="0" err="1">
                <a:latin typeface="Courier New" pitchFamily="49" charset="0"/>
              </a:rPr>
              <a:t>value</a:t>
            </a:r>
            <a:r>
              <a:rPr lang="de-DE" sz="1400" b="1" dirty="0">
                <a:latin typeface="Courier New" pitchFamily="49" charset="0"/>
              </a:rPr>
              <a:t> ) : </a:t>
            </a:r>
            <a:r>
              <a:rPr lang="de-DE" sz="1400" b="1" dirty="0" err="1">
                <a:latin typeface="Courier New" pitchFamily="49" charset="0"/>
              </a:rPr>
              <a:t>m_value</a:t>
            </a:r>
            <a:r>
              <a:rPr lang="de-DE" sz="1400" b="1" dirty="0">
                <a:latin typeface="Courier New" pitchFamily="49" charset="0"/>
              </a:rPr>
              <a:t>( </a:t>
            </a:r>
            <a:r>
              <a:rPr lang="de-DE" sz="1400" b="1" dirty="0" err="1">
                <a:latin typeface="Courier New" pitchFamily="49" charset="0"/>
              </a:rPr>
              <a:t>value</a:t>
            </a:r>
            <a:r>
              <a:rPr lang="de-DE" sz="1400" b="1" dirty="0">
                <a:latin typeface="Courier New" pitchFamily="49" charset="0"/>
              </a:rPr>
              <a:t> ) {} </a:t>
            </a:r>
            <a:r>
              <a:rPr lang="de-DE" sz="1400" b="1" dirty="0" smtClean="0">
                <a:latin typeface="Courier New" pitchFamily="49" charset="0"/>
              </a:rPr>
              <a:t/>
            </a:r>
            <a:br>
              <a:rPr lang="de-DE" sz="1400" b="1" dirty="0" smtClean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/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friend</a:t>
            </a:r>
            <a:r>
              <a:rPr lang="de-DE" sz="1400" b="1" dirty="0">
                <a:latin typeface="Courier New" pitchFamily="49" charset="0"/>
              </a:rPr>
              <a:t> </a:t>
            </a:r>
            <a:r>
              <a:rPr lang="de-DE" sz="1400" b="1" dirty="0" err="1">
                <a:latin typeface="Courier New" pitchFamily="49" charset="0"/>
              </a:rPr>
              <a:t>std</a:t>
            </a:r>
            <a:r>
              <a:rPr lang="de-DE" sz="1400" b="1" dirty="0">
                <a:latin typeface="Courier New" pitchFamily="49" charset="0"/>
              </a:rPr>
              <a:t>::</a:t>
            </a:r>
            <a:r>
              <a:rPr lang="de-DE" sz="1400" b="1" dirty="0" err="1">
                <a:latin typeface="Courier New" pitchFamily="49" charset="0"/>
              </a:rPr>
              <a:t>istream</a:t>
            </a:r>
            <a:r>
              <a:rPr lang="de-DE" sz="1400" b="1" dirty="0">
                <a:latin typeface="Courier New" pitchFamily="49" charset="0"/>
              </a:rPr>
              <a:t>&amp;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operator</a:t>
            </a:r>
            <a:r>
              <a:rPr lang="de-DE" sz="1400" b="1" dirty="0">
                <a:latin typeface="Courier New" pitchFamily="49" charset="0"/>
              </a:rPr>
              <a:t>&gt;&gt;( </a:t>
            </a:r>
            <a:r>
              <a:rPr lang="de-DE" sz="1400" b="1" dirty="0" err="1">
                <a:latin typeface="Courier New" pitchFamily="49" charset="0"/>
              </a:rPr>
              <a:t>std</a:t>
            </a:r>
            <a:r>
              <a:rPr lang="de-DE" sz="1400" b="1" dirty="0">
                <a:latin typeface="Courier New" pitchFamily="49" charset="0"/>
              </a:rPr>
              <a:t>::</a:t>
            </a:r>
            <a:r>
              <a:rPr lang="de-DE" sz="1400" b="1" dirty="0" err="1">
                <a:latin typeface="Courier New" pitchFamily="49" charset="0"/>
              </a:rPr>
              <a:t>istream</a:t>
            </a:r>
            <a:r>
              <a:rPr lang="de-DE" sz="1400" b="1" dirty="0">
                <a:latin typeface="Courier New" pitchFamily="49" charset="0"/>
              </a:rPr>
              <a:t>&amp; in,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const</a:t>
            </a:r>
            <a:r>
              <a:rPr lang="de-DE" sz="1400" b="1" dirty="0">
                <a:latin typeface="Courier New" pitchFamily="49" charset="0"/>
              </a:rPr>
              <a:t> Term&amp; x ) {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    in &gt;&gt; </a:t>
            </a:r>
            <a:r>
              <a:rPr lang="de-DE" sz="1400" b="1" dirty="0" err="1">
                <a:latin typeface="Courier New" pitchFamily="49" charset="0"/>
              </a:rPr>
              <a:t>Factor</a:t>
            </a:r>
            <a:r>
              <a:rPr lang="de-DE" sz="1400" b="1" dirty="0">
                <a:latin typeface="Courier New" pitchFamily="49" charset="0"/>
              </a:rPr>
              <a:t>&lt; T &gt;( </a:t>
            </a:r>
            <a:r>
              <a:rPr lang="de-DE" sz="1400" b="1" dirty="0" err="1">
                <a:latin typeface="Courier New" pitchFamily="49" charset="0"/>
              </a:rPr>
              <a:t>x.m_value</a:t>
            </a:r>
            <a:r>
              <a:rPr lang="de-DE" sz="1400" b="1" dirty="0">
                <a:latin typeface="Courier New" pitchFamily="49" charset="0"/>
              </a:rPr>
              <a:t> );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for</a:t>
            </a:r>
            <a:r>
              <a:rPr lang="de-DE" sz="1400" b="1" dirty="0">
                <a:latin typeface="Courier New" pitchFamily="49" charset="0"/>
              </a:rPr>
              <a:t>( T value2;; ) {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     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400" b="1" dirty="0">
                <a:latin typeface="Courier New" pitchFamily="49" charset="0"/>
              </a:rPr>
              <a:t>( </a:t>
            </a:r>
            <a:r>
              <a:rPr lang="de-DE" sz="1400" b="1" dirty="0" err="1">
                <a:latin typeface="Courier New" pitchFamily="49" charset="0"/>
              </a:rPr>
              <a:t>ctest</a:t>
            </a:r>
            <a:r>
              <a:rPr lang="de-DE" sz="1400" b="1" dirty="0">
                <a:latin typeface="Courier New" pitchFamily="49" charset="0"/>
              </a:rPr>
              <a:t>( in, '*' ) ) {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   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400" b="1" dirty="0">
                <a:latin typeface="Courier New" pitchFamily="49" charset="0"/>
              </a:rPr>
              <a:t>( in &gt;&gt; </a:t>
            </a:r>
            <a:r>
              <a:rPr lang="de-DE" sz="1400" b="1" dirty="0" err="1">
                <a:latin typeface="Courier New" pitchFamily="49" charset="0"/>
              </a:rPr>
              <a:t>Factor</a:t>
            </a:r>
            <a:r>
              <a:rPr lang="de-DE" sz="1400" b="1" dirty="0">
                <a:latin typeface="Courier New" pitchFamily="49" charset="0"/>
              </a:rPr>
              <a:t>&lt; T &gt;( value2 ) ) </a:t>
            </a:r>
            <a:r>
              <a:rPr lang="de-DE" sz="1400" b="1" dirty="0" err="1">
                <a:latin typeface="Courier New" pitchFamily="49" charset="0"/>
              </a:rPr>
              <a:t>x.m_value</a:t>
            </a:r>
            <a:r>
              <a:rPr lang="de-DE" sz="1400" b="1" dirty="0">
                <a:latin typeface="Courier New" pitchFamily="49" charset="0"/>
              </a:rPr>
              <a:t> *= value2;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  }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else</a:t>
            </a:r>
            <a:r>
              <a:rPr lang="de-DE" sz="1400" b="1" dirty="0">
                <a:latin typeface="Courier New" pitchFamily="49" charset="0"/>
              </a:rPr>
              <a:t>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400" b="1" dirty="0">
                <a:latin typeface="Courier New" pitchFamily="49" charset="0"/>
              </a:rPr>
              <a:t>( </a:t>
            </a:r>
            <a:r>
              <a:rPr lang="de-DE" sz="1400" b="1" dirty="0" err="1">
                <a:latin typeface="Courier New" pitchFamily="49" charset="0"/>
              </a:rPr>
              <a:t>ctest</a:t>
            </a:r>
            <a:r>
              <a:rPr lang="de-DE" sz="1400" b="1" dirty="0">
                <a:latin typeface="Courier New" pitchFamily="49" charset="0"/>
              </a:rPr>
              <a:t>( in, '/' ) ) {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   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if</a:t>
            </a:r>
            <a:r>
              <a:rPr lang="de-DE" sz="1400" b="1" dirty="0">
                <a:latin typeface="Courier New" pitchFamily="49" charset="0"/>
              </a:rPr>
              <a:t>( in &gt;&gt; </a:t>
            </a:r>
            <a:r>
              <a:rPr lang="de-DE" sz="1400" b="1" dirty="0" err="1">
                <a:latin typeface="Courier New" pitchFamily="49" charset="0"/>
              </a:rPr>
              <a:t>Factor</a:t>
            </a:r>
            <a:r>
              <a:rPr lang="de-DE" sz="1400" b="1" dirty="0">
                <a:latin typeface="Courier New" pitchFamily="49" charset="0"/>
              </a:rPr>
              <a:t>&lt; T &gt;( value2 ) ) </a:t>
            </a:r>
            <a:r>
              <a:rPr lang="de-DE" sz="1400" b="1" dirty="0" err="1">
                <a:latin typeface="Courier New" pitchFamily="49" charset="0"/>
              </a:rPr>
              <a:t>x.m_value</a:t>
            </a:r>
            <a:r>
              <a:rPr lang="de-DE" sz="1400" b="1" dirty="0">
                <a:latin typeface="Courier New" pitchFamily="49" charset="0"/>
              </a:rPr>
              <a:t> /= value2;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  }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else</a:t>
            </a:r>
            <a:r>
              <a:rPr lang="de-DE" sz="1400" b="1" dirty="0">
                <a:latin typeface="Courier New" pitchFamily="49" charset="0"/>
              </a:rPr>
              <a:t>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    </a:t>
            </a:r>
            <a:r>
              <a:rPr lang="de-DE" sz="1400" b="1" dirty="0">
                <a:solidFill>
                  <a:schemeClr val="accent2"/>
                </a:solidFill>
                <a:latin typeface="Courier New" pitchFamily="49" charset="0"/>
              </a:rPr>
              <a:t>break</a:t>
            </a:r>
            <a:r>
              <a:rPr lang="de-DE" sz="1400" b="1" dirty="0">
                <a:latin typeface="Courier New" pitchFamily="49" charset="0"/>
              </a:rPr>
              <a:t>;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}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  </a:t>
            </a:r>
            <a:r>
              <a:rPr lang="de-DE" sz="1400" b="1" dirty="0" err="1">
                <a:solidFill>
                  <a:schemeClr val="accent2"/>
                </a:solidFill>
                <a:latin typeface="Courier New" pitchFamily="49" charset="0"/>
              </a:rPr>
              <a:t>return</a:t>
            </a:r>
            <a:r>
              <a:rPr lang="de-DE" sz="1400" b="1" dirty="0">
                <a:latin typeface="Courier New" pitchFamily="49" charset="0"/>
              </a:rPr>
              <a:t> in;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latin typeface="Courier New" pitchFamily="49" charset="0"/>
              </a:rPr>
              <a:t>  } </a:t>
            </a:r>
            <a:br>
              <a:rPr lang="de-DE" sz="1400" b="1" dirty="0">
                <a:latin typeface="Courier New" pitchFamily="49" charset="0"/>
              </a:rPr>
            </a:br>
            <a:r>
              <a:rPr lang="de-DE" sz="1400" b="1" dirty="0">
                <a:solidFill>
                  <a:schemeClr val="accent2"/>
                </a:solidFill>
                <a:latin typeface="Courier New" pitchFamily="49" charset="0"/>
              </a:rPr>
              <a:t>private</a:t>
            </a:r>
            <a:r>
              <a:rPr lang="de-DE" sz="1400" b="1" dirty="0">
                <a:latin typeface="Courier New" pitchFamily="49" charset="0"/>
              </a:rPr>
              <a:t>:   T&amp; </a:t>
            </a:r>
            <a:r>
              <a:rPr lang="de-DE" sz="1400" b="1" dirty="0" err="1">
                <a:latin typeface="Courier New" pitchFamily="49" charset="0"/>
              </a:rPr>
              <a:t>m_value</a:t>
            </a:r>
            <a:r>
              <a:rPr lang="de-DE" sz="1400" b="1" dirty="0">
                <a:latin typeface="Courier New" pitchFamily="49" charset="0"/>
              </a:rPr>
              <a:t>;  };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68</a:t>
            </a:fld>
            <a:endParaRPr lang="de-D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Tab &amp; </a:t>
            </a:r>
            <a:r>
              <a:rPr lang="de-DE" dirty="0" err="1" smtClean="0"/>
              <a:t>Indent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de-DE" sz="1400" b="1" dirty="0" smtClean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de-DE" sz="1800" b="1" dirty="0" err="1" smtClean="0">
                <a:solidFill>
                  <a:schemeClr val="accent2"/>
                </a:solidFill>
                <a:latin typeface="Courier New" pitchFamily="49" charset="0"/>
              </a:rPr>
              <a:t>void</a:t>
            </a:r>
            <a:r>
              <a:rPr lang="de-DE" sz="1800" b="1" dirty="0" smtClean="0">
                <a:latin typeface="Courier New" pitchFamily="49" charset="0"/>
              </a:rPr>
              <a:t> sub1( </a:t>
            </a:r>
            <a:r>
              <a:rPr lang="de-DE" sz="1800" b="1" dirty="0" err="1" smtClean="0">
                <a:latin typeface="Courier New" pitchFamily="49" charset="0"/>
              </a:rPr>
              <a:t>std</a:t>
            </a:r>
            <a:r>
              <a:rPr lang="de-DE" sz="1800" b="1" dirty="0" smtClean="0">
                <a:latin typeface="Courier New" pitchFamily="49" charset="0"/>
              </a:rPr>
              <a:t>::</a:t>
            </a:r>
            <a:r>
              <a:rPr lang="de-DE" sz="1800" b="1" dirty="0" err="1" smtClean="0">
                <a:latin typeface="Courier New" pitchFamily="49" charset="0"/>
              </a:rPr>
              <a:t>ostream</a:t>
            </a:r>
            <a:r>
              <a:rPr lang="de-DE" sz="1800" b="1" dirty="0" smtClean="0">
                <a:latin typeface="Courier New" pitchFamily="49" charset="0"/>
              </a:rPr>
              <a:t>&amp; out ) {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</a:t>
            </a:r>
            <a:r>
              <a:rPr lang="de-DE" sz="1800" b="1" dirty="0" err="1" smtClean="0">
                <a:latin typeface="Courier New" pitchFamily="49" charset="0"/>
              </a:rPr>
              <a:t>Indent</a:t>
            </a:r>
            <a:r>
              <a:rPr lang="de-DE" sz="1800" b="1" dirty="0" smtClean="0">
                <a:latin typeface="Courier New" pitchFamily="49" charset="0"/>
              </a:rPr>
              <a:t> </a:t>
            </a:r>
            <a:r>
              <a:rPr lang="de-DE" sz="1800" b="1" dirty="0" err="1" smtClean="0">
                <a:latin typeface="Courier New" pitchFamily="49" charset="0"/>
              </a:rPr>
              <a:t>indent</a:t>
            </a:r>
            <a:r>
              <a:rPr lang="de-DE" sz="1800" b="1" dirty="0" smtClean="0">
                <a:latin typeface="Courier New" pitchFamily="49" charset="0"/>
              </a:rPr>
              <a:t>( out, 4 ); </a:t>
            </a:r>
            <a:r>
              <a:rPr lang="de-DE" sz="1800" b="1" dirty="0" smtClean="0">
                <a:solidFill>
                  <a:srgbClr val="00B050"/>
                </a:solidFill>
                <a:latin typeface="Courier New" pitchFamily="49" charset="0"/>
              </a:rPr>
              <a:t>// 4 Space einrücken</a:t>
            </a:r>
            <a:r>
              <a:rPr lang="de-DE" sz="1800" b="1" dirty="0" smtClean="0">
                <a:latin typeface="Courier New" pitchFamily="49" charset="0"/>
              </a:rPr>
              <a:t/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out &lt;&lt; </a:t>
            </a:r>
            <a:r>
              <a:rPr lang="de-DE" sz="1800" b="1" dirty="0" err="1" smtClean="0">
                <a:latin typeface="Courier New" pitchFamily="49" charset="0"/>
              </a:rPr>
              <a:t>tab</a:t>
            </a:r>
            <a:r>
              <a:rPr lang="de-DE" sz="1800" b="1" dirty="0" smtClean="0">
                <a:latin typeface="Courier New" pitchFamily="49" charset="0"/>
              </a:rPr>
              <a:t> &lt;&lt; „Ausgabe“ &lt;&lt; …;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sub2( out ); </a:t>
            </a:r>
            <a:r>
              <a:rPr lang="de-DE" sz="1800" b="1" dirty="0" smtClean="0">
                <a:solidFill>
                  <a:srgbClr val="00B050"/>
                </a:solidFill>
                <a:latin typeface="Courier New" pitchFamily="49" charset="0"/>
              </a:rPr>
              <a:t>// hier geschehen weitere Ausgaben</a:t>
            </a:r>
            <a:r>
              <a:rPr lang="de-DE" sz="1800" b="1" dirty="0" smtClean="0">
                <a:latin typeface="Courier New" pitchFamily="49" charset="0"/>
              </a:rPr>
              <a:t/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out &lt;&lt; </a:t>
            </a:r>
            <a:r>
              <a:rPr lang="de-DE" sz="1800" b="1" dirty="0" err="1" smtClean="0">
                <a:latin typeface="Courier New" pitchFamily="49" charset="0"/>
              </a:rPr>
              <a:t>tab</a:t>
            </a:r>
            <a:r>
              <a:rPr lang="de-DE" sz="1800" b="1" dirty="0" smtClean="0">
                <a:latin typeface="Courier New" pitchFamily="49" charset="0"/>
              </a:rPr>
              <a:t> &lt;&lt; „Text nach sub2()“ &lt;&lt; …;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}</a:t>
            </a:r>
            <a:r>
              <a:rPr lang="de-DE" dirty="0" smtClean="0"/>
              <a:t/>
            </a:r>
            <a:br>
              <a:rPr lang="de-DE" dirty="0" smtClean="0"/>
            </a:br>
            <a:endParaRPr lang="de-DE" dirty="0" smtClean="0"/>
          </a:p>
          <a:p>
            <a:r>
              <a:rPr lang="de-DE" dirty="0" smtClean="0"/>
              <a:t>Bild der Ausgabe:</a:t>
            </a:r>
            <a:br>
              <a:rPr lang="de-DE" dirty="0" smtClean="0"/>
            </a:br>
            <a:r>
              <a:rPr lang="de-DE" dirty="0" smtClean="0"/>
              <a:t>     </a:t>
            </a:r>
            <a:r>
              <a:rPr lang="de-DE" sz="1800" b="1" dirty="0" smtClean="0">
                <a:latin typeface="Courier New" pitchFamily="49" charset="0"/>
              </a:rPr>
              <a:t>Ausgabe …</a:t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    sub2 – </a:t>
            </a:r>
            <a:r>
              <a:rPr lang="de-DE" sz="1800" b="1" dirty="0" err="1" smtClean="0">
                <a:latin typeface="Courier New" pitchFamily="49" charset="0"/>
              </a:rPr>
              <a:t>output</a:t>
            </a:r>
            <a:r>
              <a:rPr lang="de-DE" sz="1800" b="1" dirty="0" smtClean="0">
                <a:latin typeface="Courier New" pitchFamily="49" charset="0"/>
              </a:rPr>
              <a:t/>
            </a:r>
            <a:br>
              <a:rPr lang="de-DE" sz="1800" b="1" dirty="0" smtClean="0">
                <a:latin typeface="Courier New" pitchFamily="49" charset="0"/>
              </a:rPr>
            </a:br>
            <a:r>
              <a:rPr lang="de-DE" sz="1800" b="1" dirty="0" smtClean="0">
                <a:latin typeface="Courier New" pitchFamily="49" charset="0"/>
              </a:rPr>
              <a:t>   Text nach sub2 …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69</a:t>
            </a:fld>
            <a:endParaRPr lang="de-DE"/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IO mit C++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73CB7-2147-4A7A-BD36-4BF04760CAF3}" type="slidenum">
              <a:rPr lang="de-DE"/>
              <a:pPr/>
              <a:t>70</a:t>
            </a:fld>
            <a:endParaRPr lang="de-DE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Literatur &amp; Links</a:t>
            </a:r>
            <a:endParaRPr lang="de-DE" dirty="0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i="1" dirty="0"/>
              <a:t>Standard C++ </a:t>
            </a:r>
            <a:r>
              <a:rPr lang="de-DE" i="1" dirty="0" err="1"/>
              <a:t>IOStreams</a:t>
            </a:r>
            <a:r>
              <a:rPr lang="de-DE" i="1" dirty="0"/>
              <a:t> </a:t>
            </a:r>
            <a:r>
              <a:rPr lang="de-DE" i="1" dirty="0" err="1"/>
              <a:t>and</a:t>
            </a:r>
            <a:r>
              <a:rPr lang="de-DE" i="1" dirty="0"/>
              <a:t> </a:t>
            </a:r>
            <a:r>
              <a:rPr lang="de-DE" i="1" dirty="0" err="1"/>
              <a:t>Locales</a:t>
            </a:r>
            <a:r>
              <a:rPr lang="de-DE" dirty="0"/>
              <a:t> </a:t>
            </a:r>
            <a:br>
              <a:rPr lang="de-DE" dirty="0"/>
            </a:br>
            <a:r>
              <a:rPr lang="de-DE" sz="1800" dirty="0"/>
              <a:t>(Addison Wesley, </a:t>
            </a:r>
            <a:r>
              <a:rPr lang="de-DE" sz="1800" dirty="0" err="1"/>
              <a:t>January</a:t>
            </a:r>
            <a:r>
              <a:rPr lang="de-DE" sz="1800" dirty="0"/>
              <a:t> 2000)</a:t>
            </a:r>
            <a:br>
              <a:rPr lang="de-DE" sz="1800" dirty="0"/>
            </a:br>
            <a:r>
              <a:rPr lang="de-DE" sz="1800" dirty="0"/>
              <a:t>Angelika Langer </a:t>
            </a:r>
            <a:r>
              <a:rPr lang="de-DE" sz="1800" dirty="0" err="1"/>
              <a:t>and</a:t>
            </a:r>
            <a:r>
              <a:rPr lang="de-DE" sz="1800" dirty="0"/>
              <a:t> Klaus Kreft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i="1" dirty="0"/>
              <a:t>C++ </a:t>
            </a:r>
            <a:r>
              <a:rPr lang="de-DE" i="1" dirty="0" err="1"/>
              <a:t>IOStreams</a:t>
            </a:r>
            <a:r>
              <a:rPr lang="de-DE" i="1" dirty="0"/>
              <a:t> Handbook</a:t>
            </a:r>
            <a:r>
              <a:rPr lang="de-DE" dirty="0"/>
              <a:t/>
            </a:r>
            <a:br>
              <a:rPr lang="de-DE" dirty="0"/>
            </a:br>
            <a:r>
              <a:rPr lang="de-DE" sz="1800" dirty="0"/>
              <a:t>(Addison Wesley, 1993)</a:t>
            </a:r>
            <a:br>
              <a:rPr lang="de-DE" sz="1800" dirty="0"/>
            </a:br>
            <a:r>
              <a:rPr lang="de-DE" sz="1800" dirty="0"/>
              <a:t>Steve </a:t>
            </a:r>
            <a:r>
              <a:rPr lang="de-DE" sz="1800" dirty="0" err="1"/>
              <a:t>Teal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i="1" dirty="0" err="1"/>
              <a:t>Curiously</a:t>
            </a:r>
            <a:r>
              <a:rPr lang="de-DE" i="1" dirty="0"/>
              <a:t> </a:t>
            </a:r>
            <a:r>
              <a:rPr lang="de-DE" i="1" dirty="0" err="1"/>
              <a:t>Recurring</a:t>
            </a:r>
            <a:r>
              <a:rPr lang="de-DE" i="1" dirty="0"/>
              <a:t> Manipulators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„</a:t>
            </a:r>
            <a:r>
              <a:rPr lang="de-DE" sz="1800" dirty="0"/>
              <a:t>http://www.cuj.com/experts/1906/langer.htm?topic=experts</a:t>
            </a:r>
            <a:r>
              <a:rPr lang="de-DE" dirty="0" smtClean="0"/>
              <a:t>“</a:t>
            </a:r>
          </a:p>
          <a:p>
            <a:pPr marL="457200" indent="-457200">
              <a:buFont typeface="+mj-lt"/>
              <a:buAutoNum type="arabicPeriod"/>
            </a:pPr>
            <a:r>
              <a:rPr lang="de-DE" i="1" dirty="0" smtClean="0"/>
              <a:t>Taschenrechner Programmieren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/>
              <a:t>„http</a:t>
            </a:r>
            <a:r>
              <a:rPr lang="de-DE" sz="1800" dirty="0"/>
              <a:t>://</a:t>
            </a:r>
            <a:r>
              <a:rPr lang="de-DE" sz="1800" dirty="0" smtClean="0"/>
              <a:t>www.c-plusplus.de/forum/p1642138“</a:t>
            </a:r>
          </a:p>
          <a:p>
            <a:pPr marL="457200" indent="-457200">
              <a:buFont typeface="+mj-lt"/>
              <a:buAutoNum type="arabicPeriod"/>
            </a:pPr>
            <a:r>
              <a:rPr lang="de-DE" i="1" dirty="0" smtClean="0"/>
              <a:t>Design-Diskussion auf Stackoverflow.com</a:t>
            </a:r>
            <a:r>
              <a:rPr lang="de-DE" sz="1800" dirty="0" smtClean="0"/>
              <a:t/>
            </a:r>
            <a:br>
              <a:rPr lang="de-DE" sz="1800" dirty="0" smtClean="0"/>
            </a:br>
            <a:r>
              <a:rPr lang="de-DE" sz="1800" dirty="0" smtClean="0"/>
              <a:t>„http://stackoverflow.com/questions/2753060“</a:t>
            </a:r>
          </a:p>
          <a:p>
            <a:pPr marL="457200" indent="-457200">
              <a:buFont typeface="+mj-lt"/>
              <a:buAutoNum type="arabicPeriod"/>
            </a:pPr>
            <a:endParaRPr lang="de-DE" sz="1800" dirty="0"/>
          </a:p>
          <a:p>
            <a:pPr>
              <a:buNone/>
            </a:pPr>
            <a:endParaRPr lang="de-DE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Literatur &amp; Links (2)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de-DE" i="1" dirty="0" smtClean="0"/>
              <a:t>INI-File lesen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/>
              <a:t>„http://www.c-plusplus.de/forum/p2271102“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de-DE" i="1" dirty="0" smtClean="0"/>
              <a:t>Automatischer Tabulator, der auf { und } im Text reagiert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/>
              <a:t>„http://www.c-plusplus.de/forum/p1878030“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de-DE" i="1" dirty="0" smtClean="0"/>
              <a:t>Variablen, </a:t>
            </a:r>
            <a:r>
              <a:rPr lang="de-DE" i="1" dirty="0" smtClean="0"/>
              <a:t>die während des Lesens ihre Werte annehmen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/>
              <a:t>„http://www.c-plusplus.de/forum/p1989618“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de-DE" i="1" dirty="0" smtClean="0"/>
              <a:t>Schnelles Einlesen auf </a:t>
            </a:r>
            <a:r>
              <a:rPr lang="de-DE" i="1" dirty="0" err="1" smtClean="0"/>
              <a:t>streambuf</a:t>
            </a:r>
            <a:r>
              <a:rPr lang="de-DE" i="1" dirty="0" smtClean="0"/>
              <a:t>-Level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/>
              <a:t>„http://www.c-plusplus.de/forum/p2267197“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März 2014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IO mit C++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081A6-DE43-4AE6-A334-B443B3EFFE8C}" type="slidenum">
              <a:rPr lang="de-DE" smtClean="0"/>
              <a:pPr/>
              <a:t>71</a:t>
            </a:fld>
            <a:endParaRPr lang="de-DE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9009-24-IO-mit-C++.ppt">
  <a:themeElements>
    <a:clrScheme name="9009-24-IO-mit-C++.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9009-24-IO-mit-C++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009-24-IO-mit-C++.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009-24-IO-mit-C++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009-24-IO-mit-C++.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009-24-IO-mit-C++.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009-24-IO-mit-C++.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009-24-IO-mit-C++.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009-24-IO-mit-C++.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V:\P9009-G4-Weiterbildung\Einarbeitung neue Mitarbeiter\Vortrag IO mit C++\9009-24-IO-mit-C++.ppt</Template>
  <TotalTime>0</TotalTime>
  <Words>3626</Words>
  <Application>Microsoft Office PowerPoint</Application>
  <PresentationFormat>Bildschirmpräsentation (4:3)</PresentationFormat>
  <Paragraphs>944</Paragraphs>
  <Slides>71</Slides>
  <Notes>17</Notes>
  <HiddenSlides>5</HiddenSlides>
  <MMClips>0</MMClips>
  <ScaleCrop>false</ScaleCrop>
  <HeadingPairs>
    <vt:vector size="6" baseType="variant"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71</vt:i4>
      </vt:variant>
    </vt:vector>
  </HeadingPairs>
  <TitlesOfParts>
    <vt:vector size="73" baseType="lpstr">
      <vt:lpstr>9009-24-IO-mit-C++.ppt</vt:lpstr>
      <vt:lpstr>Paint Shop Pro Image</vt:lpstr>
      <vt:lpstr>Input/output library [inout.output]</vt:lpstr>
      <vt:lpstr>Was ist ein Computer ?</vt:lpstr>
      <vt:lpstr>Eingabe und Ausgabe</vt:lpstr>
      <vt:lpstr>Mein erstes C++-Programm</vt:lpstr>
      <vt:lpstr>Inhalt</vt:lpstr>
      <vt:lpstr>Der Zweck der Ostreams</vt:lpstr>
      <vt:lpstr>Der Zweck der Istreams</vt:lpstr>
      <vt:lpstr>„Kleine Bemerkung“</vt:lpstr>
      <vt:lpstr>Die Architektur der C++ IO-Klassen (1)</vt:lpstr>
      <vt:lpstr>Die Architektur der C++ IO-Klassen (2)</vt:lpstr>
      <vt:lpstr>ios_base</vt:lpstr>
      <vt:lpstr>basic_ios&lt; charT, traits = traits_type&lt; charT &gt; &gt;</vt:lpstr>
      <vt:lpstr>basic_i(o)stream&lt; charT,traits = trais_type&lt; charT &gt; &gt;</vt:lpstr>
      <vt:lpstr>basic_streambuf&lt; charT,traits = trais_type&lt; charT &gt; &gt;</vt:lpstr>
      <vt:lpstr>Die Architektur der C++ IO-Klassen (3)</vt:lpstr>
      <vt:lpstr>basic_fstream &amp; basic_stringstream</vt:lpstr>
      <vt:lpstr>Ein Wort zur Historie der IO-Stream</vt:lpstr>
      <vt:lpstr>Formatierungen (1)</vt:lpstr>
      <vt:lpstr>Formatierungen (2)</vt:lpstr>
      <vt:lpstr>Manipulatoren</vt:lpstr>
      <vt:lpstr>Manipulatoren ohne Parameter (1)</vt:lpstr>
      <vt:lpstr>Manipulatoren ohne Parameter (2)</vt:lpstr>
      <vt:lpstr>Ios_base Storage Functions</vt:lpstr>
      <vt:lpstr>Die Typ-Sicherheit</vt:lpstr>
      <vt:lpstr>Ausgabe eigener Klassen (1)</vt:lpstr>
      <vt:lpstr>Ausgabe eigener Klassen (2)</vt:lpstr>
      <vt:lpstr>Ausgabe eigener Klassen (3)</vt:lpstr>
      <vt:lpstr>Selbstdefinierte Manipulatoren (1)</vt:lpstr>
      <vt:lpstr>Selbstdefinierte Manipulatoren (2)</vt:lpstr>
      <vt:lpstr>Fehlerzustände eines i(o)streams</vt:lpstr>
      <vt:lpstr>Mengenlehre der Fehlerzustände</vt:lpstr>
      <vt:lpstr>Fehler abfragen</vt:lpstr>
      <vt:lpstr>.. und in deutsch?</vt:lpstr>
      <vt:lpstr>Ein locale</vt:lpstr>
      <vt:lpstr>Anwendung der Facetten</vt:lpstr>
      <vt:lpstr>Manipulator mit Parameter</vt:lpstr>
      <vt:lpstr>Umleiten von Ausgaben</vt:lpstr>
      <vt:lpstr>Umleiten von Ein- und Ausgaben</vt:lpstr>
      <vt:lpstr>Die Umleitung</vt:lpstr>
      <vt:lpstr>Die ungepufferter Ausgabe (1)</vt:lpstr>
      <vt:lpstr>Die ungepufferter Ausgabe (2)</vt:lpstr>
      <vt:lpstr>Die gepufferte Ausgabe – das Device</vt:lpstr>
      <vt:lpstr>Die gepufferte Ausgabe - setp</vt:lpstr>
      <vt:lpstr>Die gepufferte Ausgabe - sync</vt:lpstr>
      <vt:lpstr>Die gepufferte Ausgabe - overflow</vt:lpstr>
      <vt:lpstr>Der CAN-Streambuf</vt:lpstr>
      <vt:lpstr>Der CAN-Streambuf – der Puffer </vt:lpstr>
      <vt:lpstr>Der CAN-Streambuf – setp &amp; sync</vt:lpstr>
      <vt:lpstr>Der Binär-Stream - CBinStream</vt:lpstr>
      <vt:lpstr>Ausgabe in ein Window</vt:lpstr>
      <vt:lpstr>Umschalten eines Standard-Stream-Objekts</vt:lpstr>
      <vt:lpstr>Zurückschalten nicht vergessen!</vt:lpstr>
      <vt:lpstr>Ein CListCtrl-Window als Ausgabe-Device</vt:lpstr>
      <vt:lpstr>Architektur der Ausgabe in ein CListCtrl</vt:lpstr>
      <vt:lpstr>Die Klasse CListCtrlSbAdap - overflow</vt:lpstr>
      <vt:lpstr>Die Klasse CListCtrlSbAdap - sync</vt:lpstr>
      <vt:lpstr>Die Icon-Manipulatoren</vt:lpstr>
      <vt:lpstr>Initialisieren der Anwendung</vt:lpstr>
      <vt:lpstr>Parst Du noch, oder liest Du schon?   </vt:lpstr>
      <vt:lpstr>Holzwege(1)     Der while-not-eof Horax</vt:lpstr>
      <vt:lpstr>Holzwege(2)        Die Angst vor dem ifstream</vt:lpstr>
      <vt:lpstr>Holzwege(3)           ‚Schnelles‘ Parsen aus dem Memory</vt:lpstr>
      <vt:lpstr>Lesen aus einer CSV-Datei</vt:lpstr>
      <vt:lpstr>Lesen aus einer CSV-Datei (2)</vt:lpstr>
      <vt:lpstr>Lesen eines arithmetischen Ausdrucks</vt:lpstr>
      <vt:lpstr>Prüfen welches Zeichen folgt ..</vt:lpstr>
      <vt:lpstr>Factor lesen</vt:lpstr>
      <vt:lpstr>Term lesen</vt:lpstr>
      <vt:lpstr>Tab &amp; Indent</vt:lpstr>
      <vt:lpstr>Literatur &amp; Links</vt:lpstr>
      <vt:lpstr>Literatur &amp; Links (2)</vt:lpstr>
    </vt:vector>
  </TitlesOfParts>
  <Company>Kratzer Automatisierung GmbH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Ein- und Ausgabe mit C++ - Teil2</dc:title>
  <dc:creator>Werner Salomon</dc:creator>
  <dc:description>Vortrag in der 'Mittwochs-Runde' Beginn Januar 2005</dc:description>
  <cp:lastModifiedBy>Werner Salomon</cp:lastModifiedBy>
  <cp:revision>130</cp:revision>
  <dcterms:created xsi:type="dcterms:W3CDTF">2002-09-08T14:58:28Z</dcterms:created>
  <dcterms:modified xsi:type="dcterms:W3CDTF">2014-03-23T13:56:15Z</dcterms:modified>
</cp:coreProperties>
</file>